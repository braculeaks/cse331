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68" r:id="rId1"/>
  </p:sldMasterIdLst>
  <p:sldIdLst>
    <p:sldId id="256" r:id="rId2"/>
    <p:sldId id="370" r:id="rId3"/>
    <p:sldId id="377" r:id="rId4"/>
    <p:sldId id="378" r:id="rId5"/>
    <p:sldId id="380" r:id="rId6"/>
    <p:sldId id="376" r:id="rId7"/>
    <p:sldId id="379" r:id="rId8"/>
    <p:sldId id="371" r:id="rId9"/>
    <p:sldId id="372" r:id="rId10"/>
    <p:sldId id="381" r:id="rId11"/>
    <p:sldId id="391" r:id="rId12"/>
    <p:sldId id="390" r:id="rId13"/>
    <p:sldId id="383" r:id="rId14"/>
    <p:sldId id="382" r:id="rId15"/>
    <p:sldId id="373" r:id="rId1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4778D83-3A60-4108-80BC-3592946A88D9}">
          <p14:sldIdLst>
            <p14:sldId id="256"/>
            <p14:sldId id="370"/>
            <p14:sldId id="377"/>
            <p14:sldId id="378"/>
            <p14:sldId id="380"/>
            <p14:sldId id="376"/>
            <p14:sldId id="379"/>
            <p14:sldId id="371"/>
            <p14:sldId id="372"/>
            <p14:sldId id="381"/>
            <p14:sldId id="391"/>
            <p14:sldId id="390"/>
            <p14:sldId id="383"/>
            <p14:sldId id="382"/>
            <p14:sldId id="3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5F"/>
    <a:srgbClr val="FEA90F"/>
    <a:srgbClr val="F2AF0D"/>
    <a:srgbClr val="EE9E0E"/>
    <a:srgbClr val="F0AE0D"/>
    <a:srgbClr val="F8CD6A"/>
    <a:srgbClr val="E1922D"/>
    <a:srgbClr val="EE9A08"/>
    <a:srgbClr val="E89B25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0625" autoAdjust="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Tuesday, February 24,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1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Tuesday, February 24,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Tuesday, February 24,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Tuesday, February 24,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Tuesday, February 24,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Tuesday, February 24,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CA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Tuesday, February 24,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Tuesday, February 24,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Tuesday, February 24,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Tuesday, February 24,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9" r:id="rId1"/>
    <p:sldLayoutId id="2147484170" r:id="rId2"/>
    <p:sldLayoutId id="2147484171" r:id="rId3"/>
    <p:sldLayoutId id="2147484172" r:id="rId4"/>
    <p:sldLayoutId id="2147484173" r:id="rId5"/>
    <p:sldLayoutId id="2147484174" r:id="rId6"/>
    <p:sldLayoutId id="2147484175" r:id="rId7"/>
    <p:sldLayoutId id="2147484176" r:id="rId8"/>
    <p:sldLayoutId id="2147484177" r:id="rId9"/>
    <p:sldLayoutId id="2147484178" r:id="rId10"/>
    <p:sldLayoutId id="214748417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CSE 331 </a:t>
            </a:r>
            <a:br>
              <a:rPr lang="en-US" sz="4800" dirty="0"/>
            </a:br>
            <a:r>
              <a:rPr lang="en-US" sz="3600" dirty="0"/>
              <a:t>Automata  and computability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2" y="2628901"/>
            <a:ext cx="7521575" cy="2234159"/>
          </a:xfrm>
        </p:spPr>
        <p:txBody>
          <a:bodyPr>
            <a:normAutofit/>
          </a:bodyPr>
          <a:lstStyle/>
          <a:p>
            <a:r>
              <a:rPr lang="en-US" dirty="0"/>
              <a:t>Building DFA</a:t>
            </a:r>
          </a:p>
          <a:p>
            <a:endParaRPr lang="en-US" dirty="0"/>
          </a:p>
          <a:p>
            <a:r>
              <a:rPr lang="en-US" dirty="0"/>
              <a:t>Spring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65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</a:rPr>
              <a:t>Typical questions</a:t>
            </a:r>
            <a:endParaRPr lang="en-US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Define a DFA which recognizes the given language L.</a:t>
            </a: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  <a:p>
            <a:pPr marL="0" indent="0" algn="ctr">
              <a:buNone/>
            </a:pPr>
            <a:r>
              <a:rPr lang="en-US" i="1">
                <a:solidFill>
                  <a:srgbClr val="292934"/>
                </a:solidFill>
              </a:rPr>
              <a:t>or</a:t>
            </a: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Prove that the (given) language L is regular.</a:t>
            </a:r>
          </a:p>
        </p:txBody>
      </p:sp>
      <p:pic>
        <p:nvPicPr>
          <p:cNvPr id="5" name="Picture 4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9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</a:t>
            </a:r>
            <a:endParaRPr lang="en-US" sz="1600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292934"/>
                </a:solidFill>
              </a:rPr>
              <a:t>L</a:t>
            </a:r>
            <a:r>
              <a:rPr lang="en-US" sz="1600" baseline="-25000" dirty="0">
                <a:solidFill>
                  <a:srgbClr val="292934"/>
                </a:solidFill>
              </a:rPr>
              <a:t>1</a:t>
            </a:r>
            <a:r>
              <a:rPr lang="en-US" sz="1600" dirty="0">
                <a:solidFill>
                  <a:srgbClr val="292934"/>
                </a:solidFill>
              </a:rPr>
              <a:t> = {w | all strings containing at least three 0s.}</a:t>
            </a:r>
          </a:p>
          <a:p>
            <a:pPr marL="0" indent="0" algn="ctr">
              <a:buNone/>
            </a:pPr>
            <a:endParaRPr lang="en-US" sz="1600" dirty="0">
              <a:solidFill>
                <a:srgbClr val="292934"/>
              </a:solidFill>
            </a:endParaRP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69BFE9-783C-4AFD-8A67-A87DC29058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996" y="2386966"/>
            <a:ext cx="4706007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544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</a:t>
            </a:r>
            <a:endParaRPr lang="en-US" sz="1600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292934"/>
                </a:solidFill>
              </a:rPr>
              <a:t>L</a:t>
            </a:r>
            <a:r>
              <a:rPr lang="en-US" sz="1600" baseline="-25000" dirty="0">
                <a:solidFill>
                  <a:srgbClr val="292934"/>
                </a:solidFill>
              </a:rPr>
              <a:t>2</a:t>
            </a:r>
            <a:r>
              <a:rPr lang="en-US" sz="1600" dirty="0">
                <a:solidFill>
                  <a:srgbClr val="292934"/>
                </a:solidFill>
              </a:rPr>
              <a:t> = {w | the length of w is one more than a multiple of 3}</a:t>
            </a:r>
          </a:p>
          <a:p>
            <a:pPr marL="0" indent="0" algn="ctr">
              <a:buNone/>
            </a:pPr>
            <a:endParaRPr lang="en-US" sz="1600" dirty="0">
              <a:solidFill>
                <a:srgbClr val="292934"/>
              </a:solidFill>
            </a:endParaRP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775DF6-78A4-4282-9FB1-2288819E2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391" y="2419026"/>
            <a:ext cx="4239217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535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</a:t>
            </a:r>
            <a:endParaRPr lang="en-US" sz="1600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292934"/>
                </a:solidFill>
              </a:rPr>
              <a:t>L</a:t>
            </a:r>
            <a:r>
              <a:rPr lang="en-US" sz="1600" baseline="-25000" dirty="0">
                <a:solidFill>
                  <a:srgbClr val="292934"/>
                </a:solidFill>
              </a:rPr>
              <a:t>3</a:t>
            </a:r>
            <a:r>
              <a:rPr lang="en-US" sz="1600" dirty="0">
                <a:solidFill>
                  <a:srgbClr val="292934"/>
                </a:solidFill>
              </a:rPr>
              <a:t> = {w | w when interpreted as a binary number, is divisible by 3}</a:t>
            </a:r>
          </a:p>
          <a:p>
            <a:pPr marL="0" indent="0" algn="ctr">
              <a:buNone/>
            </a:pPr>
            <a:endParaRPr lang="en-US" sz="1600" dirty="0">
              <a:solidFill>
                <a:srgbClr val="292934"/>
              </a:solidFill>
            </a:endParaRP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2AAE83-33D7-4595-B7A5-8F53004DC83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300" y="2232133"/>
            <a:ext cx="4839511" cy="257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460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</a:t>
            </a:r>
            <a:endParaRPr lang="en-US" sz="1600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292934"/>
                </a:solidFill>
              </a:rPr>
              <a:t>L</a:t>
            </a:r>
            <a:r>
              <a:rPr lang="en-US" sz="1600" baseline="-25000" dirty="0">
                <a:solidFill>
                  <a:srgbClr val="292934"/>
                </a:solidFill>
              </a:rPr>
              <a:t>4</a:t>
            </a:r>
            <a:r>
              <a:rPr lang="en-US" sz="1600" dirty="0">
                <a:solidFill>
                  <a:srgbClr val="292934"/>
                </a:solidFill>
              </a:rPr>
              <a:t> = {w | all characters are repeated at least once wherever they appear in the string}</a:t>
            </a:r>
          </a:p>
          <a:p>
            <a:pPr marL="0" indent="0" algn="ctr">
              <a:buNone/>
            </a:pPr>
            <a:endParaRPr lang="en-US" dirty="0">
              <a:solidFill>
                <a:srgbClr val="292934"/>
              </a:solidFill>
            </a:endParaRP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18A83E94-AE5B-411D-9001-44EE13116AF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066" y="2396355"/>
            <a:ext cx="5690270" cy="221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22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Example</a:t>
            </a:r>
            <a:endParaRPr lang="en-US" sz="1400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292934"/>
                </a:solidFill>
              </a:rPr>
              <a:t>L</a:t>
            </a:r>
            <a:r>
              <a:rPr lang="en-US" sz="1400" baseline="-25000" dirty="0">
                <a:solidFill>
                  <a:srgbClr val="292934"/>
                </a:solidFill>
              </a:rPr>
              <a:t>5</a:t>
            </a:r>
            <a:r>
              <a:rPr lang="en-US" sz="1400" dirty="0">
                <a:solidFill>
                  <a:srgbClr val="292934"/>
                </a:solidFill>
              </a:rPr>
              <a:t> = {w | w contains an equal number of occurrences of the substrings 01 and 10 }</a:t>
            </a:r>
          </a:p>
          <a:p>
            <a:pPr marL="0" indent="0" algn="ctr">
              <a:buNone/>
            </a:pPr>
            <a:endParaRPr lang="en-US" sz="1400" dirty="0">
              <a:solidFill>
                <a:srgbClr val="292934"/>
              </a:solidFill>
            </a:endParaRP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E3BF3B-34AF-41AE-B244-07474222FE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170" y="2220058"/>
            <a:ext cx="2724530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762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</a:t>
            </a:r>
            <a:endParaRPr lang="en-US" sz="1600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292934"/>
                </a:solidFill>
              </a:rPr>
              <a:t>L</a:t>
            </a:r>
            <a:r>
              <a:rPr lang="en-US" sz="1600" baseline="-25000" dirty="0">
                <a:solidFill>
                  <a:srgbClr val="292934"/>
                </a:solidFill>
              </a:rPr>
              <a:t>6 </a:t>
            </a:r>
            <a:r>
              <a:rPr lang="en-US" sz="1600" dirty="0">
                <a:solidFill>
                  <a:srgbClr val="292934"/>
                </a:solidFill>
              </a:rPr>
              <a:t>= {w | 01 appears even number of times in w as a substring}</a:t>
            </a: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DB290E-DBD5-47DB-B761-33DDC4EF26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549" y="2469439"/>
            <a:ext cx="4848902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89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</a:t>
            </a:r>
            <a:endParaRPr lang="en-US" sz="1600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292934"/>
                </a:solidFill>
              </a:rPr>
              <a:t>L</a:t>
            </a:r>
            <a:r>
              <a:rPr lang="en-US" sz="1600" baseline="-25000" dirty="0">
                <a:solidFill>
                  <a:srgbClr val="292934"/>
                </a:solidFill>
              </a:rPr>
              <a:t>7 </a:t>
            </a:r>
            <a:r>
              <a:rPr lang="en-US" sz="1600" dirty="0">
                <a:solidFill>
                  <a:srgbClr val="292934"/>
                </a:solidFill>
              </a:rPr>
              <a:t>= {w | all strings in which every run of 0s has length at least 3}</a:t>
            </a: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AD269E-A30A-4A2B-A73D-72EB60AFA1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43" y="2297809"/>
            <a:ext cx="4274977" cy="230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768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</a:t>
            </a:r>
            <a:endParaRPr lang="en-US" sz="1600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292934"/>
                </a:solidFill>
              </a:rPr>
              <a:t>L</a:t>
            </a:r>
            <a:r>
              <a:rPr lang="en-US" sz="1600" baseline="-25000" dirty="0">
                <a:solidFill>
                  <a:srgbClr val="292934"/>
                </a:solidFill>
              </a:rPr>
              <a:t>8 </a:t>
            </a:r>
            <a:r>
              <a:rPr lang="en-US" sz="1600" dirty="0">
                <a:solidFill>
                  <a:srgbClr val="292934"/>
                </a:solidFill>
              </a:rPr>
              <a:t>= {w | all strings w such that in every prefix of w, the number of 0s and 1s differ by at most 1}</a:t>
            </a: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6486C1-AAA5-410C-A8E9-BFF7BBBF0BA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57" y="2385148"/>
            <a:ext cx="3307858" cy="8846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82C4E7-A52C-4984-89DA-21DC3B3D6B5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602" y="2375644"/>
            <a:ext cx="2499868" cy="266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78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</a:t>
            </a:r>
            <a:endParaRPr lang="en-US" sz="1600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292934"/>
                </a:solidFill>
              </a:rPr>
              <a:t>L</a:t>
            </a:r>
            <a:r>
              <a:rPr lang="en-US" sz="1600" baseline="-25000" dirty="0">
                <a:solidFill>
                  <a:srgbClr val="292934"/>
                </a:solidFill>
              </a:rPr>
              <a:t>8 </a:t>
            </a:r>
            <a:r>
              <a:rPr lang="en-US" sz="1600" dirty="0">
                <a:solidFill>
                  <a:srgbClr val="292934"/>
                </a:solidFill>
              </a:rPr>
              <a:t>= {w | all strings w such that in every prefix of w, the number of 0s and 1s differ by at most 1}</a:t>
            </a: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6E44B1-2442-4959-B00E-48B4A6F524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36" y="2498804"/>
            <a:ext cx="4039164" cy="2038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DE7605-AA87-4DF2-B8D2-32D58E6BE3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315" y="2441654"/>
            <a:ext cx="4467849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01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</a:t>
            </a:r>
            <a:endParaRPr lang="en-US" sz="1600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292934"/>
                </a:solidFill>
              </a:rPr>
              <a:t>L</a:t>
            </a:r>
            <a:r>
              <a:rPr lang="en-US" sz="1600" baseline="-25000" dirty="0">
                <a:solidFill>
                  <a:srgbClr val="292934"/>
                </a:solidFill>
              </a:rPr>
              <a:t>8 </a:t>
            </a:r>
            <a:r>
              <a:rPr lang="en-US" sz="1600" dirty="0">
                <a:solidFill>
                  <a:srgbClr val="292934"/>
                </a:solidFill>
              </a:rPr>
              <a:t>= {w | all strings w such that in every prefix of w, the number of 0s and 1s differ by at most 1}</a:t>
            </a: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8FC4EA-40F9-4293-AFA8-0FB0E81343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08" y="2636284"/>
            <a:ext cx="5210902" cy="1571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C38B2A-33C0-4873-9F56-8A62E89093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659" y="3833863"/>
            <a:ext cx="4467849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536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</a:t>
            </a:r>
            <a:endParaRPr lang="en-US" sz="1600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292934"/>
                </a:solidFill>
              </a:rPr>
              <a:t>L</a:t>
            </a:r>
            <a:r>
              <a:rPr lang="en-US" sz="1600" baseline="-25000" dirty="0">
                <a:solidFill>
                  <a:srgbClr val="292934"/>
                </a:solidFill>
              </a:rPr>
              <a:t>9 </a:t>
            </a:r>
            <a:r>
              <a:rPr lang="en-US" sz="1600" dirty="0">
                <a:solidFill>
                  <a:srgbClr val="292934"/>
                </a:solidFill>
              </a:rPr>
              <a:t>= {w | all strings containing at least two 0s and at least one 1.}</a:t>
            </a: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A8F8C9-A468-47B1-A311-3FCE690D4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578" y="2258478"/>
            <a:ext cx="6239746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49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0312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</a:rPr>
              <a:t>Remember</a:t>
            </a:r>
            <a:endParaRPr lang="en-US" i="1">
              <a:solidFill>
                <a:srgbClr val="808DA0"/>
              </a:solidFill>
            </a:endParaRPr>
          </a:p>
          <a:p>
            <a:pPr marL="0" indent="0">
              <a:buNone/>
            </a:pPr>
            <a:endParaRPr lang="en-US" i="1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States are our only (computer) memory.</a:t>
            </a: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Design and pick states with specific roles / tasks in mind.</a:t>
            </a: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 i="1">
                <a:solidFill>
                  <a:schemeClr val="accent5"/>
                </a:solidFill>
              </a:rPr>
              <a:t>"Have not seen any of desired pattern yet"</a:t>
            </a:r>
          </a:p>
          <a:p>
            <a:pPr marL="0" indent="0">
              <a:buNone/>
            </a:pPr>
            <a:r>
              <a:rPr lang="en-US" i="1">
                <a:solidFill>
                  <a:schemeClr val="accent5"/>
                </a:solidFill>
              </a:rPr>
              <a:t>"Trap state"</a:t>
            </a: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6274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UC">
      <a:dk1>
        <a:srgbClr val="292934"/>
      </a:dk1>
      <a:lt1>
        <a:srgbClr val="FFFFFF"/>
      </a:lt1>
      <a:dk2>
        <a:srgbClr val="4128D2"/>
      </a:dk2>
      <a:lt2>
        <a:srgbClr val="F3F2DC"/>
      </a:lt2>
      <a:accent1>
        <a:srgbClr val="F2AF0D"/>
      </a:accent1>
      <a:accent2>
        <a:srgbClr val="F6BC05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6013</TotalTime>
  <Words>387</Words>
  <Application>Microsoft Office PowerPoint</Application>
  <PresentationFormat>On-screen Show (16:9)</PresentationFormat>
  <Paragraphs>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Clarity</vt:lpstr>
      <vt:lpstr>CSE 331  Automata  and computability</vt:lpstr>
      <vt:lpstr>Building DFA</vt:lpstr>
      <vt:lpstr>Building DFA</vt:lpstr>
      <vt:lpstr>Building DFA</vt:lpstr>
      <vt:lpstr>Building DFA</vt:lpstr>
      <vt:lpstr>Building DFA</vt:lpstr>
      <vt:lpstr>Building DFA</vt:lpstr>
      <vt:lpstr>Building DFA</vt:lpstr>
      <vt:lpstr>Building DFA</vt:lpstr>
      <vt:lpstr>Building DFA</vt:lpstr>
      <vt:lpstr>Building DFA</vt:lpstr>
      <vt:lpstr>Building DFA</vt:lpstr>
      <vt:lpstr>Building DFA</vt:lpstr>
      <vt:lpstr>PowerPoint Presentation</vt:lpstr>
      <vt:lpstr>Building DFA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  Discrete math</dc:title>
  <dc:creator>Mia Minnes Kemp</dc:creator>
  <cp:lastModifiedBy>Zayed Humayun</cp:lastModifiedBy>
  <cp:revision>510</cp:revision>
  <dcterms:created xsi:type="dcterms:W3CDTF">2014-10-03T04:30:04Z</dcterms:created>
  <dcterms:modified xsi:type="dcterms:W3CDTF">2026-02-25T03:08:04Z</dcterms:modified>
</cp:coreProperties>
</file>