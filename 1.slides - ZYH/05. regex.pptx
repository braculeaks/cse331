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68" r:id="rId1"/>
  </p:sldMasterIdLst>
  <p:sldIdLst>
    <p:sldId id="256" r:id="rId2"/>
    <p:sldId id="376" r:id="rId3"/>
    <p:sldId id="377" r:id="rId4"/>
    <p:sldId id="375" r:id="rId5"/>
    <p:sldId id="339" r:id="rId6"/>
    <p:sldId id="344" r:id="rId7"/>
    <p:sldId id="410" r:id="rId8"/>
    <p:sldId id="411" r:id="rId9"/>
    <p:sldId id="412" r:id="rId10"/>
    <p:sldId id="379" r:id="rId11"/>
    <p:sldId id="413" r:id="rId12"/>
    <p:sldId id="382" r:id="rId13"/>
    <p:sldId id="381" r:id="rId14"/>
    <p:sldId id="383" r:id="rId15"/>
    <p:sldId id="378" r:id="rId16"/>
    <p:sldId id="384" r:id="rId17"/>
    <p:sldId id="385" r:id="rId18"/>
    <p:sldId id="386" r:id="rId19"/>
    <p:sldId id="387" r:id="rId20"/>
    <p:sldId id="388" r:id="rId21"/>
    <p:sldId id="389" r:id="rId22"/>
    <p:sldId id="390" r:id="rId23"/>
    <p:sldId id="391" r:id="rId24"/>
    <p:sldId id="392" r:id="rId25"/>
    <p:sldId id="393" r:id="rId26"/>
    <p:sldId id="394" r:id="rId27"/>
    <p:sldId id="395" r:id="rId28"/>
    <p:sldId id="397" r:id="rId29"/>
    <p:sldId id="398" r:id="rId3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5F"/>
    <a:srgbClr val="FEA90F"/>
    <a:srgbClr val="F2AF0D"/>
    <a:srgbClr val="EE9E0E"/>
    <a:srgbClr val="F0AE0D"/>
    <a:srgbClr val="F8CD6A"/>
    <a:srgbClr val="E1922D"/>
    <a:srgbClr val="EE9A08"/>
    <a:srgbClr val="E89B25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0CF5F1-3497-4001-AC6D-3B4FC389366D}" v="3" dt="2019-09-06T23:16:06.18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0625" autoAdjust="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char Lovett" userId="0c6d1e87c56e93c6" providerId="LiveId" clId="{040CF5F1-3497-4001-AC6D-3B4FC389366D}"/>
    <pc:docChg chg="modSld">
      <pc:chgData name="Shachar Lovett" userId="0c6d1e87c56e93c6" providerId="LiveId" clId="{040CF5F1-3497-4001-AC6D-3B4FC389366D}" dt="2019-09-06T23:16:10.640" v="14" actId="20577"/>
      <pc:docMkLst>
        <pc:docMk/>
      </pc:docMkLst>
      <pc:sldChg chg="modSp">
        <pc:chgData name="Shachar Lovett" userId="0c6d1e87c56e93c6" providerId="LiveId" clId="{040CF5F1-3497-4001-AC6D-3B4FC389366D}" dt="2019-09-06T15:16:02.418" v="0"/>
        <pc:sldMkLst>
          <pc:docMk/>
          <pc:sldMk cId="1882651833" sldId="256"/>
        </pc:sldMkLst>
        <pc:spChg chg="mod">
          <ac:chgData name="Shachar Lovett" userId="0c6d1e87c56e93c6" providerId="LiveId" clId="{040CF5F1-3497-4001-AC6D-3B4FC389366D}" dt="2019-09-06T15:16:02.418" v="0"/>
          <ac:spMkLst>
            <pc:docMk/>
            <pc:sldMk cId="1882651833" sldId="256"/>
            <ac:spMk id="3" creationId="{00000000-0000-0000-0000-000000000000}"/>
          </ac:spMkLst>
        </pc:spChg>
      </pc:sldChg>
      <pc:sldChg chg="addSp delSp modSp">
        <pc:chgData name="Shachar Lovett" userId="0c6d1e87c56e93c6" providerId="LiveId" clId="{040CF5F1-3497-4001-AC6D-3B4FC389366D}" dt="2019-09-06T23:16:10.640" v="14" actId="20577"/>
        <pc:sldMkLst>
          <pc:docMk/>
          <pc:sldMk cId="960723460" sldId="379"/>
        </pc:sldMkLst>
        <pc:spChg chg="mod">
          <ac:chgData name="Shachar Lovett" userId="0c6d1e87c56e93c6" providerId="LiveId" clId="{040CF5F1-3497-4001-AC6D-3B4FC389366D}" dt="2019-09-06T23:16:10.640" v="14" actId="20577"/>
          <ac:spMkLst>
            <pc:docMk/>
            <pc:sldMk cId="960723460" sldId="379"/>
            <ac:spMk id="13" creationId="{00000000-0000-0000-0000-000000000000}"/>
          </ac:spMkLst>
        </pc:spChg>
        <pc:graphicFrameChg chg="add del mod">
          <ac:chgData name="Shachar Lovett" userId="0c6d1e87c56e93c6" providerId="LiveId" clId="{040CF5F1-3497-4001-AC6D-3B4FC389366D}" dt="2019-09-06T23:16:06.189" v="2"/>
          <ac:graphicFrameMkLst>
            <pc:docMk/>
            <pc:sldMk cId="960723460" sldId="379"/>
            <ac:graphicFrameMk id="5" creationId="{EB07F3A8-CC4A-4F98-9A75-34E455F0F20C}"/>
          </ac:graphicFrameMkLst>
        </pc:graphicFrameChg>
      </pc:sldChg>
    </pc:docChg>
  </pc:docChgLst>
  <pc:docChgLst>
    <pc:chgData name="Shachar Lovett" userId="0c6d1e87c56e93c6" providerId="LiveId" clId="{DB027F28-8AD4-4DAF-9FAE-96BDB91C4FF4}"/>
    <pc:docChg chg="modSld">
      <pc:chgData name="Shachar Lovett" userId="0c6d1e87c56e93c6" providerId="LiveId" clId="{DB027F28-8AD4-4DAF-9FAE-96BDB91C4FF4}" dt="2019-04-01T12:18:44.229" v="0"/>
      <pc:docMkLst>
        <pc:docMk/>
      </pc:docMkLst>
      <pc:sldChg chg="modSp">
        <pc:chgData name="Shachar Lovett" userId="0c6d1e87c56e93c6" providerId="LiveId" clId="{DB027F28-8AD4-4DAF-9FAE-96BDB91C4FF4}" dt="2019-04-01T12:18:44.229" v="0"/>
        <pc:sldMkLst>
          <pc:docMk/>
          <pc:sldMk cId="1882651833" sldId="256"/>
        </pc:sldMkLst>
        <pc:spChg chg="mod">
          <ac:chgData name="Shachar Lovett" userId="0c6d1e87c56e93c6" providerId="LiveId" clId="{DB027F28-8AD4-4DAF-9FAE-96BDB91C4FF4}" dt="2019-04-01T12:18:44.229" v="0"/>
          <ac:spMkLst>
            <pc:docMk/>
            <pc:sldMk cId="1882651833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Sunday, June 28,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1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Sunday, June 28,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Sunday, June 28,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Sunday, June 28,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Sunday, June 28,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Sunday, June 28,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Sunday, June 28,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Sunday, June 28,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Sunday, June 28,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Sunday, June 28,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71" r:id="rId3"/>
    <p:sldLayoutId id="2147484172" r:id="rId4"/>
    <p:sldLayoutId id="2147484173" r:id="rId5"/>
    <p:sldLayoutId id="2147484174" r:id="rId6"/>
    <p:sldLayoutId id="2147484175" r:id="rId7"/>
    <p:sldLayoutId id="2147484176" r:id="rId8"/>
    <p:sldLayoutId id="2147484177" r:id="rId9"/>
    <p:sldLayoutId id="2147484178" r:id="rId10"/>
    <p:sldLayoutId id="214748417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CSE 331 </a:t>
            </a:r>
            <a:br>
              <a:rPr lang="en-US" sz="4800" dirty="0"/>
            </a:br>
            <a:r>
              <a:rPr lang="en-US" sz="3600" dirty="0"/>
              <a:t>Automata  and computability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2" y="2628901"/>
            <a:ext cx="7521575" cy="2234159"/>
          </a:xfrm>
        </p:spPr>
        <p:txBody>
          <a:bodyPr>
            <a:normAutofit/>
          </a:bodyPr>
          <a:lstStyle/>
          <a:p>
            <a:r>
              <a:rPr lang="en-US" dirty="0"/>
              <a:t>Lecture 3</a:t>
            </a:r>
          </a:p>
          <a:p>
            <a:endParaRPr lang="en-US" dirty="0"/>
          </a:p>
          <a:p>
            <a:r>
              <a:rPr lang="en-US" dirty="0"/>
              <a:t>Summer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65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Today's learning goals	</a:t>
            </a:r>
            <a:r>
              <a:rPr lang="en-US" sz="2400"/>
              <a:t>Sipser Ch 1.1, 1.2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 what it means for a </a:t>
            </a:r>
            <a:r>
              <a:rPr lang="en-US" b="1" dirty="0"/>
              <a:t>set</a:t>
            </a:r>
            <a:r>
              <a:rPr lang="en-US" dirty="0"/>
              <a:t> to be closed under an </a:t>
            </a:r>
            <a:r>
              <a:rPr lang="en-US" b="1" dirty="0"/>
              <a:t>operation</a:t>
            </a:r>
            <a:r>
              <a:rPr lang="en-US" dirty="0"/>
              <a:t>.</a:t>
            </a:r>
          </a:p>
          <a:p>
            <a:r>
              <a:rPr lang="en-US" dirty="0"/>
              <a:t>Define the regular operations on languages</a:t>
            </a:r>
          </a:p>
          <a:p>
            <a:r>
              <a:rPr lang="en-US" dirty="0"/>
              <a:t>Prove closure properties of the class of regular languages</a:t>
            </a:r>
          </a:p>
        </p:txBody>
      </p:sp>
    </p:spTree>
    <p:extLst>
      <p:ext uri="{BB962C8B-B14F-4D97-AF65-F5344CB8AC3E}">
        <p14:creationId xmlns:p14="http://schemas.microsoft.com/office/powerpoint/2010/main" val="2063963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Remember</a:t>
            </a:r>
            <a:endParaRPr lang="en-US" i="1">
              <a:solidFill>
                <a:srgbClr val="808DA0"/>
              </a:solidFill>
            </a:endParaRPr>
          </a:p>
          <a:p>
            <a:pPr marL="0" indent="0">
              <a:buNone/>
            </a:pPr>
            <a:endParaRPr lang="en-US" i="1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States are our only (computer) memory.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Design and pick states with specific roles / tasks in mind.</a:t>
            </a: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 i="1">
                <a:solidFill>
                  <a:schemeClr val="accent5"/>
                </a:solidFill>
              </a:rPr>
              <a:t>"Have not seen any of desired pattern yet"</a:t>
            </a:r>
          </a:p>
          <a:p>
            <a:pPr marL="0" indent="0">
              <a:buNone/>
            </a:pPr>
            <a:r>
              <a:rPr lang="en-US" i="1">
                <a:solidFill>
                  <a:schemeClr val="accent5"/>
                </a:solidFill>
              </a:rPr>
              <a:t>"Trap state"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554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useful (optional) bit of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When is a string accepted by a DFA?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>
                <a:solidFill>
                  <a:schemeClr val="tx2"/>
                </a:solidFill>
              </a:rPr>
              <a:t>Computation of M on w</a:t>
            </a:r>
            <a:r>
              <a:rPr lang="en-US" i="1">
                <a:solidFill>
                  <a:schemeClr val="tx2"/>
                </a:solidFill>
              </a:rPr>
              <a:t>: where do we land when start at q</a:t>
            </a:r>
            <a:r>
              <a:rPr lang="en-US" i="1" baseline="-25000">
                <a:solidFill>
                  <a:schemeClr val="tx2"/>
                </a:solidFill>
              </a:rPr>
              <a:t>0</a:t>
            </a:r>
            <a:r>
              <a:rPr lang="en-US" i="1">
                <a:solidFill>
                  <a:schemeClr val="tx2"/>
                </a:solidFill>
              </a:rPr>
              <a:t> and read each symbol of w one-at-a time?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δ*( q, w ) =</a:t>
            </a:r>
          </a:p>
        </p:txBody>
      </p:sp>
      <p:sp>
        <p:nvSpPr>
          <p:cNvPr id="4" name="Cloud Callout 3"/>
          <p:cNvSpPr/>
          <p:nvPr/>
        </p:nvSpPr>
        <p:spPr>
          <a:xfrm>
            <a:off x="7005417" y="3527267"/>
            <a:ext cx="2138583" cy="1311930"/>
          </a:xfrm>
          <a:prstGeom prst="cloudCallout">
            <a:avLst>
              <a:gd name="adj1" fmla="val -44742"/>
              <a:gd name="adj2" fmla="val 65014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Recursively defined function</a:t>
            </a:r>
          </a:p>
        </p:txBody>
      </p:sp>
    </p:spTree>
    <p:extLst>
      <p:ext uri="{BB962C8B-B14F-4D97-AF65-F5344CB8AC3E}">
        <p14:creationId xmlns:p14="http://schemas.microsoft.com/office/powerpoint/2010/main" val="3592776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Regular languages	 </a:t>
            </a:r>
            <a:r>
              <a:rPr lang="en-US" sz="2200"/>
              <a:t>Sipser p. 35 Def 1.5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DFA M over the alphabet Σ</a:t>
            </a:r>
          </a:p>
          <a:p>
            <a:pPr lvl="1"/>
            <a:r>
              <a:rPr lang="en-US" dirty="0"/>
              <a:t>For each string w over Σ, M either accepts w or rejects w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chemeClr val="tx2"/>
                </a:solidFill>
              </a:rPr>
              <a:t>language recognized by M </a:t>
            </a:r>
            <a:r>
              <a:rPr lang="en-US" dirty="0"/>
              <a:t>is the set of strings M accepts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4128D2"/>
                </a:solidFill>
              </a:rPr>
              <a:t>language</a:t>
            </a:r>
            <a:r>
              <a:rPr lang="en-US" dirty="0"/>
              <a:t> </a:t>
            </a:r>
            <a:r>
              <a:rPr lang="en-US" b="1" dirty="0">
                <a:solidFill>
                  <a:schemeClr val="tx2"/>
                </a:solidFill>
              </a:rPr>
              <a:t>of M </a:t>
            </a:r>
            <a:r>
              <a:rPr lang="en-US" dirty="0"/>
              <a:t>is the set of strings M accepts</a:t>
            </a:r>
          </a:p>
          <a:p>
            <a:pPr lvl="1"/>
            <a:r>
              <a:rPr lang="en-US" b="1" dirty="0">
                <a:solidFill>
                  <a:srgbClr val="4128D2"/>
                </a:solidFill>
              </a:rPr>
              <a:t>L(M) </a:t>
            </a:r>
            <a:r>
              <a:rPr lang="en-US" dirty="0"/>
              <a:t>= { w | w is a string over Σ and M accepts w}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Definition:</a:t>
            </a:r>
            <a:r>
              <a:rPr lang="en-US" dirty="0"/>
              <a:t> A language is </a:t>
            </a:r>
            <a:r>
              <a:rPr lang="en-US" b="1" dirty="0"/>
              <a:t>regular</a:t>
            </a:r>
            <a:r>
              <a:rPr lang="en-US" dirty="0"/>
              <a:t> </a:t>
            </a:r>
            <a:r>
              <a:rPr lang="en-US" dirty="0" err="1"/>
              <a:t>iff</a:t>
            </a:r>
            <a:r>
              <a:rPr lang="en-US" dirty="0"/>
              <a:t> there is some finite automaton that recognizes </a:t>
            </a:r>
            <a:r>
              <a:rPr lang="en-US" dirty="0">
                <a:solidFill>
                  <a:srgbClr val="F2AF0D"/>
                </a:solidFill>
              </a:rPr>
              <a:t>exactly </a:t>
            </a:r>
            <a:r>
              <a:rPr lang="en-US" dirty="0"/>
              <a:t>it.</a:t>
            </a:r>
          </a:p>
        </p:txBody>
      </p:sp>
    </p:spTree>
    <p:extLst>
      <p:ext uri="{BB962C8B-B14F-4D97-AF65-F5344CB8AC3E}">
        <p14:creationId xmlns:p14="http://schemas.microsoft.com/office/powerpoint/2010/main" val="2990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Regular languages: bounds?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Is </a:t>
            </a:r>
            <a:r>
              <a:rPr lang="en-US" b="1" dirty="0"/>
              <a:t>every </a:t>
            </a:r>
            <a:r>
              <a:rPr lang="en-US" dirty="0"/>
              <a:t>finite language regular?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lphaUcPeriod"/>
            </a:pPr>
            <a:r>
              <a:rPr lang="en-US" dirty="0"/>
              <a:t>No: some finite languages are regular, and some are not.</a:t>
            </a:r>
          </a:p>
          <a:p>
            <a:pPr marL="457200" indent="-457200">
              <a:buAutoNum type="alphaUcPeriod"/>
            </a:pPr>
            <a:r>
              <a:rPr lang="en-US" dirty="0"/>
              <a:t>No: there are no finite regular languages.</a:t>
            </a:r>
          </a:p>
          <a:p>
            <a:pPr marL="457200" indent="-457200">
              <a:buAutoNum type="alphaUcPeriod"/>
            </a:pPr>
            <a:r>
              <a:rPr lang="en-US" dirty="0"/>
              <a:t>Yes: every finite language is regular.</a:t>
            </a:r>
          </a:p>
          <a:p>
            <a:pPr marL="457200" indent="-457200">
              <a:buAutoNum type="alphaUcPeriod"/>
            </a:pPr>
            <a:r>
              <a:rPr lang="en-US" dirty="0"/>
              <a:t>I don't know.</a:t>
            </a:r>
          </a:p>
          <a:p>
            <a:pPr marL="457200" indent="-457200">
              <a:buAutoNum type="alphaU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510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New strategy</a:t>
            </a:r>
            <a:endParaRPr lang="en-US" i="1">
              <a:solidFill>
                <a:srgbClr val="808DA0"/>
              </a:solidFill>
            </a:endParaRPr>
          </a:p>
          <a:p>
            <a:pPr marL="0" indent="0">
              <a:buNone/>
            </a:pPr>
            <a:endParaRPr lang="en-US" i="1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Express L in terms of simpler languages – use them as building blocks.</a:t>
            </a:r>
          </a:p>
          <a:p>
            <a:pPr marL="0" indent="0">
              <a:buNone/>
            </a:pPr>
            <a:endParaRPr lang="en-US" i="1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chemeClr val="tx2"/>
                </a:solidFill>
              </a:rPr>
              <a:t>Example         </a:t>
            </a:r>
            <a:r>
              <a:rPr lang="en-US" sz="2000">
                <a:solidFill>
                  <a:srgbClr val="292934"/>
                </a:solidFill>
              </a:rPr>
              <a:t>L = </a:t>
            </a:r>
            <a:r>
              <a:rPr lang="en-US" sz="2000"/>
              <a:t>{ w | w does not contain the substring baba }</a:t>
            </a:r>
            <a:endParaRPr lang="en-US" sz="20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chemeClr val="tx2"/>
                </a:solidFill>
              </a:rPr>
              <a:t>		</a:t>
            </a:r>
            <a:r>
              <a:rPr lang="en-US" sz="2000">
                <a:solidFill>
                  <a:srgbClr val="292934"/>
                </a:solidFill>
              </a:rPr>
              <a:t>= the complement of the set </a:t>
            </a:r>
          </a:p>
          <a:p>
            <a:pPr marL="0" indent="0">
              <a:buNone/>
            </a:pPr>
            <a:r>
              <a:rPr lang="en-US" sz="2000">
                <a:solidFill>
                  <a:srgbClr val="292934"/>
                </a:solidFill>
              </a:rPr>
              <a:t>			{w | w contains the substring baba}</a:t>
            </a: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040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292934"/>
                </a:solidFill>
              </a:rPr>
              <a:t>DFA recognizing	{w | w contains the substring baba}</a:t>
            </a:r>
          </a:p>
          <a:p>
            <a:pPr marL="0" indent="0">
              <a:buNone/>
            </a:pPr>
            <a:endParaRPr lang="en-US" sz="2000">
              <a:solidFill>
                <a:srgbClr val="292934"/>
              </a:solidFill>
            </a:endParaRPr>
          </a:p>
          <a:p>
            <a:pPr marL="0" indent="0">
              <a:buNone/>
            </a:pPr>
            <a:endParaRPr lang="en-US" sz="2000">
              <a:solidFill>
                <a:srgbClr val="292934"/>
              </a:solidFill>
            </a:endParaRPr>
          </a:p>
          <a:p>
            <a:pPr marL="0" indent="0">
              <a:buNone/>
            </a:pPr>
            <a:endParaRPr lang="en-US" sz="2000">
              <a:solidFill>
                <a:srgbClr val="292934"/>
              </a:solidFill>
            </a:endParaRPr>
          </a:p>
          <a:p>
            <a:pPr marL="0" indent="0">
              <a:buNone/>
            </a:pPr>
            <a:endParaRPr lang="en-US" sz="2000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rgbClr val="292934"/>
                </a:solidFill>
              </a:rPr>
              <a:t>DFA recognizing	{w | w doesn't contain the substring baba}</a:t>
            </a:r>
          </a:p>
          <a:p>
            <a:pPr marL="0" indent="0">
              <a:buNone/>
            </a:pPr>
            <a:endParaRPr lang="en-US" sz="2000">
              <a:solidFill>
                <a:srgbClr val="292934"/>
              </a:solidFill>
            </a:endParaRPr>
          </a:p>
        </p:txBody>
      </p:sp>
      <p:pic>
        <p:nvPicPr>
          <p:cNvPr id="6" name="Picture 5" descr="imgres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90" y="400050"/>
            <a:ext cx="1098809" cy="103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998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Theorem</a:t>
                </a:r>
                <a:r>
                  <a:rPr lang="en-US" sz="2000" dirty="0"/>
                  <a:t>: If A is a regular language over {0,1}</a:t>
                </a:r>
                <a:r>
                  <a:rPr lang="en-US" sz="2000" baseline="30000" dirty="0"/>
                  <a:t>*</a:t>
                </a:r>
                <a:r>
                  <a:rPr lang="en-US" sz="2000" dirty="0"/>
                  <a:t>, then so is its complement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0000"/>
                    </a:solidFill>
                  </a:rPr>
                  <a:t>aka "the class of regular languages is closed under complementation"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712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Closure of … under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Z</a:t>
            </a:r>
            <a:r>
              <a:rPr lang="en-US" dirty="0"/>
              <a:t> under addition.</a:t>
            </a:r>
          </a:p>
          <a:p>
            <a:r>
              <a:rPr lang="en-US" dirty="0"/>
              <a:t>Set of even </a:t>
            </a:r>
            <a:r>
              <a:rPr lang="en-US" dirty="0" err="1"/>
              <a:t>ints</a:t>
            </a:r>
            <a:r>
              <a:rPr lang="en-US" dirty="0"/>
              <a:t> under multiplication.</a:t>
            </a:r>
          </a:p>
          <a:p>
            <a:r>
              <a:rPr lang="en-US" dirty="0"/>
              <a:t>{0}</a:t>
            </a:r>
            <a:r>
              <a:rPr lang="en-US" baseline="30000" dirty="0"/>
              <a:t>* </a:t>
            </a:r>
            <a:r>
              <a:rPr lang="en-US" dirty="0"/>
              <a:t>under concatenation.</a:t>
            </a:r>
          </a:p>
        </p:txBody>
      </p:sp>
      <p:sp>
        <p:nvSpPr>
          <p:cNvPr id="4" name="Cloud 3"/>
          <p:cNvSpPr/>
          <p:nvPr/>
        </p:nvSpPr>
        <p:spPr>
          <a:xfrm>
            <a:off x="5675316" y="400050"/>
            <a:ext cx="3468684" cy="3096903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ultiply 6"/>
          <p:cNvSpPr/>
          <p:nvPr/>
        </p:nvSpPr>
        <p:spPr>
          <a:xfrm>
            <a:off x="6882495" y="1969215"/>
            <a:ext cx="250843" cy="266583"/>
          </a:xfrm>
          <a:prstGeom prst="mathMultiply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ultiply 7"/>
          <p:cNvSpPr/>
          <p:nvPr/>
        </p:nvSpPr>
        <p:spPr>
          <a:xfrm>
            <a:off x="7944200" y="947737"/>
            <a:ext cx="250843" cy="266583"/>
          </a:xfrm>
          <a:prstGeom prst="mathMultiply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>
            <a:off x="8022589" y="1224368"/>
            <a:ext cx="172454" cy="898255"/>
          </a:xfrm>
          <a:prstGeom prst="downArrow">
            <a:avLst/>
          </a:prstGeom>
          <a:solidFill>
            <a:schemeClr val="accent5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 rot="16200000">
            <a:off x="7570252" y="1700443"/>
            <a:ext cx="172454" cy="898255"/>
          </a:xfrm>
          <a:prstGeom prst="downArrow">
            <a:avLst/>
          </a:prstGeom>
          <a:solidFill>
            <a:schemeClr val="accent5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ultiply 10"/>
          <p:cNvSpPr/>
          <p:nvPr/>
        </p:nvSpPr>
        <p:spPr>
          <a:xfrm>
            <a:off x="8069621" y="2122623"/>
            <a:ext cx="250843" cy="266583"/>
          </a:xfrm>
          <a:prstGeom prst="mathMultiply">
            <a:avLst/>
          </a:prstGeom>
          <a:solidFill>
            <a:srgbClr val="008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31778" y="2603321"/>
            <a:ext cx="6107367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Which of these is true? </a:t>
            </a:r>
          </a:p>
          <a:p>
            <a:pPr marL="342900" indent="-342900">
              <a:buAutoNum type="alphaUcPeriod"/>
            </a:pPr>
            <a:endParaRPr lang="en-US" dirty="0"/>
          </a:p>
          <a:p>
            <a:pPr marL="342900" indent="-342900">
              <a:buAutoNum type="alphaUcPeriod"/>
            </a:pPr>
            <a:r>
              <a:rPr lang="en-US" dirty="0"/>
              <a:t>The set of odd integers is closed under addition.</a:t>
            </a:r>
          </a:p>
          <a:p>
            <a:pPr marL="342900" indent="-342900">
              <a:buAutoNum type="alphaUcPeriod"/>
            </a:pPr>
            <a:r>
              <a:rPr lang="en-US" dirty="0"/>
              <a:t>The set of positive integers is closed under subtraction.</a:t>
            </a:r>
          </a:p>
          <a:p>
            <a:pPr marL="342900" indent="-342900">
              <a:buAutoNum type="alphaUcPeriod"/>
            </a:pPr>
            <a:r>
              <a:rPr lang="en-US" dirty="0"/>
              <a:t>The set of rational numbers is closed under multiplication.</a:t>
            </a:r>
          </a:p>
          <a:p>
            <a:pPr marL="342900" indent="-342900">
              <a:buAutoNum type="alphaUcPeriod"/>
            </a:pPr>
            <a:r>
              <a:rPr lang="en-US" dirty="0"/>
              <a:t>The set of real numbers is closed under division.</a:t>
            </a:r>
          </a:p>
          <a:p>
            <a:pPr marL="342900" indent="-342900">
              <a:buAutoNum type="alphaUcPeriod"/>
            </a:pPr>
            <a:r>
              <a:rPr lang="en-US" dirty="0"/>
              <a:t>I don't know.</a:t>
            </a:r>
          </a:p>
        </p:txBody>
      </p:sp>
    </p:spTree>
    <p:extLst>
      <p:ext uri="{BB962C8B-B14F-4D97-AF65-F5344CB8AC3E}">
        <p14:creationId xmlns:p14="http://schemas.microsoft.com/office/powerpoint/2010/main" val="960723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/>
                  <a:t>Theorem</a:t>
                </a:r>
                <a:r>
                  <a:rPr lang="en-US" sz="2000" dirty="0"/>
                  <a:t>: If A is a regular language over {0,1}</a:t>
                </a:r>
                <a:r>
                  <a:rPr lang="en-US" sz="2000" baseline="30000" dirty="0"/>
                  <a:t>*</a:t>
                </a:r>
                <a:r>
                  <a:rPr lang="en-US" sz="2000" dirty="0"/>
                  <a:t>, then so is its complement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0000"/>
                    </a:solidFill>
                  </a:rPr>
                  <a:t>aka "the class of regular languages is closed under complementation"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0042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Theorem</a:t>
                </a:r>
                <a:r>
                  <a:rPr lang="en-US" sz="2400" dirty="0"/>
                  <a:t>: If A is a regular language over {0,1}</a:t>
                </a:r>
                <a:r>
                  <a:rPr lang="en-US" sz="2400" baseline="30000" dirty="0"/>
                  <a:t>*</a:t>
                </a:r>
                <a:r>
                  <a:rPr lang="en-US" sz="2400" dirty="0"/>
                  <a:t>, then so is its complement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FF0000"/>
                    </a:solidFill>
                  </a:rPr>
                  <a:t>aka "the class of regular languages is closed under complementation"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Proof: Let A be a regular language.  </a:t>
                </a:r>
              </a:p>
              <a:p>
                <a:pPr marL="0" indent="0">
                  <a:buNone/>
                </a:pPr>
                <a:r>
                  <a:rPr lang="en-US" dirty="0"/>
                  <a:t>Then there is a DFA M=(Q,Σ,δ,q0,F) such that L(M) = A.  </a:t>
                </a:r>
              </a:p>
              <a:p>
                <a:pPr marL="0" indent="0">
                  <a:buNone/>
                </a:pPr>
                <a:r>
                  <a:rPr lang="en-US" dirty="0"/>
                  <a:t>We want to build a DFA M’ whose language is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r>
                  <a:rPr lang="en-US" dirty="0"/>
                  <a:t>.  Define</a:t>
                </a:r>
                <a:br>
                  <a:rPr lang="en-US" dirty="0"/>
                </a:b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M' = 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Claim of Correctness</a:t>
                </a:r>
                <a:r>
                  <a:rPr lang="en-US" dirty="0"/>
                  <a:t> L(M') =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Proof of claim…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2500" b="-2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4927968" y="3390784"/>
            <a:ext cx="3368842" cy="73526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83891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16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closure proofs?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General technique of proving a new language is regular</a:t>
            </a:r>
          </a:p>
          <a:p>
            <a:endParaRPr lang="en-US"/>
          </a:p>
          <a:p>
            <a:r>
              <a:rPr lang="en-US"/>
              <a:t>Stretch the power of the model</a:t>
            </a:r>
          </a:p>
          <a:p>
            <a:endParaRPr lang="en-US"/>
          </a:p>
          <a:p>
            <a:r>
              <a:rPr lang="en-US"/>
              <a:t>Puzzle!</a:t>
            </a:r>
          </a:p>
        </p:txBody>
      </p:sp>
    </p:spTree>
    <p:extLst>
      <p:ext uri="{BB962C8B-B14F-4D97-AF65-F5344CB8AC3E}">
        <p14:creationId xmlns:p14="http://schemas.microsoft.com/office/powerpoint/2010/main" val="4219876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regular operations	</a:t>
            </a:r>
            <a:r>
              <a:rPr lang="en-US" sz="2000"/>
              <a:t>Sipser Def 1.23 p.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For A, B languages over same alphabet, define: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	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9" name="Cloud Callout 8"/>
          <p:cNvSpPr/>
          <p:nvPr/>
        </p:nvSpPr>
        <p:spPr>
          <a:xfrm>
            <a:off x="2240254" y="3638085"/>
            <a:ext cx="6866819" cy="1332919"/>
          </a:xfrm>
          <a:prstGeom prst="cloudCallout">
            <a:avLst>
              <a:gd name="adj1" fmla="val -33847"/>
              <a:gd name="adj2" fmla="val -8338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These are operations on sets!</a:t>
            </a:r>
          </a:p>
        </p:txBody>
      </p:sp>
      <p:pic>
        <p:nvPicPr>
          <p:cNvPr id="12" name="Picture 11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54" y="1738700"/>
            <a:ext cx="3797300" cy="317500"/>
          </a:xfrm>
          <a:prstGeom prst="rect">
            <a:avLst/>
          </a:prstGeom>
        </p:spPr>
      </p:pic>
      <p:pic>
        <p:nvPicPr>
          <p:cNvPr id="13" name="Picture 12" descr="latex-image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54" y="2244377"/>
            <a:ext cx="4305300" cy="317500"/>
          </a:xfrm>
          <a:prstGeom prst="rect">
            <a:avLst/>
          </a:prstGeom>
        </p:spPr>
      </p:pic>
      <p:pic>
        <p:nvPicPr>
          <p:cNvPr id="14" name="Picture 13" descr="latex-image-1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840" y="2679583"/>
            <a:ext cx="5511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968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Union			</a:t>
            </a:r>
            <a:r>
              <a:rPr lang="en-US" sz="2200"/>
              <a:t>Sipser Theorem 1.25 p. 45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Theorem:</a:t>
            </a:r>
            <a:r>
              <a:rPr lang="en-US"/>
              <a:t> The class of regular languages </a:t>
            </a:r>
            <a:r>
              <a:rPr lang="en-US">
                <a:solidFill>
                  <a:schemeClr val="accent5"/>
                </a:solidFill>
              </a:rPr>
              <a:t>over fixed alphabet Σ</a:t>
            </a:r>
            <a:r>
              <a:rPr lang="en-US"/>
              <a:t> is closed under the union operation.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/>
              <a:t>Proof: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9856" y="2681520"/>
            <a:ext cx="5977110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What are we proving here?</a:t>
            </a:r>
          </a:p>
          <a:p>
            <a:endParaRPr lang="en-US"/>
          </a:p>
          <a:p>
            <a:pPr marL="342900" indent="-342900">
              <a:buAutoNum type="alphaUcPeriod"/>
            </a:pPr>
            <a:r>
              <a:rPr lang="en-US"/>
              <a:t>For any set A, if A is regular then so is A U A.</a:t>
            </a:r>
          </a:p>
          <a:p>
            <a:pPr marL="342900" indent="-342900">
              <a:buAutoNum type="alphaUcPeriod"/>
            </a:pPr>
            <a:r>
              <a:rPr lang="en-US"/>
              <a:t>For any sets A and B, if A U B is regular, then so is A.</a:t>
            </a:r>
          </a:p>
          <a:p>
            <a:pPr marL="342900" indent="-342900">
              <a:buAutoNum type="alphaUcPeriod"/>
            </a:pPr>
            <a:r>
              <a:rPr lang="en-US"/>
              <a:t>For two DFAs M1 and M2, M1 U M2 is regular.</a:t>
            </a:r>
          </a:p>
          <a:p>
            <a:pPr marL="342900" indent="-342900">
              <a:buAutoNum type="alphaUcPeriod"/>
            </a:pPr>
            <a:r>
              <a:rPr lang="en-US"/>
              <a:t>None of the above.</a:t>
            </a:r>
          </a:p>
          <a:p>
            <a:pPr marL="342900" indent="-342900">
              <a:buAutoNum type="alphaUcPeriod"/>
            </a:pPr>
            <a:r>
              <a:rPr lang="en-US"/>
              <a:t>I don't know.</a:t>
            </a:r>
          </a:p>
        </p:txBody>
      </p:sp>
    </p:spTree>
    <p:extLst>
      <p:ext uri="{BB962C8B-B14F-4D97-AF65-F5344CB8AC3E}">
        <p14:creationId xmlns:p14="http://schemas.microsoft.com/office/powerpoint/2010/main" val="3120347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Union			</a:t>
            </a:r>
            <a:r>
              <a:rPr lang="en-US" sz="2200"/>
              <a:t>Sipser Theorem 1.25 p. 45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Theorem:</a:t>
            </a:r>
            <a:r>
              <a:rPr lang="en-US" dirty="0"/>
              <a:t> The class of regular languages </a:t>
            </a:r>
            <a:r>
              <a:rPr lang="en-US" dirty="0">
                <a:solidFill>
                  <a:schemeClr val="accent5"/>
                </a:solidFill>
              </a:rPr>
              <a:t>over fixed alphabet Σ</a:t>
            </a:r>
            <a:r>
              <a:rPr lang="en-US" dirty="0"/>
              <a:t> is closed under the union operation.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Proof: Let A1, A2 be any two regular languages over Σ.</a:t>
            </a:r>
          </a:p>
          <a:p>
            <a:pPr marL="0" indent="0">
              <a:buNone/>
            </a:pPr>
            <a:r>
              <a:rPr lang="en-US" b="1" dirty="0"/>
              <a:t>WTS</a:t>
            </a:r>
            <a:r>
              <a:rPr lang="en-US" dirty="0"/>
              <a:t> that A1 U A2 is regular.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Goa</a:t>
            </a:r>
            <a:r>
              <a:rPr lang="en-US" b="1" dirty="0">
                <a:solidFill>
                  <a:srgbClr val="F2AF0D"/>
                </a:solidFill>
              </a:rPr>
              <a:t>l: </a:t>
            </a:r>
            <a:r>
              <a:rPr lang="en-US" b="1" dirty="0">
                <a:solidFill>
                  <a:schemeClr val="tx2"/>
                </a:solidFill>
              </a:rPr>
              <a:t>build a DFA that recognizes A1 U A2.</a:t>
            </a:r>
          </a:p>
        </p:txBody>
      </p:sp>
    </p:spTree>
    <p:extLst>
      <p:ext uri="{BB962C8B-B14F-4D97-AF65-F5344CB8AC3E}">
        <p14:creationId xmlns:p14="http://schemas.microsoft.com/office/powerpoint/2010/main" val="1822602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Union			</a:t>
            </a:r>
            <a:r>
              <a:rPr lang="en-US" sz="2200"/>
              <a:t>Sipser Theorem 1.25 p. 45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2AF0D"/>
                </a:solidFill>
              </a:rPr>
              <a:t>Goal: </a:t>
            </a:r>
            <a:r>
              <a:rPr lang="en-US" b="1" dirty="0">
                <a:solidFill>
                  <a:schemeClr val="tx2"/>
                </a:solidFill>
              </a:rPr>
              <a:t>build a DFA that recognizes A1 U A2.</a:t>
            </a:r>
          </a:p>
          <a:p>
            <a:pPr marL="0" indent="0">
              <a:buNone/>
            </a:pPr>
            <a:endParaRPr lang="en-US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2AF0D"/>
                </a:solidFill>
              </a:rPr>
              <a:t>Strategy: </a:t>
            </a:r>
            <a:r>
              <a:rPr lang="en-US" b="1" dirty="0">
                <a:solidFill>
                  <a:schemeClr val="tx2"/>
                </a:solidFill>
              </a:rPr>
              <a:t>use DFAs that recognize each of A1, A2.</a:t>
            </a:r>
          </a:p>
        </p:txBody>
      </p:sp>
      <p:sp>
        <p:nvSpPr>
          <p:cNvPr id="4" name="Cloud 3"/>
          <p:cNvSpPr/>
          <p:nvPr/>
        </p:nvSpPr>
        <p:spPr>
          <a:xfrm>
            <a:off x="3010113" y="2838334"/>
            <a:ext cx="2947401" cy="1050654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M1</a:t>
            </a:r>
          </a:p>
        </p:txBody>
      </p:sp>
      <p:sp>
        <p:nvSpPr>
          <p:cNvPr id="5" name="Cloud 4"/>
          <p:cNvSpPr/>
          <p:nvPr/>
        </p:nvSpPr>
        <p:spPr>
          <a:xfrm>
            <a:off x="3010113" y="4041388"/>
            <a:ext cx="2947401" cy="1050654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M2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138" y="2681520"/>
            <a:ext cx="3684252" cy="246198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6255389" y="3900255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437" y="3312287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Input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093057" y="3900255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54823" y="3233882"/>
            <a:ext cx="2749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Accept if </a:t>
            </a:r>
          </a:p>
          <a:p>
            <a:r>
              <a:rPr lang="en-US" b="1"/>
              <a:t>either (or both) accepts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7918" y="4077165"/>
            <a:ext cx="1364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** HOW? **</a:t>
            </a:r>
          </a:p>
        </p:txBody>
      </p:sp>
    </p:spTree>
    <p:extLst>
      <p:ext uri="{BB962C8B-B14F-4D97-AF65-F5344CB8AC3E}">
        <p14:creationId xmlns:p14="http://schemas.microsoft.com/office/powerpoint/2010/main" val="3907912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Union			</a:t>
            </a:r>
            <a:r>
              <a:rPr lang="en-US" sz="2200"/>
              <a:t>Sipser Theorem 1.25 p. 45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Theorem:</a:t>
            </a:r>
            <a:r>
              <a:rPr lang="en-US" dirty="0"/>
              <a:t> The class of regular languages </a:t>
            </a:r>
            <a:r>
              <a:rPr lang="en-US" dirty="0">
                <a:solidFill>
                  <a:schemeClr val="accent5"/>
                </a:solidFill>
              </a:rPr>
              <a:t>over fixed alphabet Σ</a:t>
            </a:r>
            <a:r>
              <a:rPr lang="en-US" dirty="0"/>
              <a:t> is closed under the union operation.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Proof: Let A1, A2 be any two regular languages over Σ.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Given M1 = (Q1,Σ,δ1,q1,F1) such that L(M1) = A1 and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M2 = (Q2,Σ,δ2,q2,F2) such that L(M2) = A2</a:t>
            </a:r>
          </a:p>
          <a:p>
            <a:pPr marL="0" indent="0">
              <a:buNone/>
            </a:pPr>
            <a:r>
              <a:rPr lang="en-US" b="1" dirty="0"/>
              <a:t>WTS</a:t>
            </a:r>
            <a:r>
              <a:rPr lang="en-US" dirty="0"/>
              <a:t> that A1 U A2 is regular.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Define M = (?,</a:t>
            </a:r>
            <a:r>
              <a:rPr lang="en-US" dirty="0" err="1">
                <a:solidFill>
                  <a:srgbClr val="FF0000"/>
                </a:solidFill>
              </a:rPr>
              <a:t>Σ,δ</a:t>
            </a:r>
            <a:r>
              <a:rPr lang="en-US" dirty="0">
                <a:solidFill>
                  <a:srgbClr val="FF0000"/>
                </a:solidFill>
              </a:rPr>
              <a:t>,?,?)</a:t>
            </a:r>
          </a:p>
        </p:txBody>
      </p:sp>
    </p:spTree>
    <p:extLst>
      <p:ext uri="{BB962C8B-B14F-4D97-AF65-F5344CB8AC3E}">
        <p14:creationId xmlns:p14="http://schemas.microsoft.com/office/powerpoint/2010/main" val="2092160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Union			</a:t>
            </a:r>
            <a:r>
              <a:rPr lang="en-US" sz="2200"/>
              <a:t>Sipser Theorem 1.25 p. 45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Theorem:</a:t>
            </a:r>
            <a:r>
              <a:rPr lang="en-US"/>
              <a:t> The class of regular languages </a:t>
            </a:r>
            <a:r>
              <a:rPr lang="en-US">
                <a:solidFill>
                  <a:schemeClr val="accent5"/>
                </a:solidFill>
              </a:rPr>
              <a:t>over fixed alphabet Σ</a:t>
            </a:r>
            <a:r>
              <a:rPr lang="en-US"/>
              <a:t> is closed under the union operation.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/>
              <a:t>Proof: Let A1, A2 be any two regular languages over Σ.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Given M1 = (Q1,Σ,δ1,q1,F1) such that L(M1) = A1 and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M2 = (Q2,Σ,δ2,q2,F2) such that L(M2) = A2 and</a:t>
            </a:r>
          </a:p>
          <a:p>
            <a:pPr marL="0" indent="0">
              <a:buNone/>
            </a:pPr>
            <a:r>
              <a:rPr lang="en-US" b="1"/>
              <a:t>WTS</a:t>
            </a:r>
            <a:r>
              <a:rPr lang="en-US"/>
              <a:t> that A1 U A2 is regular. 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Define M = (Q1xQ2,Σ,δ,?,?)</a:t>
            </a:r>
          </a:p>
        </p:txBody>
      </p:sp>
      <p:sp>
        <p:nvSpPr>
          <p:cNvPr id="5" name="Cloud Callout 4"/>
          <p:cNvSpPr/>
          <p:nvPr/>
        </p:nvSpPr>
        <p:spPr>
          <a:xfrm>
            <a:off x="5440151" y="3951713"/>
            <a:ext cx="3480442" cy="595894"/>
          </a:xfrm>
          <a:prstGeom prst="cloudCallout">
            <a:avLst>
              <a:gd name="adj1" fmla="val -71283"/>
              <a:gd name="adj2" fmla="val 4144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Idea: run in parallel</a:t>
            </a:r>
          </a:p>
        </p:txBody>
      </p:sp>
    </p:spTree>
    <p:extLst>
      <p:ext uri="{BB962C8B-B14F-4D97-AF65-F5344CB8AC3E}">
        <p14:creationId xmlns:p14="http://schemas.microsoft.com/office/powerpoint/2010/main" val="4152773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Union			</a:t>
            </a:r>
            <a:r>
              <a:rPr lang="en-US" sz="2200"/>
              <a:t>Sipser Theorem 1.25 p. 45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Theorem:</a:t>
            </a:r>
            <a:r>
              <a:rPr lang="en-US"/>
              <a:t> The class of regular languages </a:t>
            </a:r>
            <a:r>
              <a:rPr lang="en-US">
                <a:solidFill>
                  <a:schemeClr val="accent5"/>
                </a:solidFill>
              </a:rPr>
              <a:t>over fixed alphabet Σ</a:t>
            </a:r>
            <a:r>
              <a:rPr lang="en-US"/>
              <a:t> is closed under the union operation.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/>
              <a:t>Proof: Let A1, A2 be any two regular languages over Σ.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Given M1 = (Q1,Σ,δ1,q1,F1) such that L(M1) = A1 and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M2 = (Q2,Σ,δ2,q2,F2) such that L(M2) = A2 and</a:t>
            </a:r>
          </a:p>
          <a:p>
            <a:pPr marL="0" indent="0">
              <a:buNone/>
            </a:pPr>
            <a:r>
              <a:rPr lang="en-US" b="1"/>
              <a:t>WTS</a:t>
            </a:r>
            <a:r>
              <a:rPr lang="en-US"/>
              <a:t> that A1 U A2 is regular. 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Define M = (Q1xQ2,Σ,δ,?,?)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71944" y="2983239"/>
            <a:ext cx="4201616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What should be the initial state of M?</a:t>
            </a:r>
          </a:p>
          <a:p>
            <a:endParaRPr lang="en-US"/>
          </a:p>
          <a:p>
            <a:pPr marL="342900" indent="-342900">
              <a:buAutoNum type="alphaUcPeriod"/>
            </a:pPr>
            <a:r>
              <a:rPr lang="en-US"/>
              <a:t>q0</a:t>
            </a:r>
          </a:p>
          <a:p>
            <a:pPr marL="342900" indent="-342900">
              <a:buAutoNum type="alphaUcPeriod"/>
            </a:pPr>
            <a:r>
              <a:rPr lang="en-US"/>
              <a:t>q1</a:t>
            </a:r>
          </a:p>
          <a:p>
            <a:pPr marL="342900" indent="-342900">
              <a:buAutoNum type="alphaUcPeriod"/>
            </a:pPr>
            <a:r>
              <a:rPr lang="en-US"/>
              <a:t>q2</a:t>
            </a:r>
          </a:p>
          <a:p>
            <a:pPr marL="342900" indent="-342900">
              <a:buAutoNum type="alphaUcPeriod"/>
            </a:pPr>
            <a:r>
              <a:rPr lang="en-US"/>
              <a:t>(q1,q2)</a:t>
            </a:r>
          </a:p>
          <a:p>
            <a:pPr marL="342900" indent="-342900">
              <a:buAutoNum type="alphaUcPeriod"/>
            </a:pPr>
            <a:r>
              <a:rPr lang="en-US"/>
              <a:t>I don't know.</a:t>
            </a:r>
          </a:p>
        </p:txBody>
      </p:sp>
    </p:spTree>
    <p:extLst>
      <p:ext uri="{BB962C8B-B14F-4D97-AF65-F5344CB8AC3E}">
        <p14:creationId xmlns:p14="http://schemas.microsoft.com/office/powerpoint/2010/main" val="2672855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Union			</a:t>
            </a:r>
            <a:r>
              <a:rPr lang="en-US" sz="2200"/>
              <a:t>Sipser Theorem 1.25 p. 45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Theorem:</a:t>
            </a:r>
            <a:r>
              <a:rPr lang="en-US"/>
              <a:t> The class of regular languages </a:t>
            </a:r>
            <a:r>
              <a:rPr lang="en-US">
                <a:solidFill>
                  <a:schemeClr val="accent5"/>
                </a:solidFill>
              </a:rPr>
              <a:t>over fixed alphabet Σ</a:t>
            </a:r>
            <a:r>
              <a:rPr lang="en-US"/>
              <a:t> is closed under the union operation.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/>
              <a:t>Proof: Let A1, A2 be any two regular languages over Σ.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Given M1 = (Q1,Σ,δ1,q1,F1) such that L(M1) = A1 and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M2 = (Q2,Σ,δ2,q2,F2) such that L(M2) = A2 and</a:t>
            </a:r>
          </a:p>
          <a:p>
            <a:pPr marL="0" indent="0">
              <a:buNone/>
            </a:pPr>
            <a:r>
              <a:rPr lang="en-US" b="1"/>
              <a:t>WTS</a:t>
            </a:r>
            <a:r>
              <a:rPr lang="en-US"/>
              <a:t> that A1 U A2 is regular. 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Define M = (Q1xQ2,Σ,δ,?,?)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5184" y="2183488"/>
            <a:ext cx="4658816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When r is a state in M1, s is a state in M2, and x is in Σ, then δ( (r,s), x ) = </a:t>
            </a:r>
          </a:p>
          <a:p>
            <a:endParaRPr lang="en-US"/>
          </a:p>
          <a:p>
            <a:pPr marL="342900" indent="-342900">
              <a:buAutoNum type="alphaUcPeriod"/>
            </a:pPr>
            <a:r>
              <a:rPr lang="en-US"/>
              <a:t>(r,s)</a:t>
            </a:r>
          </a:p>
          <a:p>
            <a:pPr marL="342900" indent="-342900">
              <a:buAutoNum type="alphaUcPeriod"/>
            </a:pPr>
            <a:r>
              <a:rPr lang="en-US"/>
              <a:t>( δ(r,x), δ(s,x) )</a:t>
            </a:r>
          </a:p>
          <a:p>
            <a:pPr marL="342900" indent="-342900">
              <a:buAutoNum type="alphaUcPeriod"/>
            </a:pPr>
            <a:r>
              <a:rPr lang="en-US"/>
              <a:t>( δ1(r,x), s )</a:t>
            </a:r>
          </a:p>
          <a:p>
            <a:pPr marL="342900" indent="-342900">
              <a:buFontTx/>
              <a:buAutoNum type="alphaUcPeriod"/>
            </a:pPr>
            <a:r>
              <a:rPr lang="en-US"/>
              <a:t>( δ1(r,x), δ2(s,x) )</a:t>
            </a:r>
          </a:p>
          <a:p>
            <a:pPr marL="342900" indent="-342900">
              <a:buAutoNum type="alphaUcPeriod"/>
            </a:pPr>
            <a:r>
              <a:rPr lang="en-US"/>
              <a:t>I don't know.</a:t>
            </a:r>
          </a:p>
        </p:txBody>
      </p:sp>
    </p:spTree>
    <p:extLst>
      <p:ext uri="{BB962C8B-B14F-4D97-AF65-F5344CB8AC3E}">
        <p14:creationId xmlns:p14="http://schemas.microsoft.com/office/powerpoint/2010/main" val="28202865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Union			</a:t>
            </a:r>
            <a:r>
              <a:rPr lang="en-US" sz="2200"/>
              <a:t>Sipser Theorem 1.25 p. 45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Theorem:</a:t>
            </a:r>
            <a:r>
              <a:rPr lang="en-US"/>
              <a:t> The class of regular languages </a:t>
            </a:r>
            <a:r>
              <a:rPr lang="en-US">
                <a:solidFill>
                  <a:schemeClr val="accent5"/>
                </a:solidFill>
              </a:rPr>
              <a:t>over fixed alphabet Σ</a:t>
            </a:r>
            <a:r>
              <a:rPr lang="en-US"/>
              <a:t> is closed under the union operation.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/>
              <a:t>Proof: Let A1, A2 be any two regular languages over Σ.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Given M1 = (Q1,Σ,δ1,q1,F1) such that L(M1) = A1 and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M2 = (Q2,Σ,δ2,q2,F2) such that L(M2) = A2 and</a:t>
            </a:r>
          </a:p>
          <a:p>
            <a:pPr marL="0" indent="0">
              <a:buNone/>
            </a:pPr>
            <a:r>
              <a:rPr lang="en-US" b="1"/>
              <a:t>WTS</a:t>
            </a:r>
            <a:r>
              <a:rPr lang="en-US"/>
              <a:t> that A1 U A2 is regular. </a:t>
            </a:r>
          </a:p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Define M = (Q1xQ2,Σ,δ,?,?)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5184" y="2512797"/>
            <a:ext cx="4658816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The set of accepting states for M is</a:t>
            </a:r>
          </a:p>
          <a:p>
            <a:endParaRPr lang="en-US"/>
          </a:p>
          <a:p>
            <a:pPr marL="342900" indent="-342900">
              <a:buAutoNum type="alphaUcPeriod"/>
            </a:pPr>
            <a:r>
              <a:rPr lang="en-US"/>
              <a:t>F1 x F2</a:t>
            </a:r>
          </a:p>
          <a:p>
            <a:pPr marL="342900" indent="-342900">
              <a:buAutoNum type="alphaUcPeriod"/>
            </a:pPr>
            <a:r>
              <a:rPr lang="en-US"/>
              <a:t>{ (r,s) | r is in F1 and s is in F2 }</a:t>
            </a:r>
          </a:p>
          <a:p>
            <a:pPr marL="342900" indent="-342900">
              <a:buFontTx/>
              <a:buAutoNum type="alphaUcPeriod"/>
            </a:pPr>
            <a:r>
              <a:rPr lang="en-US"/>
              <a:t>{ (r,s) | r is in F1 or s is in F2 }</a:t>
            </a:r>
          </a:p>
          <a:p>
            <a:pPr marL="342900" indent="-342900">
              <a:buFontTx/>
              <a:buAutoNum type="alphaUcPeriod"/>
            </a:pPr>
            <a:r>
              <a:rPr lang="en-US"/>
              <a:t>F1 U F2</a:t>
            </a:r>
          </a:p>
          <a:p>
            <a:pPr marL="342900" indent="-342900">
              <a:buAutoNum type="alphaUcPeriod"/>
            </a:pPr>
            <a:r>
              <a:rPr lang="en-US"/>
              <a:t>I don't know.</a:t>
            </a:r>
          </a:p>
        </p:txBody>
      </p:sp>
    </p:spTree>
    <p:extLst>
      <p:ext uri="{BB962C8B-B14F-4D97-AF65-F5344CB8AC3E}">
        <p14:creationId xmlns:p14="http://schemas.microsoft.com/office/powerpoint/2010/main" val="1323483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Union			</a:t>
            </a:r>
            <a:r>
              <a:rPr lang="en-US" sz="2200"/>
              <a:t>Sipser Theorem 1.25 p. 45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/>
              <a:t>Proof</a:t>
            </a:r>
            <a:r>
              <a:rPr lang="en-US"/>
              <a:t>: Let A1, A2 be any two regular languages over Σ.</a:t>
            </a:r>
          </a:p>
          <a:p>
            <a:pPr marL="0" indent="0">
              <a:buNone/>
            </a:pPr>
            <a:r>
              <a:rPr lang="en-US"/>
              <a:t>Given M1 = (Q1,Σ,δ1,q1,F1) such that L(M1) = A1 and</a:t>
            </a:r>
          </a:p>
          <a:p>
            <a:pPr marL="0" indent="0">
              <a:buNone/>
            </a:pPr>
            <a:r>
              <a:rPr lang="en-US"/>
              <a:t>M2 = (Q2,Σ,δ2,q2,F2) such that L(M2) = A2.  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r>
              <a:rPr lang="en-US" b="1"/>
              <a:t>WTS</a:t>
            </a:r>
            <a:r>
              <a:rPr lang="en-US"/>
              <a:t> that A1 U A2 is regular. </a:t>
            </a:r>
            <a:r>
              <a:rPr lang="en-US">
                <a:solidFill>
                  <a:srgbClr val="292934"/>
                </a:solidFill>
              </a:rPr>
              <a:t>Define </a:t>
            </a: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M = (Q1xQ2,Σ,δ,(q1,q2),{(r,s) in Q1xQ2 | r in F1 or s in F2})</a:t>
            </a:r>
          </a:p>
          <a:p>
            <a:pPr marL="0" indent="0">
              <a:buNone/>
            </a:pPr>
            <a:r>
              <a:rPr lang="en-US">
                <a:solidFill>
                  <a:srgbClr val="292934"/>
                </a:solidFill>
              </a:rPr>
              <a:t>with </a:t>
            </a:r>
            <a:r>
              <a:rPr lang="en-US"/>
              <a:t>δ( (r,s), x ) = ( δ1(r,x), δ2(s,x) ) for each (r,s) in Q1xQ2 and x in Σ.</a:t>
            </a:r>
          </a:p>
          <a:p>
            <a:pPr marL="0" indent="0">
              <a:buNone/>
            </a:pPr>
            <a:r>
              <a:rPr lang="en-US" b="1">
                <a:solidFill>
                  <a:srgbClr val="FF0000"/>
                </a:solidFill>
              </a:rPr>
              <a:t>Why does </a:t>
            </a:r>
            <a:r>
              <a:rPr lang="en-US">
                <a:solidFill>
                  <a:srgbClr val="FF0000"/>
                </a:solidFill>
              </a:rPr>
              <a:t>L(M) = A1 U A2 ?</a:t>
            </a:r>
            <a:endParaRPr lang="en-US" b="1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>
              <a:solidFill>
                <a:srgbClr val="29293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7480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/>
              <a:t>How would you prove that the class of regular languages is closed under intersection?</a:t>
            </a:r>
          </a:p>
          <a:p>
            <a:r>
              <a:rPr lang="en-US" i="1"/>
              <a:t>Can you think of </a:t>
            </a:r>
            <a:r>
              <a:rPr lang="en-US" b="1" i="1"/>
              <a:t>more than one</a:t>
            </a:r>
            <a:r>
              <a:rPr lang="en-US" i="1"/>
              <a:t> proof strategy?</a:t>
            </a:r>
          </a:p>
          <a:p>
            <a:endParaRPr lang="en-US" i="1"/>
          </a:p>
          <a:p>
            <a:pPr marL="0" indent="0" algn="ctr">
              <a:buNone/>
            </a:pPr>
            <a:r>
              <a:rPr lang="en-US"/>
              <a:t>A   B = { x | x in A and x in B} </a:t>
            </a:r>
          </a:p>
        </p:txBody>
      </p:sp>
      <p:sp>
        <p:nvSpPr>
          <p:cNvPr id="4" name="TextBox 3"/>
          <p:cNvSpPr txBox="1"/>
          <p:nvPr/>
        </p:nvSpPr>
        <p:spPr>
          <a:xfrm flipV="1">
            <a:off x="2774946" y="2948103"/>
            <a:ext cx="351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644135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Payoff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{ w | w contains neither the substrings aba nor </a:t>
            </a:r>
            <a:r>
              <a:rPr lang="en-US" dirty="0" err="1"/>
              <a:t>baab</a:t>
            </a: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Is this a regular set?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1573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Payoff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{ w | w contains neither the substrings aba nor </a:t>
            </a:r>
            <a:r>
              <a:rPr lang="en-US" dirty="0" err="1"/>
              <a:t>baab</a:t>
            </a: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Is this a regular set?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= { w | w contains aba as a substring}</a:t>
            </a:r>
          </a:p>
          <a:p>
            <a:pPr marL="0" indent="0">
              <a:buNone/>
            </a:pPr>
            <a:r>
              <a:rPr lang="en-US" dirty="0"/>
              <a:t>B = { w | w contains </a:t>
            </a:r>
            <a:r>
              <a:rPr lang="en-US" dirty="0" err="1"/>
              <a:t>baab</a:t>
            </a:r>
            <a:r>
              <a:rPr lang="en-US" dirty="0"/>
              <a:t> as a substring}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77" y="4171137"/>
            <a:ext cx="20320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039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proof structure/strategy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4128D2"/>
                </a:solidFill>
              </a:rPr>
              <a:t>Theorem:</a:t>
            </a:r>
            <a:r>
              <a:rPr lang="en-US" b="1" dirty="0"/>
              <a:t> For any L over Σ, if L is regular then </a:t>
            </a:r>
            <a:r>
              <a:rPr lang="en-US" dirty="0"/>
              <a:t>[ the result of some operation on L ] </a:t>
            </a:r>
            <a:r>
              <a:rPr lang="en-US" b="1" dirty="0"/>
              <a:t>is also regular.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Proof: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Given </a:t>
            </a:r>
            <a:r>
              <a:rPr lang="en-US" dirty="0"/>
              <a:t>name variables for sets, DFAs assumed to exist.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WTS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rgbClr val="292934"/>
                </a:solidFill>
              </a:rPr>
              <a:t>state goal and outline plan.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Construction </a:t>
            </a:r>
            <a:r>
              <a:rPr lang="en-US" dirty="0">
                <a:solidFill>
                  <a:srgbClr val="292934"/>
                </a:solidFill>
              </a:rPr>
              <a:t>using objects previously defined + new tools working towards goal.  Give formal definition and explain.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4128D2"/>
                </a:solidFill>
              </a:rPr>
              <a:t>Correctness</a:t>
            </a:r>
            <a:r>
              <a:rPr lang="en-US" b="1" dirty="0">
                <a:solidFill>
                  <a:srgbClr val="292934"/>
                </a:solidFill>
              </a:rPr>
              <a:t> </a:t>
            </a:r>
            <a:r>
              <a:rPr lang="en-US" dirty="0">
                <a:solidFill>
                  <a:srgbClr val="292934"/>
                </a:solidFill>
              </a:rPr>
              <a:t>prove that construction works.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Conclusion</a:t>
            </a:r>
            <a:r>
              <a:rPr lang="en-US" dirty="0">
                <a:solidFill>
                  <a:srgbClr val="292934"/>
                </a:solidFill>
              </a:rPr>
              <a:t> recap what you've proved.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906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regular operations	</a:t>
            </a:r>
            <a:r>
              <a:rPr lang="en-US" sz="2000"/>
              <a:t>Sipser Def 1.23 p.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For A, B languages over same alphabet, define:</a:t>
            </a:r>
          </a:p>
          <a:p>
            <a:pPr marL="0" indent="0">
              <a:buNone/>
            </a:pPr>
            <a:r>
              <a:rPr lang="en-US">
                <a:latin typeface="Zapf Dingbats"/>
                <a:ea typeface="Zapf Dingbats"/>
                <a:cs typeface="Zapf Dingbats"/>
              </a:rPr>
              <a:t>							✔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		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9" name="Cloud Callout 8"/>
          <p:cNvSpPr/>
          <p:nvPr/>
        </p:nvSpPr>
        <p:spPr>
          <a:xfrm>
            <a:off x="2240254" y="3638085"/>
            <a:ext cx="6866819" cy="1332919"/>
          </a:xfrm>
          <a:prstGeom prst="cloudCallout">
            <a:avLst>
              <a:gd name="adj1" fmla="val -33847"/>
              <a:gd name="adj2" fmla="val -83382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How can we prove that the concatenation of two regular languages is a regular language?</a:t>
            </a:r>
          </a:p>
        </p:txBody>
      </p:sp>
      <p:pic>
        <p:nvPicPr>
          <p:cNvPr id="12" name="Picture 11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54" y="1738700"/>
            <a:ext cx="3797300" cy="317500"/>
          </a:xfrm>
          <a:prstGeom prst="rect">
            <a:avLst/>
          </a:prstGeom>
        </p:spPr>
      </p:pic>
      <p:pic>
        <p:nvPicPr>
          <p:cNvPr id="13" name="Picture 12" descr="latex-image-1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54" y="2244377"/>
            <a:ext cx="4305300" cy="317500"/>
          </a:xfrm>
          <a:prstGeom prst="rect">
            <a:avLst/>
          </a:prstGeom>
        </p:spPr>
      </p:pic>
      <p:pic>
        <p:nvPicPr>
          <p:cNvPr id="14" name="Picture 13" descr="latex-image-1.png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840" y="2679583"/>
            <a:ext cx="5511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9319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UC">
      <a:dk1>
        <a:srgbClr val="292934"/>
      </a:dk1>
      <a:lt1>
        <a:srgbClr val="FFFFFF"/>
      </a:lt1>
      <a:dk2>
        <a:srgbClr val="4128D2"/>
      </a:dk2>
      <a:lt2>
        <a:srgbClr val="F3F2DC"/>
      </a:lt2>
      <a:accent1>
        <a:srgbClr val="F2AF0D"/>
      </a:accent1>
      <a:accent2>
        <a:srgbClr val="F6BC05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4978</TotalTime>
  <Words>1909</Words>
  <Application>Microsoft Office PowerPoint</Application>
  <PresentationFormat>On-screen Show (16:9)</PresentationFormat>
  <Paragraphs>227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Cambria Math</vt:lpstr>
      <vt:lpstr>Zapf Dingbats</vt:lpstr>
      <vt:lpstr>Clarity</vt:lpstr>
      <vt:lpstr>CSE 331  Automata  and computability</vt:lpstr>
      <vt:lpstr>Today's learning goals Sipser Ch 1.1, 1.2</vt:lpstr>
      <vt:lpstr>Building DFA</vt:lpstr>
      <vt:lpstr>A useful (optional) bit of terminology</vt:lpstr>
      <vt:lpstr>Regular languages  Sipser p. 35 Def 1.5</vt:lpstr>
      <vt:lpstr>Regular languages: bounds?</vt:lpstr>
      <vt:lpstr>Building DFA</vt:lpstr>
      <vt:lpstr>Building DFA</vt:lpstr>
      <vt:lpstr>Complementation</vt:lpstr>
      <vt:lpstr>Closure of … under …</vt:lpstr>
      <vt:lpstr>Complementation</vt:lpstr>
      <vt:lpstr>Complementation</vt:lpstr>
      <vt:lpstr>PowerPoint Presentation</vt:lpstr>
      <vt:lpstr>Why closure proofs?</vt:lpstr>
      <vt:lpstr>The regular operations Sipser Def 1.23 p. 44</vt:lpstr>
      <vt:lpstr>Union   Sipser Theorem 1.25 p. 45 </vt:lpstr>
      <vt:lpstr>Union   Sipser Theorem 1.25 p. 45 </vt:lpstr>
      <vt:lpstr>Union   Sipser Theorem 1.25 p. 45 </vt:lpstr>
      <vt:lpstr>Union   Sipser Theorem 1.25 p. 45 </vt:lpstr>
      <vt:lpstr>Union   Sipser Theorem 1.25 p. 45 </vt:lpstr>
      <vt:lpstr>Union   Sipser Theorem 1.25 p. 45 </vt:lpstr>
      <vt:lpstr>Union   Sipser Theorem 1.25 p. 45 </vt:lpstr>
      <vt:lpstr>Union   Sipser Theorem 1.25 p. 45 </vt:lpstr>
      <vt:lpstr>Union   Sipser Theorem 1.25 p. 45 </vt:lpstr>
      <vt:lpstr>Intersection</vt:lpstr>
      <vt:lpstr>Payoff</vt:lpstr>
      <vt:lpstr>Payoff</vt:lpstr>
      <vt:lpstr>General proof structure/strategy</vt:lpstr>
      <vt:lpstr>The regular operations Sipser Def 1.23 p. 44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  Discrete math</dc:title>
  <dc:creator>Mia Minnes Kemp</dc:creator>
  <cp:lastModifiedBy>Zayed Humayun</cp:lastModifiedBy>
  <cp:revision>520</cp:revision>
  <dcterms:created xsi:type="dcterms:W3CDTF">2014-10-03T04:30:04Z</dcterms:created>
  <dcterms:modified xsi:type="dcterms:W3CDTF">2026-06-28T14:00:31Z</dcterms:modified>
</cp:coreProperties>
</file>