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68" r:id="rId1"/>
  </p:sldMasterIdLst>
  <p:sldIdLst>
    <p:sldId id="256" r:id="rId2"/>
    <p:sldId id="376" r:id="rId3"/>
    <p:sldId id="421" r:id="rId4"/>
    <p:sldId id="409" r:id="rId5"/>
    <p:sldId id="432" r:id="rId6"/>
    <p:sldId id="422" r:id="rId7"/>
    <p:sldId id="423" r:id="rId8"/>
    <p:sldId id="424" r:id="rId9"/>
    <p:sldId id="425" r:id="rId10"/>
    <p:sldId id="433" r:id="rId11"/>
    <p:sldId id="434" r:id="rId12"/>
    <p:sldId id="449" r:id="rId13"/>
    <p:sldId id="435" r:id="rId14"/>
    <p:sldId id="436" r:id="rId15"/>
    <p:sldId id="437" r:id="rId16"/>
    <p:sldId id="427" r:id="rId17"/>
    <p:sldId id="428" r:id="rId18"/>
    <p:sldId id="447" r:id="rId19"/>
    <p:sldId id="438" r:id="rId20"/>
    <p:sldId id="439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E5F"/>
    <a:srgbClr val="FEA90F"/>
    <a:srgbClr val="F2AF0D"/>
    <a:srgbClr val="EE9E0E"/>
    <a:srgbClr val="F0AE0D"/>
    <a:srgbClr val="F8CD6A"/>
    <a:srgbClr val="E1922D"/>
    <a:srgbClr val="EE9A08"/>
    <a:srgbClr val="E89B25"/>
    <a:srgbClr val="99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5655FA-2D30-4065-BB83-04827EC008FF}" v="8" dt="2025-10-14T01:48:12.20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0625" autoAdjust="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char Lovett" userId="0c6d1e87c56e93c6" providerId="LiveId" clId="{04C0EC21-F97B-4430-813D-88311B45044A}"/>
    <pc:docChg chg="modSld">
      <pc:chgData name="Shachar Lovett" userId="0c6d1e87c56e93c6" providerId="LiveId" clId="{04C0EC21-F97B-4430-813D-88311B45044A}" dt="2019-04-01T12:19:02.487" v="0"/>
      <pc:docMkLst>
        <pc:docMk/>
      </pc:docMkLst>
      <pc:sldChg chg="modSp">
        <pc:chgData name="Shachar Lovett" userId="0c6d1e87c56e93c6" providerId="LiveId" clId="{04C0EC21-F97B-4430-813D-88311B45044A}" dt="2019-04-01T12:19:02.487" v="0"/>
        <pc:sldMkLst>
          <pc:docMk/>
          <pc:sldMk cId="1882651833" sldId="256"/>
        </pc:sldMkLst>
      </pc:sldChg>
    </pc:docChg>
  </pc:docChgLst>
  <pc:docChgLst>
    <pc:chgData name="Shachar Lovett" userId="0c6d1e87c56e93c6" providerId="LiveId" clId="{7C3B27BF-D2FF-4001-88B9-CE8386236943}"/>
    <pc:docChg chg="modSld">
      <pc:chgData name="Shachar Lovett" userId="0c6d1e87c56e93c6" providerId="LiveId" clId="{7C3B27BF-D2FF-4001-88B9-CE8386236943}" dt="2025-03-06T01:22:09.941" v="0"/>
      <pc:docMkLst>
        <pc:docMk/>
      </pc:docMkLst>
      <pc:sldChg chg="modSp mod">
        <pc:chgData name="Shachar Lovett" userId="0c6d1e87c56e93c6" providerId="LiveId" clId="{7C3B27BF-D2FF-4001-88B9-CE8386236943}" dt="2025-03-06T01:22:09.941" v="0"/>
        <pc:sldMkLst>
          <pc:docMk/>
          <pc:sldMk cId="1882651833" sldId="256"/>
        </pc:sldMkLst>
      </pc:sldChg>
    </pc:docChg>
  </pc:docChgLst>
  <pc:docChgLst>
    <pc:chgData name="Shachar Lovett" userId="0c6d1e87c56e93c6" providerId="LiveId" clId="{41064877-C806-4AB4-9CDD-1F501398BFFD}"/>
    <pc:docChg chg="undo custSel addSld modSld">
      <pc:chgData name="Shachar Lovett" userId="0c6d1e87c56e93c6" providerId="LiveId" clId="{41064877-C806-4AB4-9CDD-1F501398BFFD}" dt="2025-10-14T01:48:27.349" v="42" actId="6549"/>
      <pc:docMkLst>
        <pc:docMk/>
      </pc:docMkLst>
      <pc:sldChg chg="modSp mod">
        <pc:chgData name="Shachar Lovett" userId="0c6d1e87c56e93c6" providerId="LiveId" clId="{41064877-C806-4AB4-9CDD-1F501398BFFD}" dt="2025-10-13T23:55:49.470" v="0" actId="20577"/>
        <pc:sldMkLst>
          <pc:docMk/>
          <pc:sldMk cId="2063963681" sldId="376"/>
        </pc:sldMkLst>
        <pc:spChg chg="mod">
          <ac:chgData name="Shachar Lovett" userId="0c6d1e87c56e93c6" providerId="LiveId" clId="{41064877-C806-4AB4-9CDD-1F501398BFFD}" dt="2025-10-13T23:55:49.470" v="0" actId="20577"/>
          <ac:spMkLst>
            <pc:docMk/>
            <pc:sldMk cId="2063963681" sldId="376"/>
            <ac:spMk id="3" creationId="{00000000-0000-0000-0000-000000000000}"/>
          </ac:spMkLst>
        </pc:spChg>
      </pc:sldChg>
      <pc:sldChg chg="modSp mod">
        <pc:chgData name="Shachar Lovett" userId="0c6d1e87c56e93c6" providerId="LiveId" clId="{41064877-C806-4AB4-9CDD-1F501398BFFD}" dt="2025-10-14T01:47:44.552" v="40" actId="20577"/>
        <pc:sldMkLst>
          <pc:docMk/>
          <pc:sldMk cId="456587728" sldId="427"/>
        </pc:sldMkLst>
        <pc:spChg chg="mod">
          <ac:chgData name="Shachar Lovett" userId="0c6d1e87c56e93c6" providerId="LiveId" clId="{41064877-C806-4AB4-9CDD-1F501398BFFD}" dt="2025-10-14T01:47:44.552" v="40" actId="20577"/>
          <ac:spMkLst>
            <pc:docMk/>
            <pc:sldMk cId="456587728" sldId="427"/>
            <ac:spMk id="3" creationId="{00000000-0000-0000-0000-000000000000}"/>
          </ac:spMkLst>
        </pc:spChg>
      </pc:sldChg>
      <pc:sldChg chg="modSp mod">
        <pc:chgData name="Shachar Lovett" userId="0c6d1e87c56e93c6" providerId="LiveId" clId="{41064877-C806-4AB4-9CDD-1F501398BFFD}" dt="2025-10-14T01:47:04.124" v="32" actId="20577"/>
        <pc:sldMkLst>
          <pc:docMk/>
          <pc:sldMk cId="526586208" sldId="434"/>
        </pc:sldMkLst>
        <pc:spChg chg="mod">
          <ac:chgData name="Shachar Lovett" userId="0c6d1e87c56e93c6" providerId="LiveId" clId="{41064877-C806-4AB4-9CDD-1F501398BFFD}" dt="2025-10-14T01:47:04.124" v="32" actId="20577"/>
          <ac:spMkLst>
            <pc:docMk/>
            <pc:sldMk cId="526586208" sldId="434"/>
            <ac:spMk id="3" creationId="{00000000-0000-0000-0000-000000000000}"/>
          </ac:spMkLst>
        </pc:spChg>
      </pc:sldChg>
      <pc:sldChg chg="modSp mod">
        <pc:chgData name="Shachar Lovett" userId="0c6d1e87c56e93c6" providerId="LiveId" clId="{41064877-C806-4AB4-9CDD-1F501398BFFD}" dt="2025-10-14T01:47:22.501" v="36" actId="20577"/>
        <pc:sldMkLst>
          <pc:docMk/>
          <pc:sldMk cId="1647884008" sldId="435"/>
        </pc:sldMkLst>
        <pc:spChg chg="mod">
          <ac:chgData name="Shachar Lovett" userId="0c6d1e87c56e93c6" providerId="LiveId" clId="{41064877-C806-4AB4-9CDD-1F501398BFFD}" dt="2025-10-14T01:47:22.501" v="36" actId="20577"/>
          <ac:spMkLst>
            <pc:docMk/>
            <pc:sldMk cId="1647884008" sldId="435"/>
            <ac:spMk id="3" creationId="{00000000-0000-0000-0000-000000000000}"/>
          </ac:spMkLst>
        </pc:spChg>
      </pc:sldChg>
      <pc:sldChg chg="modSp mod">
        <pc:chgData name="Shachar Lovett" userId="0c6d1e87c56e93c6" providerId="LiveId" clId="{41064877-C806-4AB4-9CDD-1F501398BFFD}" dt="2025-10-14T01:47:32.211" v="38" actId="20577"/>
        <pc:sldMkLst>
          <pc:docMk/>
          <pc:sldMk cId="282870788" sldId="437"/>
        </pc:sldMkLst>
        <pc:spChg chg="mod">
          <ac:chgData name="Shachar Lovett" userId="0c6d1e87c56e93c6" providerId="LiveId" clId="{41064877-C806-4AB4-9CDD-1F501398BFFD}" dt="2025-10-14T01:47:32.211" v="38" actId="20577"/>
          <ac:spMkLst>
            <pc:docMk/>
            <pc:sldMk cId="282870788" sldId="437"/>
            <ac:spMk id="3" creationId="{00000000-0000-0000-0000-000000000000}"/>
          </ac:spMkLst>
        </pc:spChg>
      </pc:sldChg>
      <pc:sldChg chg="modSp add mod">
        <pc:chgData name="Shachar Lovett" userId="0c6d1e87c56e93c6" providerId="LiveId" clId="{41064877-C806-4AB4-9CDD-1F501398BFFD}" dt="2025-10-14T01:48:27.349" v="42" actId="6549"/>
        <pc:sldMkLst>
          <pc:docMk/>
          <pc:sldMk cId="328552600" sldId="449"/>
        </pc:sldMkLst>
        <pc:spChg chg="mod">
          <ac:chgData name="Shachar Lovett" userId="0c6d1e87c56e93c6" providerId="LiveId" clId="{41064877-C806-4AB4-9CDD-1F501398BFFD}" dt="2025-10-14T01:48:27.349" v="42" actId="6549"/>
          <ac:spMkLst>
            <pc:docMk/>
            <pc:sldMk cId="328552600" sldId="449"/>
            <ac:spMk id="3" creationId="{17661ABE-414D-43AB-EDBB-7E689E545131}"/>
          </ac:spMkLst>
        </pc:spChg>
      </pc:sldChg>
    </pc:docChg>
  </pc:docChgLst>
  <pc:docChgLst>
    <pc:chgData name="Shachar Lovett" userId="0c6d1e87c56e93c6" providerId="LiveId" clId="{EC9FAEEF-FD1B-4255-B5DD-5958272A0A33}"/>
    <pc:docChg chg="modSld">
      <pc:chgData name="Shachar Lovett" userId="0c6d1e87c56e93c6" providerId="LiveId" clId="{EC9FAEEF-FD1B-4255-B5DD-5958272A0A33}" dt="2019-09-06T15:16:16.566" v="0"/>
      <pc:docMkLst>
        <pc:docMk/>
      </pc:docMkLst>
      <pc:sldChg chg="modSp">
        <pc:chgData name="Shachar Lovett" userId="0c6d1e87c56e93c6" providerId="LiveId" clId="{EC9FAEEF-FD1B-4255-B5DD-5958272A0A33}" dt="2019-09-06T15:16:16.566" v="0"/>
        <pc:sldMkLst>
          <pc:docMk/>
          <pc:sldMk cId="1882651833" sldId="256"/>
        </pc:sldMkLst>
      </pc:sldChg>
    </pc:docChg>
  </pc:docChgLst>
  <pc:docChgLst>
    <pc:chgData name="Shachar Lovett" userId="0c6d1e87c56e93c6" providerId="LiveId" clId="{D115BFFD-887E-493A-9C55-8316AABAD0E9}"/>
    <pc:docChg chg="custSel modSld">
      <pc:chgData name="Shachar Lovett" userId="0c6d1e87c56e93c6" providerId="LiveId" clId="{D115BFFD-887E-493A-9C55-8316AABAD0E9}" dt="2025-09-11T04:27:01.582" v="49" actId="20577"/>
      <pc:docMkLst>
        <pc:docMk/>
      </pc:docMkLst>
      <pc:sldChg chg="modSp mod">
        <pc:chgData name="Shachar Lovett" userId="0c6d1e87c56e93c6" providerId="LiveId" clId="{D115BFFD-887E-493A-9C55-8316AABAD0E9}" dt="2025-09-11T04:27:01.582" v="49" actId="20577"/>
        <pc:sldMkLst>
          <pc:docMk/>
          <pc:sldMk cId="1882651833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Saturday, July 4,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1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A98F-560C-4997-81C4-81D4D9187EAB}" type="datetime2">
              <a:rPr lang="en-US" smtClean="0"/>
              <a:t>Saturday, July 4,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972B2-CA5C-437D-87D0-8081271A9E4B}" type="datetime2">
              <a:rPr lang="en-US" smtClean="0"/>
              <a:t>Saturday, July 4,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Saturday, July 4,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8457A-3AB9-4880-8A0C-9F8524491207}" type="datetime2">
              <a:rPr lang="en-US" smtClean="0"/>
              <a:t>Saturday, July 4,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976D3-5B7F-4300-ABED-C91F1B2AE209}" type="datetime2">
              <a:rPr lang="en-US" smtClean="0"/>
              <a:t>Saturday, July 4,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CA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DC1E59-17DD-41CE-97CA-624A472382D4}" type="datetime2">
              <a:rPr lang="en-US" smtClean="0"/>
              <a:t>Saturday, July 4,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Saturday, July 4,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Saturday, July 4,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CA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  <a:p>
            <a:pPr lvl="4"/>
            <a:r>
              <a:rPr lang="en-CA" dirty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A80CB818-7379-467D-8E76-EF9D9074A26C}" type="datetime2">
              <a:rPr lang="en-US" smtClean="0"/>
              <a:t>Saturday, July 4,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0CFEC368-1D7A-4F81-ABF6-AE0E36BAF64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69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  <p:sldLayoutId id="2147484177" r:id="rId9"/>
    <p:sldLayoutId id="2147484178" r:id="rId10"/>
    <p:sldLayoutId id="2147484179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8013700" cy="1445419"/>
          </a:xfrm>
        </p:spPr>
        <p:txBody>
          <a:bodyPr>
            <a:normAutofit fontScale="90000"/>
          </a:bodyPr>
          <a:lstStyle/>
          <a:p>
            <a:r>
              <a:rPr lang="en-US" dirty="0"/>
              <a:t>CSE 331 </a:t>
            </a:r>
            <a:br>
              <a:rPr lang="en-US" dirty="0"/>
            </a:br>
            <a:r>
              <a:rPr lang="en-US" sz="4400" dirty="0"/>
              <a:t>Automata and computability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2" y="2628901"/>
            <a:ext cx="7521575" cy="223415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Equivalence of DFAs and NFAs</a:t>
            </a:r>
            <a:endParaRPr lang="en-US" dirty="0"/>
          </a:p>
          <a:p>
            <a:endParaRPr lang="en-US" dirty="0"/>
          </a:p>
          <a:p>
            <a:r>
              <a:rPr lang="en-US" dirty="0"/>
              <a:t>Summer 2026</a:t>
            </a:r>
          </a:p>
        </p:txBody>
      </p:sp>
    </p:spTree>
    <p:extLst>
      <p:ext uri="{BB962C8B-B14F-4D97-AF65-F5344CB8AC3E}">
        <p14:creationId xmlns:p14="http://schemas.microsoft.com/office/powerpoint/2010/main" val="188265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Today's learning goals	</a:t>
            </a:r>
            <a:r>
              <a:rPr lang="en-US" sz="2400"/>
              <a:t>Sipser Ch 1.2, 1.3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NFA recognizing a given language</a:t>
            </a:r>
          </a:p>
          <a:p>
            <a:r>
              <a:rPr lang="en-US" dirty="0"/>
              <a:t>Convert an NFA (with or without spontaneous moves) to a DFA recognizing the same language</a:t>
            </a:r>
          </a:p>
          <a:p>
            <a:r>
              <a:rPr lang="en-US" dirty="0"/>
              <a:t>Decide whether or not a string is described by a given regular expression</a:t>
            </a:r>
          </a:p>
          <a:p>
            <a:r>
              <a:rPr lang="en-US" dirty="0"/>
              <a:t>Design a regular expression to describe a given language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963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Nondeterministic finite automata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"Guess" some stage of input at which switch modes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"Guess" one of finite list of criteria to meet</a:t>
            </a:r>
          </a:p>
        </p:txBody>
      </p:sp>
      <p:sp>
        <p:nvSpPr>
          <p:cNvPr id="4" name="Cloud 3"/>
          <p:cNvSpPr/>
          <p:nvPr/>
        </p:nvSpPr>
        <p:spPr>
          <a:xfrm>
            <a:off x="3511799" y="3702482"/>
            <a:ext cx="1708865" cy="39554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M1</a:t>
            </a:r>
          </a:p>
        </p:txBody>
      </p:sp>
      <p:sp>
        <p:nvSpPr>
          <p:cNvPr id="5" name="Cloud 4"/>
          <p:cNvSpPr/>
          <p:nvPr/>
        </p:nvSpPr>
        <p:spPr>
          <a:xfrm>
            <a:off x="3511799" y="4212205"/>
            <a:ext cx="1708865" cy="645545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M2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138" y="3449908"/>
            <a:ext cx="2916046" cy="16935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5529836" y="4223472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93057" y="3815023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Input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1093057" y="4223472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36941" y="3538024"/>
            <a:ext cx="2749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Accept if </a:t>
            </a:r>
          </a:p>
          <a:p>
            <a:r>
              <a:rPr lang="en-US" b="1"/>
              <a:t>either (or both) accepts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2571138" y="3919608"/>
            <a:ext cx="940661" cy="3143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2571138" y="4243569"/>
            <a:ext cx="940661" cy="3143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loud 15"/>
          <p:cNvSpPr/>
          <p:nvPr/>
        </p:nvSpPr>
        <p:spPr>
          <a:xfrm>
            <a:off x="1841980" y="1988795"/>
            <a:ext cx="1708865" cy="395546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M1</a:t>
            </a:r>
          </a:p>
        </p:txBody>
      </p:sp>
      <p:sp>
        <p:nvSpPr>
          <p:cNvPr id="17" name="Cloud 16"/>
          <p:cNvSpPr/>
          <p:nvPr/>
        </p:nvSpPr>
        <p:spPr>
          <a:xfrm>
            <a:off x="4366231" y="1855581"/>
            <a:ext cx="1708865" cy="645545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2"/>
                </a:solidFill>
              </a:rPr>
              <a:t>M2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3323666" y="1988795"/>
            <a:ext cx="1042565" cy="19795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3104178" y="2186754"/>
            <a:ext cx="1262053" cy="1975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841979" y="1654331"/>
            <a:ext cx="4432399" cy="118400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6274379" y="2186754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3899" y="1782603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Input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>
            <a:off x="356206" y="2186754"/>
            <a:ext cx="1473701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110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Acceptance in an NFA</a:t>
            </a:r>
          </a:p>
        </p:txBody>
      </p:sp>
      <p:pic>
        <p:nvPicPr>
          <p:cNvPr id="7" name="Picture 6" descr="latex-image-1.pn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19199"/>
            <a:ext cx="7848600" cy="185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589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NFA</a:t>
            </a:r>
          </a:p>
        </p:txBody>
      </p:sp>
      <p:pic>
        <p:nvPicPr>
          <p:cNvPr id="4" name="Content Placeholder 3" descr="NFAeps.png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60" t="8815" r="31763" b="8815"/>
          <a:stretch/>
        </p:blipFill>
        <p:spPr>
          <a:xfrm>
            <a:off x="4926405" y="1143000"/>
            <a:ext cx="3207297" cy="2551085"/>
          </a:xfrm>
        </p:spPr>
      </p:pic>
      <p:pic>
        <p:nvPicPr>
          <p:cNvPr id="5" name="Picture 4" descr="NFAex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7" r="53247"/>
          <a:stretch/>
        </p:blipFill>
        <p:spPr>
          <a:xfrm>
            <a:off x="607211" y="1143000"/>
            <a:ext cx="3301314" cy="367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3921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Simulating NFA with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Not quite a closure proof, but …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>
                <a:solidFill>
                  <a:schemeClr val="accent1"/>
                </a:solidFill>
              </a:rPr>
              <a:t>Proof: </a:t>
            </a:r>
          </a:p>
          <a:p>
            <a:pPr marL="0" indent="0">
              <a:buNone/>
            </a:pPr>
            <a:r>
              <a:rPr lang="en-US" b="1">
                <a:solidFill>
                  <a:schemeClr val="tx2"/>
                </a:solidFill>
              </a:rPr>
              <a:t>Given </a:t>
            </a:r>
            <a:r>
              <a:rPr lang="en-US"/>
              <a:t>name variables for sets, machines assumed to exist.</a:t>
            </a:r>
          </a:p>
          <a:p>
            <a:pPr marL="0" indent="0">
              <a:buNone/>
            </a:pPr>
            <a:r>
              <a:rPr lang="en-US" b="1">
                <a:solidFill>
                  <a:schemeClr val="tx2"/>
                </a:solidFill>
              </a:rPr>
              <a:t>WTS</a:t>
            </a:r>
            <a:r>
              <a:rPr lang="en-US">
                <a:solidFill>
                  <a:schemeClr val="tx2"/>
                </a:solidFill>
              </a:rPr>
              <a:t> </a:t>
            </a:r>
            <a:r>
              <a:rPr lang="en-US">
                <a:solidFill>
                  <a:srgbClr val="292934"/>
                </a:solidFill>
              </a:rPr>
              <a:t>state goal and outline plan.</a:t>
            </a:r>
          </a:p>
          <a:p>
            <a:pPr marL="0" indent="0">
              <a:buNone/>
            </a:pPr>
            <a:r>
              <a:rPr lang="en-US" b="1">
                <a:solidFill>
                  <a:schemeClr val="tx2"/>
                </a:solidFill>
              </a:rPr>
              <a:t>Construction </a:t>
            </a:r>
            <a:r>
              <a:rPr lang="en-US">
                <a:solidFill>
                  <a:srgbClr val="292934"/>
                </a:solidFill>
              </a:rPr>
              <a:t>using objects previously defined + new tools working towards goal.  Give formal definition and explain.</a:t>
            </a:r>
          </a:p>
          <a:p>
            <a:pPr marL="0" indent="0">
              <a:buNone/>
            </a:pPr>
            <a:r>
              <a:rPr lang="en-US" b="1">
                <a:solidFill>
                  <a:srgbClr val="4128D2"/>
                </a:solidFill>
              </a:rPr>
              <a:t>Correctness</a:t>
            </a:r>
            <a:r>
              <a:rPr lang="en-US" b="1">
                <a:solidFill>
                  <a:srgbClr val="292934"/>
                </a:solidFill>
              </a:rPr>
              <a:t> </a:t>
            </a:r>
            <a:r>
              <a:rPr lang="en-US">
                <a:solidFill>
                  <a:srgbClr val="292934"/>
                </a:solidFill>
              </a:rPr>
              <a:t>prove that construction works.</a:t>
            </a:r>
          </a:p>
          <a:p>
            <a:pPr marL="0" indent="0">
              <a:buNone/>
            </a:pPr>
            <a:r>
              <a:rPr lang="en-US" b="1">
                <a:solidFill>
                  <a:schemeClr val="tx2"/>
                </a:solidFill>
              </a:rPr>
              <a:t>Conclusion</a:t>
            </a:r>
            <a:r>
              <a:rPr lang="en-US">
                <a:solidFill>
                  <a:srgbClr val="292934"/>
                </a:solidFill>
              </a:rPr>
              <a:t> recap what you've proved.</a:t>
            </a:r>
            <a:endParaRPr lang="en-US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60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Simulating NFA with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For any language recognized by an NFA, there is a DFA </a:t>
            </a:r>
          </a:p>
          <a:p>
            <a:pPr marL="0" indent="0">
              <a:buNone/>
            </a:pPr>
            <a:r>
              <a:rPr lang="en-US" b="1" dirty="0"/>
              <a:t>that recognizes this language.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Proof: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Given </a:t>
            </a:r>
            <a:r>
              <a:rPr lang="en-US" dirty="0"/>
              <a:t>A, a language recognized by NFA N = (Q,Σ,δ,q0,F)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WTS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rgbClr val="292934"/>
                </a:solidFill>
              </a:rPr>
              <a:t>there exists a DFA M with L(M) = A</a:t>
            </a: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Construction </a:t>
            </a:r>
            <a:endParaRPr lang="en-US" dirty="0">
              <a:solidFill>
                <a:srgbClr val="292934"/>
              </a:solidFill>
            </a:endParaRPr>
          </a:p>
          <a:p>
            <a:pPr marL="0" indent="0">
              <a:buNone/>
            </a:pPr>
            <a:endParaRPr lang="en-US" b="1" dirty="0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4128D2"/>
                </a:solidFill>
              </a:rPr>
              <a:t>Correctness</a:t>
            </a:r>
            <a:r>
              <a:rPr lang="en-US" b="1" dirty="0">
                <a:solidFill>
                  <a:srgbClr val="292934"/>
                </a:solidFill>
              </a:rPr>
              <a:t> </a:t>
            </a:r>
            <a:endParaRPr lang="en-US" dirty="0">
              <a:solidFill>
                <a:srgbClr val="292934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Conclusion</a:t>
            </a:r>
            <a:r>
              <a:rPr lang="en-US" dirty="0">
                <a:solidFill>
                  <a:srgbClr val="292934"/>
                </a:solidFill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904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465232" y="1144426"/>
            <a:ext cx="3503810" cy="3472468"/>
          </a:xfrm>
          <a:ln>
            <a:solidFill>
              <a:schemeClr val="tx2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Which of the following strings is accepted by this NFA?</a:t>
            </a:r>
          </a:p>
          <a:p>
            <a:pPr marL="457200" indent="-457200">
              <a:buAutoNum type="alphaUcPeriod"/>
            </a:pPr>
            <a:r>
              <a:rPr lang="en-US"/>
              <a:t>The empty string</a:t>
            </a:r>
          </a:p>
          <a:p>
            <a:pPr marL="457200" indent="-457200">
              <a:buAutoNum type="alphaUcPeriod"/>
            </a:pPr>
            <a:r>
              <a:rPr lang="en-US"/>
              <a:t>01</a:t>
            </a:r>
          </a:p>
          <a:p>
            <a:pPr marL="457200" indent="-457200">
              <a:buAutoNum type="alphaUcPeriod"/>
            </a:pPr>
            <a:r>
              <a:rPr lang="en-US"/>
              <a:t>111</a:t>
            </a:r>
          </a:p>
          <a:p>
            <a:pPr marL="457200" indent="-457200">
              <a:buAutoNum type="alphaUcPeriod"/>
            </a:pPr>
            <a:r>
              <a:rPr lang="en-US"/>
              <a:t>0</a:t>
            </a:r>
          </a:p>
          <a:p>
            <a:pPr marL="457200" indent="-457200">
              <a:buAutoNum type="alphaUcPeriod"/>
            </a:pPr>
            <a:r>
              <a:rPr lang="en-US"/>
              <a:t>More than one of the above.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NFA to DFA</a:t>
            </a:r>
          </a:p>
        </p:txBody>
      </p:sp>
      <p:pic>
        <p:nvPicPr>
          <p:cNvPr id="4" name="Picture 3" descr="NFAtoDFA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60" r="9749"/>
          <a:stretch/>
        </p:blipFill>
        <p:spPr>
          <a:xfrm>
            <a:off x="290421" y="1321148"/>
            <a:ext cx="5008032" cy="261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081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Subset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Given </a:t>
            </a:r>
            <a:r>
              <a:rPr lang="en-US" dirty="0"/>
              <a:t>A, a language recognized by NFA N = (Q,Σ,δ,q0,F)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WTS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rgbClr val="292934"/>
                </a:solidFill>
              </a:rPr>
              <a:t>there exists a DFA M with L(M) = A</a:t>
            </a: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Construction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rgbClr val="292934"/>
                </a:solidFill>
              </a:rPr>
              <a:t>Define M = (Q', Σ, δ',q0', F') with</a:t>
            </a:r>
          </a:p>
          <a:p>
            <a:r>
              <a:rPr lang="en-US" dirty="0">
                <a:solidFill>
                  <a:srgbClr val="292934"/>
                </a:solidFill>
              </a:rPr>
              <a:t>Q' = the power set of Q = { X | X is a subset of Q }</a:t>
            </a:r>
          </a:p>
          <a:p>
            <a:r>
              <a:rPr lang="en-US" dirty="0">
                <a:solidFill>
                  <a:srgbClr val="292934"/>
                </a:solidFill>
              </a:rPr>
              <a:t>q0' = { </a:t>
            </a:r>
            <a:r>
              <a:rPr lang="en-US" dirty="0">
                <a:solidFill>
                  <a:schemeClr val="accent5"/>
                </a:solidFill>
              </a:rPr>
              <a:t>states N can be in before first input symbol read </a:t>
            </a:r>
            <a:r>
              <a:rPr lang="en-US" dirty="0">
                <a:solidFill>
                  <a:srgbClr val="292934"/>
                </a:solidFill>
              </a:rPr>
              <a:t>}</a:t>
            </a:r>
          </a:p>
          <a:p>
            <a:r>
              <a:rPr lang="en-US" dirty="0">
                <a:solidFill>
                  <a:srgbClr val="292934"/>
                </a:solidFill>
              </a:rPr>
              <a:t>F' = {			}</a:t>
            </a:r>
          </a:p>
          <a:p>
            <a:r>
              <a:rPr lang="en-US" dirty="0">
                <a:solidFill>
                  <a:srgbClr val="292934"/>
                </a:solidFill>
              </a:rPr>
              <a:t>δ' (                ) =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178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465232" y="1144426"/>
            <a:ext cx="3503810" cy="3472468"/>
          </a:xfrm>
          <a:ln>
            <a:solidFill>
              <a:schemeClr val="tx2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Which states can this NFA be in before first input symbol is read?</a:t>
            </a:r>
          </a:p>
          <a:p>
            <a:pPr marL="457200" indent="-457200">
              <a:buAutoNum type="alphaUcPeriod"/>
            </a:pPr>
            <a:r>
              <a:rPr lang="en-US"/>
              <a:t>q0</a:t>
            </a:r>
          </a:p>
          <a:p>
            <a:pPr marL="457200" indent="-457200">
              <a:buAutoNum type="alphaUcPeriod"/>
            </a:pPr>
            <a:r>
              <a:rPr lang="en-US"/>
              <a:t>any state</a:t>
            </a:r>
          </a:p>
          <a:p>
            <a:pPr marL="457200" indent="-457200">
              <a:buAutoNum type="alphaUcPeriod"/>
            </a:pPr>
            <a:r>
              <a:rPr lang="en-US"/>
              <a:t>q0, q1</a:t>
            </a:r>
          </a:p>
          <a:p>
            <a:pPr marL="457200" indent="-457200">
              <a:buAutoNum type="alphaUcPeriod"/>
            </a:pPr>
            <a:r>
              <a:rPr lang="en-US"/>
              <a:t>q0, q4</a:t>
            </a:r>
          </a:p>
          <a:p>
            <a:pPr marL="457200" indent="-457200">
              <a:buAutoNum type="alphaUcPeriod"/>
            </a:pPr>
            <a:r>
              <a:rPr lang="en-US"/>
              <a:t>q0, q1, q4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NFA to DFA</a:t>
            </a:r>
          </a:p>
        </p:txBody>
      </p:sp>
      <p:pic>
        <p:nvPicPr>
          <p:cNvPr id="4" name="Picture 3" descr="NFAtoDFA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60" r="9749"/>
          <a:stretch/>
        </p:blipFill>
        <p:spPr>
          <a:xfrm>
            <a:off x="290421" y="1321148"/>
            <a:ext cx="5008032" cy="261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03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Subset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Given </a:t>
            </a:r>
            <a:r>
              <a:rPr lang="en-US" dirty="0"/>
              <a:t>A, a language recognized by NFA N = (Q,Σ,δ,q0,F)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WTS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rgbClr val="292934"/>
                </a:solidFill>
              </a:rPr>
              <a:t>there exists a DFA M with L(M) = A</a:t>
            </a: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Construction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rgbClr val="292934"/>
                </a:solidFill>
              </a:rPr>
              <a:t>Define M = (Q', Σ, δ',q0', F') with</a:t>
            </a:r>
          </a:p>
          <a:p>
            <a:r>
              <a:rPr lang="en-US" dirty="0">
                <a:solidFill>
                  <a:srgbClr val="292934"/>
                </a:solidFill>
              </a:rPr>
              <a:t>Q' = the power set of Q = { X | X is a subset of Q }</a:t>
            </a:r>
          </a:p>
          <a:p>
            <a:r>
              <a:rPr lang="en-US" dirty="0">
                <a:solidFill>
                  <a:srgbClr val="292934"/>
                </a:solidFill>
              </a:rPr>
              <a:t>q0' = { </a:t>
            </a:r>
            <a:r>
              <a:rPr lang="en-US" dirty="0"/>
              <a:t>q0 </a:t>
            </a:r>
            <a:r>
              <a:rPr lang="en-US" dirty="0">
                <a:solidFill>
                  <a:srgbClr val="292934"/>
                </a:solidFill>
              </a:rPr>
              <a:t>} U δ(q0, ε)</a:t>
            </a:r>
            <a:r>
              <a:rPr lang="en-US" dirty="0">
                <a:solidFill>
                  <a:schemeClr val="accent5"/>
                </a:solidFill>
              </a:rPr>
              <a:t> </a:t>
            </a:r>
            <a:r>
              <a:rPr lang="en-US" dirty="0">
                <a:solidFill>
                  <a:srgbClr val="292934"/>
                </a:solidFill>
              </a:rPr>
              <a:t>U … = δ*(q0, ε)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rgbClr val="292934"/>
                </a:solidFill>
              </a:rPr>
              <a:t>F' = { 		}</a:t>
            </a:r>
          </a:p>
          <a:p>
            <a:r>
              <a:rPr lang="en-US" dirty="0">
                <a:solidFill>
                  <a:srgbClr val="292934"/>
                </a:solidFill>
              </a:rPr>
              <a:t>δ' (                ) =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586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0FAE7-A268-C651-BE2E-F21F49BF3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6687-18FC-A2E0-2F2B-EBDCBE4A2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Subset construction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61ABE-414D-43AB-EDBB-7E689E545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Given </a:t>
            </a:r>
            <a:r>
              <a:rPr lang="en-US" dirty="0"/>
              <a:t>A, a language recognized by NFA N = (Q,Σ,δ,q0,F)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WTS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rgbClr val="292934"/>
                </a:solidFill>
              </a:rPr>
              <a:t>there exists a DFA M with L(M) = A</a:t>
            </a: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Construction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rgbClr val="292934"/>
                </a:solidFill>
              </a:rPr>
              <a:t>Define M = (Q', Σ, δ',q0', F') with</a:t>
            </a:r>
          </a:p>
          <a:p>
            <a:r>
              <a:rPr lang="en-US" dirty="0">
                <a:solidFill>
                  <a:srgbClr val="292934"/>
                </a:solidFill>
              </a:rPr>
              <a:t>Q' = the power set of Q = { X | X is a subset of Q }</a:t>
            </a:r>
          </a:p>
          <a:p>
            <a:r>
              <a:rPr lang="en-US" dirty="0">
                <a:solidFill>
                  <a:srgbClr val="292934"/>
                </a:solidFill>
              </a:rPr>
              <a:t>q0' </a:t>
            </a:r>
            <a:r>
              <a:rPr lang="en-US">
                <a:solidFill>
                  <a:srgbClr val="292934"/>
                </a:solidFill>
              </a:rPr>
              <a:t>= δ</a:t>
            </a:r>
            <a:r>
              <a:rPr lang="en-US" dirty="0">
                <a:solidFill>
                  <a:srgbClr val="292934"/>
                </a:solidFill>
              </a:rPr>
              <a:t>*(q0, ε)</a:t>
            </a:r>
            <a:endParaRPr lang="en-US" dirty="0">
              <a:solidFill>
                <a:schemeClr val="accent5"/>
              </a:solidFill>
            </a:endParaRPr>
          </a:p>
          <a:p>
            <a:r>
              <a:rPr lang="en-US" dirty="0">
                <a:solidFill>
                  <a:srgbClr val="292934"/>
                </a:solidFill>
              </a:rPr>
              <a:t>F' = { 		}</a:t>
            </a:r>
          </a:p>
          <a:p>
            <a:r>
              <a:rPr lang="en-US" dirty="0">
                <a:solidFill>
                  <a:srgbClr val="292934"/>
                </a:solidFill>
              </a:rPr>
              <a:t>δ' (                ) =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52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Subset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Given </a:t>
            </a:r>
            <a:r>
              <a:rPr lang="en-US" dirty="0"/>
              <a:t>A, a language recognized by NFA N = (Q,Σ,δ,q0,F)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WTS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rgbClr val="292934"/>
                </a:solidFill>
              </a:rPr>
              <a:t>there exists a DFA M with L(M) = A</a:t>
            </a: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Construction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rgbClr val="292934"/>
                </a:solidFill>
              </a:rPr>
              <a:t>Define M = (Q', Σ, δ',q0', F') with</a:t>
            </a:r>
          </a:p>
          <a:p>
            <a:r>
              <a:rPr lang="en-US" dirty="0">
                <a:solidFill>
                  <a:srgbClr val="292934"/>
                </a:solidFill>
              </a:rPr>
              <a:t>Q' = the power set of Q = { X | X is a subset of Q }</a:t>
            </a:r>
          </a:p>
          <a:p>
            <a:r>
              <a:rPr lang="en-US" dirty="0">
                <a:solidFill>
                  <a:srgbClr val="292934"/>
                </a:solidFill>
              </a:rPr>
              <a:t>q0' = δ*(q0, ε) </a:t>
            </a:r>
          </a:p>
          <a:p>
            <a:r>
              <a:rPr lang="en-US" dirty="0">
                <a:solidFill>
                  <a:srgbClr val="292934"/>
                </a:solidFill>
              </a:rPr>
              <a:t>F' = {  </a:t>
            </a:r>
            <a:r>
              <a:rPr lang="en-US" dirty="0">
                <a:solidFill>
                  <a:srgbClr val="808DA0"/>
                </a:solidFill>
              </a:rPr>
              <a:t>guarantee at least one computation is successful </a:t>
            </a:r>
            <a:r>
              <a:rPr lang="en-US" dirty="0">
                <a:solidFill>
                  <a:srgbClr val="292934"/>
                </a:solidFill>
              </a:rPr>
              <a:t> }</a:t>
            </a:r>
          </a:p>
          <a:p>
            <a:r>
              <a:rPr lang="en-US" dirty="0">
                <a:solidFill>
                  <a:srgbClr val="292934"/>
                </a:solidFill>
              </a:rPr>
              <a:t>δ' (                ) =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884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465232" y="1144426"/>
            <a:ext cx="3503810" cy="3472468"/>
          </a:xfrm>
          <a:ln>
            <a:solidFill>
              <a:schemeClr val="tx2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/>
              <a:t>What does it mean for a set of states X to guarantee at least one computation is successful?</a:t>
            </a:r>
          </a:p>
          <a:p>
            <a:pPr marL="457200" indent="-457200">
              <a:buAutoNum type="alphaUcPeriod"/>
            </a:pPr>
            <a:r>
              <a:rPr lang="en-US"/>
              <a:t>X is a subset of F</a:t>
            </a:r>
          </a:p>
          <a:p>
            <a:pPr marL="457200" indent="-457200">
              <a:buAutoNum type="alphaUcPeriod"/>
            </a:pPr>
            <a:r>
              <a:rPr lang="en-US"/>
              <a:t>X = F</a:t>
            </a:r>
          </a:p>
          <a:p>
            <a:pPr marL="457200" indent="-457200">
              <a:buAutoNum type="alphaUcPeriod"/>
            </a:pPr>
            <a:r>
              <a:rPr lang="en-US"/>
              <a:t>X    F is nonempty</a:t>
            </a:r>
          </a:p>
          <a:p>
            <a:pPr marL="457200" indent="-457200">
              <a:buAutoNum type="alphaUcPeriod"/>
            </a:pPr>
            <a:r>
              <a:rPr lang="en-US"/>
              <a:t>X is an element of F</a:t>
            </a:r>
          </a:p>
          <a:p>
            <a:pPr marL="457200" indent="-457200">
              <a:buAutoNum type="alphaUcPeriod"/>
            </a:pPr>
            <a:r>
              <a:rPr lang="en-US"/>
              <a:t>None of the above.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NFA to DFA</a:t>
            </a:r>
          </a:p>
        </p:txBody>
      </p:sp>
      <p:pic>
        <p:nvPicPr>
          <p:cNvPr id="4" name="Picture 3" descr="NFAtoDFA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60" r="9749"/>
          <a:stretch/>
        </p:blipFill>
        <p:spPr>
          <a:xfrm>
            <a:off x="290421" y="1321148"/>
            <a:ext cx="5008032" cy="26153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flipV="1">
            <a:off x="6177158" y="3481269"/>
            <a:ext cx="351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1025348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Subset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Given </a:t>
            </a:r>
            <a:r>
              <a:rPr lang="en-US" dirty="0"/>
              <a:t>A, a language recognized by NFA N = (Q,Σ,δ,q0,F)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WTS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rgbClr val="292934"/>
                </a:solidFill>
              </a:rPr>
              <a:t>there exists a DFA M with L(M) = A</a:t>
            </a: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Construction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rgbClr val="292934"/>
                </a:solidFill>
              </a:rPr>
              <a:t>Define M = (Q', Σ, δ',q0', F') with</a:t>
            </a:r>
          </a:p>
          <a:p>
            <a:r>
              <a:rPr lang="en-US" dirty="0">
                <a:solidFill>
                  <a:srgbClr val="292934"/>
                </a:solidFill>
              </a:rPr>
              <a:t>Q' = the power set of Q = { X | X is a subset of Q }</a:t>
            </a:r>
          </a:p>
          <a:p>
            <a:r>
              <a:rPr lang="en-US" dirty="0">
                <a:solidFill>
                  <a:srgbClr val="292934"/>
                </a:solidFill>
              </a:rPr>
              <a:t>q0' = δ*(q0, ε) </a:t>
            </a:r>
          </a:p>
          <a:p>
            <a:r>
              <a:rPr lang="en-US" dirty="0">
                <a:solidFill>
                  <a:srgbClr val="292934"/>
                </a:solidFill>
              </a:rPr>
              <a:t>F' = { X | X is a subset of Q and X   F is nonempty }</a:t>
            </a:r>
          </a:p>
          <a:p>
            <a:r>
              <a:rPr lang="en-US" dirty="0">
                <a:solidFill>
                  <a:srgbClr val="292934"/>
                </a:solidFill>
              </a:rPr>
              <a:t>δ' ( (X, x) ) = { 		 }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flipV="1">
            <a:off x="5189308" y="3481269"/>
            <a:ext cx="351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282870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Subset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Given </a:t>
            </a:r>
            <a:r>
              <a:rPr lang="en-US" dirty="0"/>
              <a:t>A, a language recognized by NFA N = (Q,Σ,δ,q0,F)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WTS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rgbClr val="292934"/>
                </a:solidFill>
              </a:rPr>
              <a:t>there exists a DFA M with L(M) = A</a:t>
            </a:r>
            <a:endParaRPr lang="en-US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2"/>
                </a:solidFill>
              </a:rPr>
              <a:t>Construction</a:t>
            </a:r>
            <a:r>
              <a:rPr lang="en-US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rgbClr val="292934"/>
                </a:solidFill>
              </a:rPr>
              <a:t>Define M = (Q', Σ, δ',q0', F') with</a:t>
            </a:r>
          </a:p>
          <a:p>
            <a:r>
              <a:rPr lang="en-US" dirty="0">
                <a:solidFill>
                  <a:srgbClr val="292934"/>
                </a:solidFill>
              </a:rPr>
              <a:t>Q' = the power set of Q = { X | X is a subset of Q }</a:t>
            </a:r>
          </a:p>
          <a:p>
            <a:r>
              <a:rPr lang="en-US" dirty="0">
                <a:solidFill>
                  <a:srgbClr val="292934"/>
                </a:solidFill>
              </a:rPr>
              <a:t>q0' = δ*(q0, ε) </a:t>
            </a:r>
          </a:p>
          <a:p>
            <a:r>
              <a:rPr lang="en-US" dirty="0">
                <a:solidFill>
                  <a:srgbClr val="292934"/>
                </a:solidFill>
              </a:rPr>
              <a:t>F' = { X | X is a subset of Q and X   F is nonempty }</a:t>
            </a:r>
          </a:p>
          <a:p>
            <a:r>
              <a:rPr lang="en-US" dirty="0">
                <a:solidFill>
                  <a:srgbClr val="292934"/>
                </a:solidFill>
              </a:rPr>
              <a:t>δ' ( (X, x) ) = { q in Q | q is in δ(</a:t>
            </a:r>
            <a:r>
              <a:rPr lang="en-US" dirty="0" err="1">
                <a:solidFill>
                  <a:srgbClr val="292934"/>
                </a:solidFill>
              </a:rPr>
              <a:t>r,x</a:t>
            </a:r>
            <a:r>
              <a:rPr lang="en-US" dirty="0">
                <a:solidFill>
                  <a:srgbClr val="292934"/>
                </a:solidFill>
              </a:rPr>
              <a:t>) for some r in X </a:t>
            </a:r>
            <a:r>
              <a:rPr lang="en-US" dirty="0">
                <a:solidFill>
                  <a:srgbClr val="F2AF0D"/>
                </a:solidFill>
              </a:rPr>
              <a:t>or 				accessible via spontaneous moves</a:t>
            </a:r>
            <a:r>
              <a:rPr lang="en-US" dirty="0">
                <a:solidFill>
                  <a:srgbClr val="292934"/>
                </a:solidFill>
              </a:rPr>
              <a:t>}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 flipV="1">
            <a:off x="5189308" y="3481269"/>
            <a:ext cx="3513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U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1488185" y="4284112"/>
            <a:ext cx="692776" cy="73112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 flipV="1">
            <a:off x="1834573" y="4284113"/>
            <a:ext cx="346388" cy="731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180961" y="4786995"/>
            <a:ext cx="9288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Types?</a:t>
            </a:r>
          </a:p>
        </p:txBody>
      </p:sp>
    </p:spTree>
    <p:extLst>
      <p:ext uri="{BB962C8B-B14F-4D97-AF65-F5344CB8AC3E}">
        <p14:creationId xmlns:p14="http://schemas.microsoft.com/office/powerpoint/2010/main" val="456587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Subset construction examples</a:t>
            </a:r>
          </a:p>
        </p:txBody>
      </p:sp>
      <p:pic>
        <p:nvPicPr>
          <p:cNvPr id="3" name="Picture 2" descr="NFAeps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3" t="7756" r="30778" b="7157"/>
          <a:stretch/>
        </p:blipFill>
        <p:spPr>
          <a:xfrm>
            <a:off x="216209" y="1243066"/>
            <a:ext cx="4259289" cy="324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750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Subset construction examples</a:t>
            </a:r>
          </a:p>
        </p:txBody>
      </p:sp>
      <p:pic>
        <p:nvPicPr>
          <p:cNvPr id="6" name="Picture 5" descr="NFAex2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7" r="53247"/>
          <a:stretch/>
        </p:blipFill>
        <p:spPr>
          <a:xfrm>
            <a:off x="235165" y="1200150"/>
            <a:ext cx="3301314" cy="367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530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Subset construction examples</a:t>
            </a:r>
          </a:p>
        </p:txBody>
      </p:sp>
      <p:pic>
        <p:nvPicPr>
          <p:cNvPr id="4" name="Picture 3" descr="NFAtoDFA.pn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860" r="9749"/>
          <a:stretch/>
        </p:blipFill>
        <p:spPr>
          <a:xfrm>
            <a:off x="290421" y="1321148"/>
            <a:ext cx="5008032" cy="261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27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Regular</a:t>
            </a:r>
            <a:r>
              <a:rPr lang="en-US"/>
              <a:t> sets of strings </a:t>
            </a:r>
            <a:r>
              <a:rPr lang="en-US">
                <a:solidFill>
                  <a:schemeClr val="accent1"/>
                </a:solidFill>
              </a:rPr>
              <a:t>i.e., those </a:t>
            </a:r>
            <a:r>
              <a:rPr lang="en-US">
                <a:solidFill>
                  <a:srgbClr val="F2AF0D"/>
                </a:solidFill>
              </a:rPr>
              <a:t>that aren't too complicated</a:t>
            </a:r>
            <a:r>
              <a:rPr lang="en-US"/>
              <a:t> are those that are</a:t>
            </a:r>
          </a:p>
          <a:p>
            <a:r>
              <a:rPr lang="en-US"/>
              <a:t>the language of some DFA, or equivalently, </a:t>
            </a:r>
          </a:p>
          <a:p>
            <a:r>
              <a:rPr lang="en-US"/>
              <a:t>the language of some NFA.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If a set of strings can be expressed as the result of </a:t>
            </a:r>
            <a:r>
              <a:rPr lang="en-US" b="1">
                <a:solidFill>
                  <a:schemeClr val="tx2"/>
                </a:solidFill>
              </a:rPr>
              <a:t>complement, union, intersection, concatenation, Kleene star</a:t>
            </a:r>
            <a:r>
              <a:rPr lang="en-US" b="1"/>
              <a:t> </a:t>
            </a:r>
            <a:r>
              <a:rPr lang="en-US"/>
              <a:t>of regular languages, then it itself is regular.</a:t>
            </a:r>
          </a:p>
        </p:txBody>
      </p:sp>
    </p:spTree>
    <p:extLst>
      <p:ext uri="{BB962C8B-B14F-4D97-AF65-F5344CB8AC3E}">
        <p14:creationId xmlns:p14="http://schemas.microsoft.com/office/powerpoint/2010/main" val="16311456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UC">
      <a:dk1>
        <a:srgbClr val="292934"/>
      </a:dk1>
      <a:lt1>
        <a:srgbClr val="FFFFFF"/>
      </a:lt1>
      <a:dk2>
        <a:srgbClr val="4128D2"/>
      </a:dk2>
      <a:lt2>
        <a:srgbClr val="F3F2DC"/>
      </a:lt2>
      <a:accent1>
        <a:srgbClr val="F2AF0D"/>
      </a:accent1>
      <a:accent2>
        <a:srgbClr val="F6BC05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7262</TotalTime>
  <Words>1062</Words>
  <Application>Microsoft Office PowerPoint</Application>
  <PresentationFormat>On-screen Show (16:9)</PresentationFormat>
  <Paragraphs>126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Clarity</vt:lpstr>
      <vt:lpstr>CSE 331  Automata and computability</vt:lpstr>
      <vt:lpstr>Today's learning goals Sipser Ch 1.2, 1.3</vt:lpstr>
      <vt:lpstr>Nondeterministic finite automata</vt:lpstr>
      <vt:lpstr>Acceptance in an NFA</vt:lpstr>
      <vt:lpstr>NFA</vt:lpstr>
      <vt:lpstr>Simulating NFA with DFA</vt:lpstr>
      <vt:lpstr>Simulating NFA with DFA</vt:lpstr>
      <vt:lpstr>From NFA to DFA</vt:lpstr>
      <vt:lpstr>Subset construction</vt:lpstr>
      <vt:lpstr>From NFA to DFA</vt:lpstr>
      <vt:lpstr>Subset construction</vt:lpstr>
      <vt:lpstr>Subset construction</vt:lpstr>
      <vt:lpstr>Subset construction</vt:lpstr>
      <vt:lpstr>From NFA to DFA</vt:lpstr>
      <vt:lpstr>Subset construction</vt:lpstr>
      <vt:lpstr>Subset construction</vt:lpstr>
      <vt:lpstr>Subset construction examples</vt:lpstr>
      <vt:lpstr>Subset construction examples</vt:lpstr>
      <vt:lpstr>Subset construction examples</vt:lpstr>
      <vt:lpstr>Recap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105 Theory of Computation</dc:title>
  <dc:subject/>
  <dc:creator>Mia Minnes Kemp</dc:creator>
  <cp:keywords/>
  <dc:description/>
  <cp:lastModifiedBy>Zayed Humayun</cp:lastModifiedBy>
  <cp:revision>583</cp:revision>
  <dcterms:created xsi:type="dcterms:W3CDTF">2014-10-03T04:30:04Z</dcterms:created>
  <dcterms:modified xsi:type="dcterms:W3CDTF">2026-07-04T04:57:14Z</dcterms:modified>
  <cp:category/>
</cp:coreProperties>
</file>