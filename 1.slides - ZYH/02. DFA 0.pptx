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256" r:id="rId2"/>
    <p:sldId id="367" r:id="rId3"/>
    <p:sldId id="324" r:id="rId4"/>
    <p:sldId id="341" r:id="rId5"/>
    <p:sldId id="334" r:id="rId6"/>
    <p:sldId id="364" r:id="rId7"/>
    <p:sldId id="336" r:id="rId8"/>
    <p:sldId id="365" r:id="rId9"/>
    <p:sldId id="337" r:id="rId10"/>
    <p:sldId id="366" r:id="rId11"/>
    <p:sldId id="338" r:id="rId12"/>
    <p:sldId id="368" r:id="rId13"/>
    <p:sldId id="369" r:id="rId14"/>
    <p:sldId id="370" r:id="rId15"/>
    <p:sldId id="376" r:id="rId16"/>
    <p:sldId id="377" r:id="rId17"/>
    <p:sldId id="378" r:id="rId18"/>
    <p:sldId id="380" r:id="rId19"/>
    <p:sldId id="379" r:id="rId20"/>
    <p:sldId id="371" r:id="rId21"/>
    <p:sldId id="372" r:id="rId22"/>
    <p:sldId id="381" r:id="rId23"/>
    <p:sldId id="382" r:id="rId24"/>
    <p:sldId id="373" r:id="rId25"/>
    <p:sldId id="374" r:id="rId26"/>
    <p:sldId id="375" r:id="rId27"/>
    <p:sldId id="339" r:id="rId28"/>
    <p:sldId id="344" r:id="rId29"/>
    <p:sldId id="304" r:id="rId3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778D83-3A60-4108-80BC-3592946A88D9}">
          <p14:sldIdLst>
            <p14:sldId id="256"/>
            <p14:sldId id="367"/>
            <p14:sldId id="324"/>
            <p14:sldId id="341"/>
            <p14:sldId id="334"/>
            <p14:sldId id="364"/>
            <p14:sldId id="336"/>
            <p14:sldId id="365"/>
            <p14:sldId id="337"/>
            <p14:sldId id="366"/>
            <p14:sldId id="338"/>
            <p14:sldId id="368"/>
            <p14:sldId id="369"/>
            <p14:sldId id="370"/>
            <p14:sldId id="376"/>
            <p14:sldId id="377"/>
            <p14:sldId id="378"/>
            <p14:sldId id="380"/>
            <p14:sldId id="379"/>
            <p14:sldId id="371"/>
            <p14:sldId id="372"/>
            <p14:sldId id="381"/>
            <p14:sldId id="382"/>
            <p14:sldId id="373"/>
            <p14:sldId id="374"/>
            <p14:sldId id="375"/>
            <p14:sldId id="339"/>
            <p14:sldId id="344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5F"/>
    <a:srgbClr val="FEA90F"/>
    <a:srgbClr val="F2AF0D"/>
    <a:srgbClr val="EE9E0E"/>
    <a:srgbClr val="F0AE0D"/>
    <a:srgbClr val="F8CD6A"/>
    <a:srgbClr val="E1922D"/>
    <a:srgbClr val="EE9A08"/>
    <a:srgbClr val="E89B2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0498A-5538-4084-84C3-890BBA5F09FA}" v="3" dt="2019-09-06T15:15:53.8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0625" autoAdjust="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char Lovett" userId="0c6d1e87c56e93c6" providerId="LiveId" clId="{6360498A-5538-4084-84C3-890BBA5F09FA}"/>
    <pc:docChg chg="modSld">
      <pc:chgData name="Shachar Lovett" userId="0c6d1e87c56e93c6" providerId="LiveId" clId="{6360498A-5538-4084-84C3-890BBA5F09FA}" dt="2019-09-06T15:15:53.822" v="1"/>
      <pc:docMkLst>
        <pc:docMk/>
      </pc:docMkLst>
      <pc:sldChg chg="modSp">
        <pc:chgData name="Shachar Lovett" userId="0c6d1e87c56e93c6" providerId="LiveId" clId="{6360498A-5538-4084-84C3-890BBA5F09FA}" dt="2019-09-06T15:15:53.822" v="1"/>
        <pc:sldMkLst>
          <pc:docMk/>
          <pc:sldMk cId="1882651833" sldId="256"/>
        </pc:sldMkLst>
        <pc:spChg chg="mod">
          <ac:chgData name="Shachar Lovett" userId="0c6d1e87c56e93c6" providerId="LiveId" clId="{6360498A-5538-4084-84C3-890BBA5F09FA}" dt="2019-09-06T15:15:53.822" v="1"/>
          <ac:spMkLst>
            <pc:docMk/>
            <pc:sldMk cId="1882651833" sldId="256"/>
            <ac:spMk id="3" creationId="{00000000-0000-0000-0000-000000000000}"/>
          </ac:spMkLst>
        </pc:spChg>
      </pc:sldChg>
    </pc:docChg>
  </pc:docChgLst>
  <pc:docChgLst>
    <pc:chgData name="Shachar Lovett" userId="0c6d1e87c56e93c6" providerId="LiveId" clId="{6BE9331A-13F2-4D7D-A432-8C9537F8F27F}"/>
    <pc:docChg chg="undo custSel modSld">
      <pc:chgData name="Shachar Lovett" userId="0c6d1e87c56e93c6" providerId="LiveId" clId="{6BE9331A-13F2-4D7D-A432-8C9537F8F27F}" dt="2019-04-01T12:18:33.728" v="4"/>
      <pc:docMkLst>
        <pc:docMk/>
      </pc:docMkLst>
      <pc:sldChg chg="modSp">
        <pc:chgData name="Shachar Lovett" userId="0c6d1e87c56e93c6" providerId="LiveId" clId="{6BE9331A-13F2-4D7D-A432-8C9537F8F27F}" dt="2019-04-01T12:18:33.728" v="4"/>
        <pc:sldMkLst>
          <pc:docMk/>
          <pc:sldMk cId="1882651833" sldId="256"/>
        </pc:sldMkLst>
        <pc:spChg chg="mod">
          <ac:chgData name="Shachar Lovett" userId="0c6d1e87c56e93c6" providerId="LiveId" clId="{6BE9331A-13F2-4D7D-A432-8C9537F8F27F}" dt="2019-04-01T12:18:33.728" v="4"/>
          <ac:spMkLst>
            <pc:docMk/>
            <pc:sldMk cId="1882651833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Thursday, June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Thursday, June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Thursday, June 18,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Thursday, June 18,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Thursday, June 18,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Thursday, June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Thursday, June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Thursday, June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Thursday, June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Thursday, June 18,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CSE 331 </a:t>
            </a:r>
            <a:br>
              <a:rPr lang="en-US" sz="4800" dirty="0"/>
            </a:br>
            <a:r>
              <a:rPr lang="en-US" sz="3600" dirty="0"/>
              <a:t>Automata  and computability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7521575" cy="2234159"/>
          </a:xfrm>
        </p:spPr>
        <p:txBody>
          <a:bodyPr>
            <a:normAutofit/>
          </a:bodyPr>
          <a:lstStyle/>
          <a:p>
            <a:r>
              <a:rPr lang="en-US" dirty="0"/>
              <a:t>Lecture 2</a:t>
            </a:r>
          </a:p>
          <a:p>
            <a:endParaRPr lang="en-US" dirty="0"/>
          </a:p>
          <a:p>
            <a:r>
              <a:rPr lang="en-US" dirty="0"/>
              <a:t>Summer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5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learning goals	</a:t>
            </a:r>
            <a:r>
              <a:rPr lang="en-US" sz="2400" dirty="0" err="1"/>
              <a:t>Sipser</a:t>
            </a:r>
            <a:r>
              <a:rPr lang="en-US" sz="2400" dirty="0"/>
              <a:t> Ch 1.1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and design a finite automaton via its</a:t>
            </a:r>
          </a:p>
          <a:p>
            <a:pPr marL="274320" lvl="1" indent="0">
              <a:buNone/>
            </a:pPr>
            <a:r>
              <a:rPr lang="en-US" dirty="0"/>
              <a:t>- Formal definition	- state diagram</a:t>
            </a:r>
          </a:p>
          <a:p>
            <a:r>
              <a:rPr lang="en-US" dirty="0"/>
              <a:t>Identify the strings and languages accepted by a given finite automaton</a:t>
            </a:r>
          </a:p>
          <a:p>
            <a:r>
              <a:rPr lang="en-US" dirty="0"/>
              <a:t>Design a finite automaton which accepts a given language</a:t>
            </a:r>
          </a:p>
          <a:p>
            <a:r>
              <a:rPr lang="en-US" dirty="0"/>
              <a:t>Define the regular operations on languages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466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1828800" y="1337016"/>
            <a:ext cx="5367250" cy="2846434"/>
          </a:xfrm>
          <a:prstGeom prst="rect">
            <a:avLst/>
          </a:prstGeom>
          <a:blipFill>
            <a:blip r:embed="rId2" cstate="print"/>
            <a:srcRect/>
            <a:stretch>
              <a:fillRect l="2" r="-1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Input: finite </a:t>
            </a:r>
            <a:r>
              <a:rPr lang="en-US" b="1"/>
              <a:t>string</a:t>
            </a:r>
            <a:r>
              <a:rPr lang="en-US"/>
              <a:t> over a fixed </a:t>
            </a:r>
            <a:r>
              <a:rPr lang="en-US" b="1"/>
              <a:t>alphabet</a:t>
            </a:r>
          </a:p>
          <a:p>
            <a:r>
              <a:rPr lang="en-US"/>
              <a:t>Output: "accept" or "reject"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b="1"/>
              <a:t>Language</a:t>
            </a:r>
            <a:r>
              <a:rPr lang="en-US"/>
              <a:t> of the machine is the set of strings it accepts</a:t>
            </a:r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</a:t>
            </a:r>
            <a:r>
              <a:rPr lang="en-US"/>
              <a:t>Finite Automaton (DFA)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33575" y="3214687"/>
            <a:ext cx="1736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4128D2"/>
                </a:solidFill>
              </a:rPr>
              <a:t>Start state</a:t>
            </a:r>
          </a:p>
          <a:p>
            <a:r>
              <a:rPr lang="en-US">
                <a:solidFill>
                  <a:srgbClr val="4128D2"/>
                </a:solidFill>
              </a:rPr>
              <a:t>(triangle/arrow)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7362" y="3182421"/>
            <a:ext cx="16343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4128D2"/>
                </a:solidFill>
              </a:rPr>
              <a:t>Accept state</a:t>
            </a:r>
            <a:endParaRPr lang="en-US">
              <a:solidFill>
                <a:srgbClr val="4128D2"/>
              </a:solidFill>
            </a:endParaRPr>
          </a:p>
          <a:p>
            <a:r>
              <a:rPr lang="en-US">
                <a:solidFill>
                  <a:srgbClr val="4128D2"/>
                </a:solidFill>
              </a:rPr>
              <a:t>(double circle)</a:t>
            </a:r>
          </a:p>
        </p:txBody>
      </p:sp>
    </p:spTree>
    <p:extLst>
      <p:ext uri="{BB962C8B-B14F-4D97-AF65-F5344CB8AC3E}">
        <p14:creationId xmlns:p14="http://schemas.microsoft.com/office/powerpoint/2010/main" val="2212604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1828800" y="1337016"/>
            <a:ext cx="5367250" cy="2846434"/>
          </a:xfrm>
          <a:prstGeom prst="rect">
            <a:avLst/>
          </a:prstGeom>
          <a:blipFill>
            <a:blip r:embed="rId2" cstate="print"/>
            <a:srcRect/>
            <a:stretch>
              <a:fillRect l="2" r="-1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 finite automaton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Input: finite string over a fixed alphabet</a:t>
            </a:r>
          </a:p>
          <a:p>
            <a:r>
              <a:rPr lang="en-US" sz="2200"/>
              <a:t>Output: "accept" or "reject"</a:t>
            </a:r>
          </a:p>
          <a:p>
            <a:endParaRPr lang="en-US" sz="2200"/>
          </a:p>
          <a:p>
            <a:endParaRPr lang="en-US" sz="2200"/>
          </a:p>
          <a:p>
            <a:endParaRPr lang="en-US" sz="2200"/>
          </a:p>
          <a:p>
            <a:endParaRPr lang="en-US" sz="2200"/>
          </a:p>
          <a:p>
            <a:endParaRPr lang="en-US" sz="2200"/>
          </a:p>
        </p:txBody>
      </p:sp>
      <p:sp>
        <p:nvSpPr>
          <p:cNvPr id="9" name="TextBox 8"/>
          <p:cNvSpPr txBox="1"/>
          <p:nvPr/>
        </p:nvSpPr>
        <p:spPr>
          <a:xfrm>
            <a:off x="341708" y="3391085"/>
            <a:ext cx="4549724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Does this DFA accept the </a:t>
            </a:r>
            <a:r>
              <a:rPr lang="en-US" b="1"/>
              <a:t>empty string </a:t>
            </a:r>
            <a:r>
              <a:rPr lang="en-US"/>
              <a:t>?</a:t>
            </a:r>
            <a:endParaRPr lang="en-US" b="1"/>
          </a:p>
          <a:p>
            <a:endParaRPr lang="en-US"/>
          </a:p>
          <a:p>
            <a:pPr marL="342900" indent="-342900">
              <a:buAutoNum type="alphaUcPeriod"/>
            </a:pPr>
            <a:r>
              <a:rPr lang="en-US"/>
              <a:t>Yes</a:t>
            </a:r>
          </a:p>
          <a:p>
            <a:pPr marL="342900" indent="-342900">
              <a:buAutoNum type="alphaUcPeriod"/>
            </a:pPr>
            <a:r>
              <a:rPr lang="en-US"/>
              <a:t>No</a:t>
            </a:r>
          </a:p>
          <a:p>
            <a:pPr marL="342900" indent="-342900">
              <a:buAutoNum type="alphaUcPeriod"/>
            </a:pPr>
            <a:r>
              <a:rPr lang="en-US"/>
              <a:t>I don't know</a:t>
            </a:r>
          </a:p>
        </p:txBody>
      </p:sp>
    </p:spTree>
    <p:extLst>
      <p:ext uri="{BB962C8B-B14F-4D97-AF65-F5344CB8AC3E}">
        <p14:creationId xmlns:p14="http://schemas.microsoft.com/office/powerpoint/2010/main" val="1030164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Deterministic finite automaton</a:t>
            </a:r>
            <a:r>
              <a:rPr lang="en-US"/>
              <a:t>	</a:t>
            </a:r>
            <a:r>
              <a:rPr lang="en-US" sz="2000"/>
              <a:t>Sipser p. 35 Def 1.5</a:t>
            </a:r>
          </a:p>
        </p:txBody>
      </p:sp>
      <p:pic>
        <p:nvPicPr>
          <p:cNvPr id="8" name="Picture 7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200150"/>
            <a:ext cx="5950931" cy="2688838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3" name="Cloud Callout 2"/>
          <p:cNvSpPr/>
          <p:nvPr/>
        </p:nvSpPr>
        <p:spPr>
          <a:xfrm>
            <a:off x="5283374" y="3465590"/>
            <a:ext cx="3715608" cy="1301556"/>
          </a:xfrm>
          <a:prstGeom prst="cloudCallout">
            <a:avLst>
              <a:gd name="adj1" fmla="val -16614"/>
              <a:gd name="adj2" fmla="val -107379"/>
            </a:avLst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No circles and arrows, same information!</a:t>
            </a:r>
          </a:p>
        </p:txBody>
      </p:sp>
    </p:spTree>
    <p:extLst>
      <p:ext uri="{BB962C8B-B14F-4D97-AF65-F5344CB8AC3E}">
        <p14:creationId xmlns:p14="http://schemas.microsoft.com/office/powerpoint/2010/main" val="3305646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Deterministic finite automaton</a:t>
            </a:r>
            <a:r>
              <a:rPr lang="en-US"/>
              <a:t>	</a:t>
            </a:r>
            <a:r>
              <a:rPr lang="en-US" sz="2000"/>
              <a:t>Sipser p. 35 Def 1.5</a:t>
            </a:r>
          </a:p>
        </p:txBody>
      </p:sp>
      <p:pic>
        <p:nvPicPr>
          <p:cNvPr id="8" name="Picture 7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200150"/>
            <a:ext cx="5950931" cy="2688838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5" name="TextBox 4"/>
          <p:cNvSpPr txBox="1"/>
          <p:nvPr/>
        </p:nvSpPr>
        <p:spPr>
          <a:xfrm>
            <a:off x="4453177" y="3202909"/>
            <a:ext cx="4549724" cy="175432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Can there be more than one </a:t>
            </a:r>
            <a:r>
              <a:rPr lang="en-US" b="1"/>
              <a:t>start state </a:t>
            </a:r>
            <a:r>
              <a:rPr lang="en-US"/>
              <a:t>in a finite automaton?</a:t>
            </a:r>
            <a:endParaRPr lang="en-US" b="1"/>
          </a:p>
          <a:p>
            <a:endParaRPr lang="en-US"/>
          </a:p>
          <a:p>
            <a:pPr marL="342900" indent="-342900">
              <a:buAutoNum type="alphaUcPeriod"/>
            </a:pPr>
            <a:r>
              <a:rPr lang="en-US"/>
              <a:t>Yes, because of line 4.</a:t>
            </a:r>
          </a:p>
          <a:p>
            <a:pPr marL="342900" indent="-342900">
              <a:buAutoNum type="alphaUcPeriod"/>
            </a:pPr>
            <a:r>
              <a:rPr lang="en-US"/>
              <a:t>No, because of line 4.</a:t>
            </a:r>
          </a:p>
          <a:p>
            <a:pPr marL="342900" indent="-342900">
              <a:buAutoNum type="alphaUcPeriod"/>
            </a:pPr>
            <a:r>
              <a:rPr lang="en-US"/>
              <a:t>I don't know</a:t>
            </a:r>
          </a:p>
        </p:txBody>
      </p:sp>
    </p:spTree>
    <p:extLst>
      <p:ext uri="{BB962C8B-B14F-4D97-AF65-F5344CB8AC3E}">
        <p14:creationId xmlns:p14="http://schemas.microsoft.com/office/powerpoint/2010/main" val="1276268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Deterministic finite automaton</a:t>
            </a:r>
            <a:r>
              <a:rPr lang="en-US"/>
              <a:t>	</a:t>
            </a:r>
            <a:r>
              <a:rPr lang="en-US" sz="2000"/>
              <a:t>Sipser p. 35 Def 1.5</a:t>
            </a:r>
          </a:p>
        </p:txBody>
      </p:sp>
      <p:pic>
        <p:nvPicPr>
          <p:cNvPr id="8" name="Picture 7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200150"/>
            <a:ext cx="5950931" cy="2688838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9" name="TextBox 8"/>
          <p:cNvSpPr txBox="1"/>
          <p:nvPr/>
        </p:nvSpPr>
        <p:spPr>
          <a:xfrm>
            <a:off x="4342714" y="2983375"/>
            <a:ext cx="4801286" cy="175432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How many outgoing arrows from each state?</a:t>
            </a:r>
          </a:p>
          <a:p>
            <a:pPr marL="342900" indent="-342900">
              <a:buAutoNum type="alphaUcPeriod"/>
            </a:pPr>
            <a:r>
              <a:rPr lang="en-US"/>
              <a:t>May be different number at each state.</a:t>
            </a:r>
          </a:p>
          <a:p>
            <a:pPr marL="342900" indent="-342900">
              <a:buAutoNum type="alphaUcPeriod"/>
            </a:pPr>
            <a:r>
              <a:rPr lang="en-US"/>
              <a:t>Must be 2.</a:t>
            </a:r>
          </a:p>
          <a:p>
            <a:pPr marL="342900" indent="-342900">
              <a:buAutoNum type="alphaUcPeriod"/>
            </a:pPr>
            <a:r>
              <a:rPr lang="en-US"/>
              <a:t>Must be |Q|.</a:t>
            </a:r>
          </a:p>
          <a:p>
            <a:pPr marL="342900" indent="-342900">
              <a:buAutoNum type="alphaUcPeriod"/>
            </a:pPr>
            <a:r>
              <a:rPr lang="en-US"/>
              <a:t>Must be |Σ|</a:t>
            </a:r>
          </a:p>
          <a:p>
            <a:pPr marL="342900" indent="-342900">
              <a:buAutoNum type="alphaUcPeriod"/>
            </a:pPr>
            <a:r>
              <a:rPr lang="en-US"/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204429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/>
              <a:t>Define M = 					where the function δ is specified by its table of values: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Draw the state diagram for the DFA with this formal definition.</a:t>
            </a:r>
          </a:p>
        </p:txBody>
      </p:sp>
      <p:pic>
        <p:nvPicPr>
          <p:cNvPr id="8" name="Picture 7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627" y="1326356"/>
            <a:ext cx="3657600" cy="2667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26768"/>
              </p:ext>
            </p:extLst>
          </p:nvPr>
        </p:nvGraphicFramePr>
        <p:xfrm>
          <a:off x="1057756" y="1946672"/>
          <a:ext cx="2431032" cy="206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Input </a:t>
                      </a:r>
                    </a:p>
                    <a:p>
                      <a:pPr algn="ctr"/>
                      <a:r>
                        <a:rPr lang="en-US" sz="1400"/>
                        <a:t>in Q x 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Output </a:t>
                      </a:r>
                    </a:p>
                    <a:p>
                      <a:pPr algn="ctr"/>
                      <a:r>
                        <a:rPr lang="en-US" sz="1400"/>
                        <a:t>in 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(q1,a)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(q2,a)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(q3,a)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(q4,a)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785421"/>
              </p:ext>
            </p:extLst>
          </p:nvPr>
        </p:nvGraphicFramePr>
        <p:xfrm>
          <a:off x="5165187" y="1946672"/>
          <a:ext cx="2431032" cy="206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Input </a:t>
                      </a:r>
                    </a:p>
                    <a:p>
                      <a:pPr algn="ctr"/>
                      <a:r>
                        <a:rPr lang="en-US" sz="1400"/>
                        <a:t>in Q x 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Output </a:t>
                      </a:r>
                    </a:p>
                    <a:p>
                      <a:pPr algn="ctr"/>
                      <a:r>
                        <a:rPr lang="en-US" sz="1400"/>
                        <a:t>in 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(q1,b)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(q2,b)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(q3,b)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(q4,b)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333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</a:t>
            </a:r>
          </a:p>
        </p:txBody>
      </p:sp>
      <p:sp>
        <p:nvSpPr>
          <p:cNvPr id="5" name="object 5"/>
          <p:cNvSpPr/>
          <p:nvPr/>
        </p:nvSpPr>
        <p:spPr>
          <a:xfrm>
            <a:off x="5739250" y="400050"/>
            <a:ext cx="3133089" cy="28003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kern="120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What's an example of a 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length 1 string accepted by this DFA?</a:t>
            </a:r>
          </a:p>
          <a:p>
            <a:r>
              <a:rPr lang="en-US"/>
              <a:t>length 1 string rejected by this DFA?</a:t>
            </a:r>
          </a:p>
          <a:p>
            <a:endParaRPr lang="en-US"/>
          </a:p>
          <a:p>
            <a:r>
              <a:rPr lang="en-US"/>
              <a:t>length 2 string accepted by this DFA?</a:t>
            </a:r>
          </a:p>
          <a:p>
            <a:r>
              <a:rPr lang="en-US"/>
              <a:t>length 2 string rejected by this DFA?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8" name="Picture 7" descr="latex-image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120" y="876300"/>
            <a:ext cx="36576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24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</a:t>
            </a:r>
          </a:p>
        </p:txBody>
      </p:sp>
      <p:sp>
        <p:nvSpPr>
          <p:cNvPr id="5" name="object 5"/>
          <p:cNvSpPr/>
          <p:nvPr/>
        </p:nvSpPr>
        <p:spPr>
          <a:xfrm>
            <a:off x="5739250" y="400050"/>
            <a:ext cx="3133089" cy="28003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kern="120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What's the best description of</a:t>
            </a:r>
          </a:p>
          <a:p>
            <a:pPr marL="0" indent="0">
              <a:buNone/>
            </a:pPr>
            <a:r>
              <a:rPr lang="en-US"/>
              <a:t>the language recognized by this DFA?</a:t>
            </a:r>
          </a:p>
          <a:p>
            <a:pPr marL="457200" indent="-457200">
              <a:buAutoNum type="alphaUcPeriod"/>
            </a:pPr>
            <a:r>
              <a:rPr lang="en-US"/>
              <a:t>Starts with b and ends with a or b</a:t>
            </a:r>
          </a:p>
          <a:p>
            <a:pPr marL="457200" indent="-457200">
              <a:buAutoNum type="alphaUcPeriod"/>
            </a:pPr>
            <a:r>
              <a:rPr lang="en-US"/>
              <a:t>Starts with a and ends with a or b</a:t>
            </a:r>
          </a:p>
          <a:p>
            <a:pPr marL="457200" indent="-457200">
              <a:buAutoNum type="alphaUcPeriod"/>
            </a:pPr>
            <a:r>
              <a:rPr lang="en-US"/>
              <a:t>a's followed by b's</a:t>
            </a:r>
          </a:p>
          <a:p>
            <a:pPr marL="457200" indent="-457200">
              <a:buAutoNum type="alphaUcPeriod"/>
            </a:pPr>
            <a:r>
              <a:rPr lang="en-US"/>
              <a:t>More than one of the above</a:t>
            </a:r>
          </a:p>
          <a:p>
            <a:pPr marL="457200" indent="-457200">
              <a:buAutoNum type="alphaUcPeriod"/>
            </a:pPr>
            <a:r>
              <a:rPr lang="en-US"/>
              <a:t>I don't know.</a:t>
            </a:r>
          </a:p>
        </p:txBody>
      </p:sp>
      <p:pic>
        <p:nvPicPr>
          <p:cNvPr id="8" name="Picture 7" descr="latex-image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120" y="876300"/>
            <a:ext cx="3657600" cy="266700"/>
          </a:xfrm>
          <a:prstGeom prst="rect">
            <a:avLst/>
          </a:prstGeom>
        </p:spPr>
      </p:pic>
      <p:sp>
        <p:nvSpPr>
          <p:cNvPr id="9" name="Cloud Callout 8"/>
          <p:cNvSpPr/>
          <p:nvPr/>
        </p:nvSpPr>
        <p:spPr>
          <a:xfrm>
            <a:off x="5739250" y="3559678"/>
            <a:ext cx="2947550" cy="1298072"/>
          </a:xfrm>
          <a:prstGeom prst="cloudCallout">
            <a:avLst>
              <a:gd name="adj1" fmla="val -86787"/>
              <a:gd name="adj2" fmla="val 5162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and using set notation?</a:t>
            </a:r>
          </a:p>
        </p:txBody>
      </p:sp>
    </p:spTree>
    <p:extLst>
      <p:ext uri="{BB962C8B-B14F-4D97-AF65-F5344CB8AC3E}">
        <p14:creationId xmlns:p14="http://schemas.microsoft.com/office/powerpoint/2010/main" val="1300936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</a:t>
            </a:r>
          </a:p>
        </p:txBody>
      </p:sp>
      <p:sp>
        <p:nvSpPr>
          <p:cNvPr id="5" name="object 5"/>
          <p:cNvSpPr/>
          <p:nvPr/>
        </p:nvSpPr>
        <p:spPr>
          <a:xfrm>
            <a:off x="5739250" y="400050"/>
            <a:ext cx="3133089" cy="28003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kern="120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This DFA recognizes</a:t>
            </a:r>
          </a:p>
          <a:p>
            <a:pPr marL="0" indent="0">
              <a:buNone/>
            </a:pPr>
            <a:r>
              <a:rPr lang="en-US"/>
              <a:t>the language of all strings</a:t>
            </a:r>
          </a:p>
          <a:p>
            <a:pPr marL="0" indent="0">
              <a:buNone/>
            </a:pPr>
            <a:r>
              <a:rPr lang="en-US"/>
              <a:t>of the form a's followed by b's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i.e. { a</a:t>
            </a:r>
            <a:r>
              <a:rPr lang="en-US" baseline="30000"/>
              <a:t>n</a:t>
            </a:r>
            <a:r>
              <a:rPr lang="en-US"/>
              <a:t>b</a:t>
            </a:r>
            <a:r>
              <a:rPr lang="en-US" baseline="30000"/>
              <a:t>k</a:t>
            </a:r>
            <a:r>
              <a:rPr lang="en-US"/>
              <a:t> | n,k ≥ 1}</a:t>
            </a:r>
          </a:p>
        </p:txBody>
      </p:sp>
      <p:pic>
        <p:nvPicPr>
          <p:cNvPr id="8" name="Picture 7" descr="latex-image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120" y="876300"/>
            <a:ext cx="36576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1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Specifying an automaton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( {q1,q2,q3}, {a,b}, δ, q1, ? ) </a:t>
            </a:r>
          </a:p>
        </p:txBody>
      </p:sp>
      <p:pic>
        <p:nvPicPr>
          <p:cNvPr id="5" name="Content Placeholder 6" descr="DFA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36411" y="2957512"/>
            <a:ext cx="3762375" cy="1685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4276" y="1452577"/>
            <a:ext cx="4216574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What state(s) should be in F so that the language of this machine is</a:t>
            </a:r>
          </a:p>
          <a:p>
            <a:pPr algn="ctr"/>
            <a:r>
              <a:rPr lang="en-US"/>
              <a:t>{ w | ab is a substring of w}?</a:t>
            </a:r>
          </a:p>
          <a:p>
            <a:pPr marL="342900" indent="-342900">
              <a:buAutoNum type="alphaUcPeriod"/>
            </a:pPr>
            <a:endParaRPr lang="en-US"/>
          </a:p>
          <a:p>
            <a:pPr marL="342900" indent="-342900">
              <a:buAutoNum type="alphaUcPeriod"/>
            </a:pPr>
            <a:r>
              <a:rPr lang="en-US"/>
              <a:t>{q2}</a:t>
            </a:r>
          </a:p>
          <a:p>
            <a:pPr marL="342900" indent="-342900">
              <a:buAutoNum type="alphaUcPeriod"/>
            </a:pPr>
            <a:r>
              <a:rPr lang="en-US"/>
              <a:t>{q3}</a:t>
            </a:r>
          </a:p>
          <a:p>
            <a:pPr marL="342900" indent="-342900">
              <a:buAutoNum type="alphaUcPeriod"/>
            </a:pPr>
            <a:r>
              <a:rPr lang="en-US"/>
              <a:t>{q1,q2}</a:t>
            </a:r>
          </a:p>
          <a:p>
            <a:pPr marL="342900" indent="-342900">
              <a:buAutoNum type="alphaUcPeriod"/>
            </a:pPr>
            <a:r>
              <a:rPr lang="en-US"/>
              <a:t>{q1,q3}</a:t>
            </a:r>
          </a:p>
          <a:p>
            <a:pPr marL="342900" indent="-342900">
              <a:buAutoNum type="alphaUcPeriod"/>
            </a:pPr>
            <a:r>
              <a:rPr lang="en-US"/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4106580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Specifying an automaton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 {q1,q2,q3}, {</a:t>
            </a:r>
            <a:r>
              <a:rPr lang="en-US" dirty="0" err="1"/>
              <a:t>a,b</a:t>
            </a:r>
            <a:r>
              <a:rPr lang="en-US" dirty="0"/>
              <a:t>}, δ, q1, ? ) </a:t>
            </a:r>
          </a:p>
        </p:txBody>
      </p:sp>
      <p:pic>
        <p:nvPicPr>
          <p:cNvPr id="5" name="Content Placeholder 6" descr="DFA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36411" y="2957512"/>
            <a:ext cx="3762375" cy="1685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4276" y="1452577"/>
            <a:ext cx="4216574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What state(s) should be in F so that the language of this machine is</a:t>
            </a:r>
          </a:p>
          <a:p>
            <a:pPr algn="ctr"/>
            <a:r>
              <a:rPr lang="en-US" dirty="0"/>
              <a:t>{ w | b's never occur after a's in w}?</a:t>
            </a:r>
          </a:p>
          <a:p>
            <a:pPr marL="342900" indent="-342900">
              <a:buAutoNum type="alphaUcPeriod"/>
            </a:pPr>
            <a:endParaRPr lang="en-US" dirty="0"/>
          </a:p>
          <a:p>
            <a:pPr marL="342900" indent="-342900">
              <a:buAutoNum type="alphaUcPeriod"/>
            </a:pPr>
            <a:r>
              <a:rPr lang="en-US" dirty="0"/>
              <a:t>{q2}</a:t>
            </a:r>
          </a:p>
          <a:p>
            <a:pPr marL="342900" indent="-342900">
              <a:buAutoNum type="alphaUcPeriod"/>
            </a:pPr>
            <a:r>
              <a:rPr lang="en-US" dirty="0"/>
              <a:t>{q3}</a:t>
            </a:r>
          </a:p>
          <a:p>
            <a:pPr marL="342900" indent="-342900">
              <a:buAutoNum type="alphaUcPeriod"/>
            </a:pPr>
            <a:r>
              <a:rPr lang="en-US" dirty="0"/>
              <a:t>{q1,q2}</a:t>
            </a:r>
          </a:p>
          <a:p>
            <a:pPr marL="342900" indent="-342900">
              <a:buAutoNum type="alphaUcPeriod"/>
            </a:pPr>
            <a:r>
              <a:rPr lang="en-US" dirty="0"/>
              <a:t>{q1,q3}</a:t>
            </a:r>
          </a:p>
          <a:p>
            <a:pPr marL="342900" indent="-342900">
              <a:buAutoNum type="alphaUcPeriod"/>
            </a:pPr>
            <a:r>
              <a:rPr lang="en-US" dirty="0"/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769402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Typical questions</a:t>
            </a:r>
            <a:endParaRPr lang="en-US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Define a DFA which recognizes the given language L.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 algn="ctr">
              <a:buNone/>
            </a:pPr>
            <a:r>
              <a:rPr lang="en-US" i="1">
                <a:solidFill>
                  <a:srgbClr val="292934"/>
                </a:solidFill>
              </a:rPr>
              <a:t>or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Prove that the (given) language L is regular.</a:t>
            </a:r>
          </a:p>
        </p:txBody>
      </p:sp>
      <p:pic>
        <p:nvPicPr>
          <p:cNvPr id="5" name="Picture 4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91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Example</a:t>
            </a:r>
            <a:endParaRPr lang="en-US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292934"/>
                </a:solidFill>
              </a:rPr>
              <a:t>L</a:t>
            </a:r>
            <a:r>
              <a:rPr lang="en-US" baseline="-25000" dirty="0">
                <a:solidFill>
                  <a:srgbClr val="292934"/>
                </a:solidFill>
              </a:rPr>
              <a:t>1</a:t>
            </a:r>
            <a:r>
              <a:rPr lang="en-US" dirty="0">
                <a:solidFill>
                  <a:srgbClr val="292934"/>
                </a:solidFill>
              </a:rPr>
              <a:t> = {w | w ends with a 1}</a:t>
            </a:r>
          </a:p>
          <a:p>
            <a:pPr marL="0" indent="0" algn="ctr">
              <a:buNone/>
            </a:pPr>
            <a:endParaRPr lang="en-US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22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Example</a:t>
            </a:r>
            <a:endParaRPr lang="en-US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292934"/>
                </a:solidFill>
              </a:rPr>
              <a:t>L</a:t>
            </a:r>
            <a:r>
              <a:rPr lang="en-US" baseline="-25000" dirty="0">
                <a:solidFill>
                  <a:srgbClr val="292934"/>
                </a:solidFill>
              </a:rPr>
              <a:t>2</a:t>
            </a:r>
            <a:r>
              <a:rPr lang="en-US" dirty="0">
                <a:solidFill>
                  <a:srgbClr val="292934"/>
                </a:solidFill>
              </a:rPr>
              <a:t> = {w | w has substring 11}</a:t>
            </a:r>
          </a:p>
          <a:p>
            <a:pPr marL="0" indent="0" algn="ctr">
              <a:buNone/>
            </a:pPr>
            <a:endParaRPr lang="en-US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44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Example</a:t>
            </a:r>
            <a:endParaRPr lang="en-US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292934"/>
                </a:solidFill>
              </a:rPr>
              <a:t>L</a:t>
            </a:r>
            <a:r>
              <a:rPr lang="en-US" baseline="-25000" dirty="0">
                <a:solidFill>
                  <a:srgbClr val="292934"/>
                </a:solidFill>
              </a:rPr>
              <a:t>3</a:t>
            </a:r>
            <a:r>
              <a:rPr lang="en-US" dirty="0">
                <a:solidFill>
                  <a:srgbClr val="292934"/>
                </a:solidFill>
              </a:rPr>
              <a:t> = {w | w has even length}</a:t>
            </a:r>
          </a:p>
          <a:p>
            <a:pPr marL="0" indent="0" algn="ctr">
              <a:buNone/>
            </a:pPr>
            <a:endParaRPr lang="en-US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35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Example</a:t>
            </a:r>
            <a:endParaRPr lang="en-US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292934"/>
                </a:solidFill>
              </a:rPr>
              <a:t>L</a:t>
            </a:r>
            <a:r>
              <a:rPr lang="en-US" baseline="-25000" dirty="0">
                <a:solidFill>
                  <a:srgbClr val="292934"/>
                </a:solidFill>
              </a:rPr>
              <a:t>4</a:t>
            </a:r>
            <a:r>
              <a:rPr lang="en-US" dirty="0">
                <a:solidFill>
                  <a:srgbClr val="292934"/>
                </a:solidFill>
              </a:rPr>
              <a:t> = {w | length of w is two}</a:t>
            </a:r>
          </a:p>
          <a:p>
            <a:pPr marL="0" indent="0" algn="ctr">
              <a:buNone/>
            </a:pPr>
            <a:endParaRPr lang="en-US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60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Example</a:t>
            </a:r>
            <a:endParaRPr lang="en-US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292934"/>
                </a:solidFill>
              </a:rPr>
              <a:t>L</a:t>
            </a:r>
            <a:r>
              <a:rPr lang="en-US" baseline="-25000" dirty="0">
                <a:solidFill>
                  <a:srgbClr val="292934"/>
                </a:solidFill>
              </a:rPr>
              <a:t>5</a:t>
            </a:r>
            <a:r>
              <a:rPr lang="en-US" dirty="0">
                <a:solidFill>
                  <a:srgbClr val="292934"/>
                </a:solidFill>
              </a:rPr>
              <a:t> = {w | w starts with 1 and ends with 0}</a:t>
            </a:r>
          </a:p>
          <a:p>
            <a:pPr marL="0" indent="0" algn="ctr">
              <a:buNone/>
            </a:pPr>
            <a:endParaRPr lang="en-US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62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Example</a:t>
            </a:r>
            <a:endParaRPr lang="en-US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292934"/>
                </a:solidFill>
              </a:rPr>
              <a:t>L</a:t>
            </a:r>
            <a:r>
              <a:rPr lang="en-US" baseline="-25000" dirty="0">
                <a:solidFill>
                  <a:srgbClr val="292934"/>
                </a:solidFill>
              </a:rPr>
              <a:t>6 </a:t>
            </a:r>
            <a:r>
              <a:rPr lang="en-US" dirty="0">
                <a:solidFill>
                  <a:srgbClr val="292934"/>
                </a:solidFill>
              </a:rPr>
              <a:t>= {w | w has at least 2 a's}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89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Example</a:t>
            </a:r>
            <a:endParaRPr lang="en-US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292934"/>
                </a:solidFill>
              </a:rPr>
              <a:t>L</a:t>
            </a:r>
            <a:r>
              <a:rPr lang="en-US" baseline="-25000" dirty="0">
                <a:solidFill>
                  <a:srgbClr val="292934"/>
                </a:solidFill>
              </a:rPr>
              <a:t>7 </a:t>
            </a:r>
            <a:r>
              <a:rPr lang="en-US" dirty="0">
                <a:solidFill>
                  <a:srgbClr val="292934"/>
                </a:solidFill>
              </a:rPr>
              <a:t>= {w | w has at most 2 a’s}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68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Example</a:t>
            </a:r>
            <a:endParaRPr lang="en-US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292934"/>
                </a:solidFill>
              </a:rPr>
              <a:t>L</a:t>
            </a:r>
            <a:r>
              <a:rPr lang="en-US" baseline="-25000" dirty="0">
                <a:solidFill>
                  <a:srgbClr val="292934"/>
                </a:solidFill>
              </a:rPr>
              <a:t>8 </a:t>
            </a:r>
            <a:r>
              <a:rPr lang="en-US" dirty="0">
                <a:solidFill>
                  <a:srgbClr val="292934"/>
                </a:solidFill>
              </a:rPr>
              <a:t>= {w | w starts and ends with a or w starts and ends with b}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78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312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Remember</a:t>
            </a:r>
            <a:endParaRPr lang="en-US" i="1">
              <a:solidFill>
                <a:srgbClr val="808DA0"/>
              </a:solidFill>
            </a:endParaRPr>
          </a:p>
          <a:p>
            <a:pPr marL="0" indent="0">
              <a:buNone/>
            </a:pPr>
            <a:endParaRPr lang="en-US" i="1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States are our only (computer) memory.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Design and pick states with specific roles / tasks in mind.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i="1">
                <a:solidFill>
                  <a:schemeClr val="accent5"/>
                </a:solidFill>
              </a:rPr>
              <a:t>"Have not seen any of desired pattern yet"</a:t>
            </a:r>
          </a:p>
          <a:p>
            <a:pPr marL="0" indent="0">
              <a:buNone/>
            </a:pPr>
            <a:r>
              <a:rPr lang="en-US" i="1">
                <a:solidFill>
                  <a:schemeClr val="accent5"/>
                </a:solidFill>
              </a:rPr>
              <a:t>"Trap state"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27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Justification?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prove that the DFA we build, M, actually recognizes the language L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4128D2"/>
                </a:solidFill>
              </a:rPr>
              <a:t>WTS</a:t>
            </a:r>
            <a:r>
              <a:rPr lang="en-US" dirty="0">
                <a:solidFill>
                  <a:srgbClr val="4128D2"/>
                </a:solidFill>
              </a:rPr>
              <a:t> L(M)  = L</a:t>
            </a:r>
          </a:p>
          <a:p>
            <a:pPr marL="0" indent="0" algn="ctr">
              <a:buNone/>
            </a:pPr>
            <a:endParaRPr lang="en-US" dirty="0"/>
          </a:p>
          <a:p>
            <a:pPr marL="457200" indent="-457200">
              <a:buAutoNum type="arabicParenBoth"/>
            </a:pPr>
            <a:r>
              <a:rPr lang="en-US" dirty="0"/>
              <a:t>Is every string accepted by M in L?</a:t>
            </a:r>
          </a:p>
          <a:p>
            <a:pPr marL="457200" indent="-457200">
              <a:buAutoNum type="arabicParenBoth"/>
            </a:pPr>
            <a:r>
              <a:rPr lang="en-US" dirty="0"/>
              <a:t>Is every string from L accepted by M?</a:t>
            </a:r>
          </a:p>
          <a:p>
            <a:pPr marL="274320" lvl="1" indent="0">
              <a:buNone/>
            </a:pPr>
            <a:r>
              <a:rPr lang="en-US" i="1" dirty="0"/>
              <a:t>	or contrapositive version: </a:t>
            </a:r>
            <a:r>
              <a:rPr lang="en-US" dirty="0"/>
              <a:t>Is every string rejected by M not in L.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56891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useful (optional) bit of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When is a string accepted by a DFA?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Computation of M on w</a:t>
            </a:r>
            <a:r>
              <a:rPr lang="en-US" i="1">
                <a:solidFill>
                  <a:schemeClr val="tx2"/>
                </a:solidFill>
              </a:rPr>
              <a:t>: where do we land when start at q</a:t>
            </a:r>
            <a:r>
              <a:rPr lang="en-US" i="1" baseline="-25000">
                <a:solidFill>
                  <a:schemeClr val="tx2"/>
                </a:solidFill>
              </a:rPr>
              <a:t>0</a:t>
            </a:r>
            <a:r>
              <a:rPr lang="en-US" i="1">
                <a:solidFill>
                  <a:schemeClr val="tx2"/>
                </a:solidFill>
              </a:rPr>
              <a:t> and read each symbol of w one-at-a time?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δ*( q, w ) =</a:t>
            </a:r>
          </a:p>
        </p:txBody>
      </p:sp>
      <p:sp>
        <p:nvSpPr>
          <p:cNvPr id="4" name="Cloud Callout 3"/>
          <p:cNvSpPr/>
          <p:nvPr/>
        </p:nvSpPr>
        <p:spPr>
          <a:xfrm>
            <a:off x="7005417" y="3527267"/>
            <a:ext cx="2138583" cy="1311930"/>
          </a:xfrm>
          <a:prstGeom prst="cloudCallout">
            <a:avLst>
              <a:gd name="adj1" fmla="val -44742"/>
              <a:gd name="adj2" fmla="val 6501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Recursively defined function</a:t>
            </a:r>
          </a:p>
        </p:txBody>
      </p:sp>
    </p:spTree>
    <p:extLst>
      <p:ext uri="{BB962C8B-B14F-4D97-AF65-F5344CB8AC3E}">
        <p14:creationId xmlns:p14="http://schemas.microsoft.com/office/powerpoint/2010/main" val="3592776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Regular languages	 </a:t>
            </a:r>
            <a:r>
              <a:rPr lang="en-US" sz="2200"/>
              <a:t>Sipser p. 35 Def 1.5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DFA M over the alphabet Σ</a:t>
            </a:r>
          </a:p>
          <a:p>
            <a:pPr lvl="1"/>
            <a:r>
              <a:rPr lang="en-US" dirty="0"/>
              <a:t>For each string w over Σ, M either accepts w or rejects w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chemeClr val="tx2"/>
                </a:solidFill>
              </a:rPr>
              <a:t>language recognized by M </a:t>
            </a:r>
            <a:r>
              <a:rPr lang="en-US" dirty="0"/>
              <a:t>is the set of strings M accepts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4128D2"/>
                </a:solidFill>
              </a:rPr>
              <a:t>language</a:t>
            </a:r>
            <a:r>
              <a:rPr lang="en-US" dirty="0"/>
              <a:t> </a:t>
            </a:r>
            <a:r>
              <a:rPr lang="en-US" b="1" dirty="0">
                <a:solidFill>
                  <a:schemeClr val="tx2"/>
                </a:solidFill>
              </a:rPr>
              <a:t>of M </a:t>
            </a:r>
            <a:r>
              <a:rPr lang="en-US" dirty="0"/>
              <a:t>is the set of strings M accepts</a:t>
            </a:r>
          </a:p>
          <a:p>
            <a:pPr lvl="1"/>
            <a:r>
              <a:rPr lang="en-US" b="1" dirty="0">
                <a:solidFill>
                  <a:srgbClr val="4128D2"/>
                </a:solidFill>
              </a:rPr>
              <a:t>L(M) </a:t>
            </a:r>
            <a:r>
              <a:rPr lang="en-US" dirty="0"/>
              <a:t>= { w | w is a string over Σ and M accepts w}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Definition:</a:t>
            </a:r>
            <a:r>
              <a:rPr lang="en-US" dirty="0"/>
              <a:t> A language is </a:t>
            </a:r>
            <a:r>
              <a:rPr lang="en-US" b="1" dirty="0"/>
              <a:t>regular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there is some finite automaton that recognizes </a:t>
            </a:r>
            <a:r>
              <a:rPr lang="en-US" dirty="0">
                <a:solidFill>
                  <a:srgbClr val="F2AF0D"/>
                </a:solidFill>
              </a:rPr>
              <a:t>exactly </a:t>
            </a:r>
            <a:r>
              <a:rPr lang="en-US" dirty="0"/>
              <a:t>it.</a:t>
            </a:r>
          </a:p>
        </p:txBody>
      </p:sp>
    </p:spTree>
    <p:extLst>
      <p:ext uri="{BB962C8B-B14F-4D97-AF65-F5344CB8AC3E}">
        <p14:creationId xmlns:p14="http://schemas.microsoft.com/office/powerpoint/2010/main" val="29909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languages: bounds?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 </a:t>
            </a:r>
            <a:r>
              <a:rPr lang="en-US" b="1" dirty="0"/>
              <a:t>every </a:t>
            </a:r>
            <a:r>
              <a:rPr lang="en-US" dirty="0"/>
              <a:t>finite language regular?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No: some finite languages are regular, and some are not.</a:t>
            </a:r>
          </a:p>
          <a:p>
            <a:pPr marL="457200" indent="-457200">
              <a:buAutoNum type="alphaUcPeriod"/>
            </a:pPr>
            <a:r>
              <a:rPr lang="en-US" dirty="0"/>
              <a:t>No: there are no finite regular languages.</a:t>
            </a:r>
          </a:p>
          <a:p>
            <a:pPr marL="457200" indent="-457200">
              <a:buAutoNum type="alphaUcPeriod"/>
            </a:pPr>
            <a:r>
              <a:rPr lang="en-US" dirty="0"/>
              <a:t>Yes: every finite language is regular.</a:t>
            </a:r>
          </a:p>
          <a:p>
            <a:pPr marL="457200" indent="-457200">
              <a:buAutoNum type="alphaUcPeriod"/>
            </a:pPr>
            <a:r>
              <a:rPr lang="en-US" dirty="0"/>
              <a:t>I don't know.</a:t>
            </a:r>
          </a:p>
          <a:p>
            <a:pPr marL="457200" indent="-457200">
              <a:buAutoNum type="alpha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510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the assigned reading</a:t>
            </a:r>
          </a:p>
          <a:p>
            <a:r>
              <a:rPr lang="en-US" dirty="0"/>
              <a:t>Start solving the DFA portion of the assignment that will be released soon.</a:t>
            </a:r>
          </a:p>
          <a:p>
            <a:r>
              <a:rPr lang="en-US" i="1" dirty="0">
                <a:solidFill>
                  <a:schemeClr val="accent4"/>
                </a:solidFill>
                <a:sym typeface="Wingdings"/>
              </a:rPr>
              <a:t>Review </a:t>
            </a:r>
            <a:r>
              <a:rPr lang="en-US" i="1" dirty="0" err="1">
                <a:solidFill>
                  <a:schemeClr val="accent4"/>
                </a:solidFill>
                <a:sym typeface="Wingdings"/>
              </a:rPr>
              <a:t>Sipser</a:t>
            </a:r>
            <a:r>
              <a:rPr lang="en-US" i="1" dirty="0">
                <a:solidFill>
                  <a:schemeClr val="accent4"/>
                </a:solidFill>
                <a:sym typeface="Wingdings"/>
              </a:rPr>
              <a:t> Ch 0 as needed.</a:t>
            </a:r>
          </a:p>
        </p:txBody>
      </p:sp>
    </p:spTree>
    <p:extLst>
      <p:ext uri="{BB962C8B-B14F-4D97-AF65-F5344CB8AC3E}">
        <p14:creationId xmlns:p14="http://schemas.microsoft.com/office/powerpoint/2010/main" val="42127565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5031</TotalTime>
  <Words>1095</Words>
  <Application>Microsoft Office PowerPoint</Application>
  <PresentationFormat>On-screen Show (16:9)</PresentationFormat>
  <Paragraphs>208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Wingdings</vt:lpstr>
      <vt:lpstr>Clarity</vt:lpstr>
      <vt:lpstr>CSE 331  Automata  and computability</vt:lpstr>
      <vt:lpstr>Today's learning goals Sipser Ch 1.1</vt:lpstr>
      <vt:lpstr>Deterministic Finite Automaton (DFA)</vt:lpstr>
      <vt:lpstr>Deterministic finite automaton</vt:lpstr>
      <vt:lpstr>Deterministic finite automaton Sipser p. 35 Def 1.5</vt:lpstr>
      <vt:lpstr>Deterministic finite automaton Sipser p. 35 Def 1.5</vt:lpstr>
      <vt:lpstr>Deterministic finite automaton Sipser p. 35 Def 1.5</vt:lpstr>
      <vt:lpstr>An example</vt:lpstr>
      <vt:lpstr>An example</vt:lpstr>
      <vt:lpstr>An example</vt:lpstr>
      <vt:lpstr>An example</vt:lpstr>
      <vt:lpstr>Specifying an automaton</vt:lpstr>
      <vt:lpstr>Specifying an automaton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PowerPoint Presentation</vt:lpstr>
      <vt:lpstr>Building DFA</vt:lpstr>
      <vt:lpstr>Justification?</vt:lpstr>
      <vt:lpstr>A useful (optional) bit of terminology</vt:lpstr>
      <vt:lpstr>Regular languages  Sipser p. 35 Def 1.5</vt:lpstr>
      <vt:lpstr>Regular languages: bounds?</vt:lpstr>
      <vt:lpstr>For 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  Discrete math</dc:title>
  <dc:creator>Mia Minnes Kemp</dc:creator>
  <cp:lastModifiedBy>Zayed Humayun</cp:lastModifiedBy>
  <cp:revision>506</cp:revision>
  <dcterms:created xsi:type="dcterms:W3CDTF">2014-10-03T04:30:04Z</dcterms:created>
  <dcterms:modified xsi:type="dcterms:W3CDTF">2026-06-18T04:59:36Z</dcterms:modified>
</cp:coreProperties>
</file>