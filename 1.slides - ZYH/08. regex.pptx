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8" r:id="rId1"/>
  </p:sldMasterIdLst>
  <p:sldIdLst>
    <p:sldId id="256" r:id="rId2"/>
    <p:sldId id="376" r:id="rId3"/>
    <p:sldId id="439" r:id="rId4"/>
    <p:sldId id="440" r:id="rId5"/>
    <p:sldId id="448" r:id="rId6"/>
    <p:sldId id="378" r:id="rId7"/>
    <p:sldId id="441" r:id="rId8"/>
    <p:sldId id="442" r:id="rId9"/>
    <p:sldId id="465" r:id="rId10"/>
    <p:sldId id="449" r:id="rId11"/>
    <p:sldId id="443" r:id="rId12"/>
    <p:sldId id="444" r:id="rId13"/>
    <p:sldId id="450" r:id="rId14"/>
    <p:sldId id="452" r:id="rId15"/>
    <p:sldId id="453" r:id="rId16"/>
    <p:sldId id="454" r:id="rId17"/>
    <p:sldId id="456" r:id="rId18"/>
    <p:sldId id="457" r:id="rId19"/>
    <p:sldId id="458" r:id="rId20"/>
    <p:sldId id="461" r:id="rId21"/>
    <p:sldId id="462" r:id="rId22"/>
    <p:sldId id="459" r:id="rId23"/>
    <p:sldId id="463" r:id="rId24"/>
    <p:sldId id="464" r:id="rId25"/>
    <p:sldId id="466" r:id="rId26"/>
    <p:sldId id="467" r:id="rId27"/>
    <p:sldId id="471" r:id="rId28"/>
    <p:sldId id="460" r:id="rId29"/>
    <p:sldId id="445" r:id="rId30"/>
    <p:sldId id="446" r:id="rId3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E5F"/>
    <a:srgbClr val="FEA90F"/>
    <a:srgbClr val="F2AF0D"/>
    <a:srgbClr val="EE9E0E"/>
    <a:srgbClr val="F0AE0D"/>
    <a:srgbClr val="F8CD6A"/>
    <a:srgbClr val="E1922D"/>
    <a:srgbClr val="EE9A08"/>
    <a:srgbClr val="E89B25"/>
    <a:srgbClr val="99999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C9FAEEF-FD1B-4255-B5DD-5958272A0A33}" v="1" dt="2019-09-06T15:16:16.56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0625" autoAdjust="0"/>
  </p:normalViewPr>
  <p:slideViewPr>
    <p:cSldViewPr snapToGrid="0" snapToObjects="1">
      <p:cViewPr varScale="1">
        <p:scale>
          <a:sx n="150" d="100"/>
          <a:sy n="150" d="100"/>
        </p:scale>
        <p:origin x="474" y="114"/>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char Lovett" userId="0c6d1e87c56e93c6" providerId="LiveId" clId="{04C0EC21-F97B-4430-813D-88311B45044A}"/>
    <pc:docChg chg="modSld">
      <pc:chgData name="Shachar Lovett" userId="0c6d1e87c56e93c6" providerId="LiveId" clId="{04C0EC21-F97B-4430-813D-88311B45044A}" dt="2019-04-01T12:19:02.487" v="0"/>
      <pc:docMkLst>
        <pc:docMk/>
      </pc:docMkLst>
      <pc:sldChg chg="modSp">
        <pc:chgData name="Shachar Lovett" userId="0c6d1e87c56e93c6" providerId="LiveId" clId="{04C0EC21-F97B-4430-813D-88311B45044A}" dt="2019-04-01T12:19:02.487" v="0"/>
        <pc:sldMkLst>
          <pc:docMk/>
          <pc:sldMk cId="1882651833" sldId="256"/>
        </pc:sldMkLst>
        <pc:spChg chg="mod">
          <ac:chgData name="Shachar Lovett" userId="0c6d1e87c56e93c6" providerId="LiveId" clId="{04C0EC21-F97B-4430-813D-88311B45044A}" dt="2019-04-01T12:19:02.487" v="0"/>
          <ac:spMkLst>
            <pc:docMk/>
            <pc:sldMk cId="1882651833" sldId="256"/>
            <ac:spMk id="3" creationId="{00000000-0000-0000-0000-000000000000}"/>
          </ac:spMkLst>
        </pc:spChg>
      </pc:sldChg>
    </pc:docChg>
  </pc:docChgLst>
  <pc:docChgLst>
    <pc:chgData name="Shachar Lovett" userId="0c6d1e87c56e93c6" providerId="LiveId" clId="{EC9FAEEF-FD1B-4255-B5DD-5958272A0A33}"/>
    <pc:docChg chg="modSld">
      <pc:chgData name="Shachar Lovett" userId="0c6d1e87c56e93c6" providerId="LiveId" clId="{EC9FAEEF-FD1B-4255-B5DD-5958272A0A33}" dt="2019-09-06T15:16:16.566" v="0"/>
      <pc:docMkLst>
        <pc:docMk/>
      </pc:docMkLst>
      <pc:sldChg chg="modSp">
        <pc:chgData name="Shachar Lovett" userId="0c6d1e87c56e93c6" providerId="LiveId" clId="{EC9FAEEF-FD1B-4255-B5DD-5958272A0A33}" dt="2019-09-06T15:16:16.566" v="0"/>
        <pc:sldMkLst>
          <pc:docMk/>
          <pc:sldMk cId="1882651833" sldId="256"/>
        </pc:sldMkLst>
        <pc:spChg chg="mod">
          <ac:chgData name="Shachar Lovett" userId="0c6d1e87c56e93c6" providerId="LiveId" clId="{EC9FAEEF-FD1B-4255-B5DD-5958272A0A33}" dt="2019-09-06T15:16:16.566" v="0"/>
          <ac:spMkLst>
            <pc:docMk/>
            <pc:sldMk cId="1882651833" sldId="256"/>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028700"/>
            <a:ext cx="7848600" cy="1445419"/>
          </a:xfrm>
        </p:spPr>
        <p:txBody>
          <a:bodyPr anchor="b">
            <a:noAutofit/>
          </a:bodyPr>
          <a:lstStyle>
            <a:lvl1pPr>
              <a:defRPr sz="5400" cap="all" baseline="0"/>
            </a:lvl1pPr>
          </a:lstStyle>
          <a:p>
            <a:r>
              <a:rPr lang="en-CA"/>
              <a:t>Click to edit Master title style</a:t>
            </a:r>
            <a:endParaRPr lang="en-US" dirty="0"/>
          </a:p>
        </p:txBody>
      </p:sp>
      <p:sp>
        <p:nvSpPr>
          <p:cNvPr id="3" name="Subtitle 2"/>
          <p:cNvSpPr>
            <a:spLocks noGrp="1"/>
          </p:cNvSpPr>
          <p:nvPr>
            <p:ph type="subTitle" idx="1"/>
          </p:nvPr>
        </p:nvSpPr>
        <p:spPr>
          <a:xfrm>
            <a:off x="685800" y="2628900"/>
            <a:ext cx="6400800" cy="1314450"/>
          </a:xfrm>
        </p:spPr>
        <p:txBody>
          <a:bodyPr/>
          <a:lstStyle>
            <a:lvl1pPr marL="0" indent="0" algn="l">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CA"/>
              <a:t>Click to edit Master subtitle style</a:t>
            </a:r>
            <a:endParaRPr lang="en-US" dirty="0"/>
          </a:p>
        </p:txBody>
      </p:sp>
      <p:sp>
        <p:nvSpPr>
          <p:cNvPr id="4" name="Date Placeholder 3"/>
          <p:cNvSpPr>
            <a:spLocks noGrp="1"/>
          </p:cNvSpPr>
          <p:nvPr>
            <p:ph type="dt" sz="half" idx="10"/>
          </p:nvPr>
        </p:nvSpPr>
        <p:spPr/>
        <p:txBody>
          <a:bodyPr/>
          <a:lstStyle/>
          <a:p>
            <a:fld id="{E30E2307-1E40-4E12-8716-25BFDA8E7013}" type="datetime1">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754ED01-E2A0-4C1E-8E21-014B99041579}" type="slidenum">
              <a:rPr lang="en-US" smtClean="0"/>
              <a:pPr/>
              <a:t>‹#›</a:t>
            </a:fld>
            <a:endParaRPr lang="en-US"/>
          </a:p>
        </p:txBody>
      </p:sp>
      <p:cxnSp>
        <p:nvCxnSpPr>
          <p:cNvPr id="8" name="Straight Connector 7"/>
          <p:cNvCxnSpPr/>
          <p:nvPr/>
        </p:nvCxnSpPr>
        <p:spPr>
          <a:xfrm>
            <a:off x="685800" y="2548890"/>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idx="1"/>
          </p:nvPr>
        </p:nvSpPr>
        <p:spPr/>
        <p:txBody>
          <a:body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6396A3A3-94A6-4E5B-AF39-173ACA3E61CC}" type="datetime2">
              <a:rPr lang="en-US" smtClean="0"/>
              <a:t>Thursday, July 9,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22313" y="1771651"/>
            <a:ext cx="7772400" cy="1650206"/>
          </a:xfrm>
        </p:spPr>
        <p:txBody>
          <a:bodyPr anchor="b">
            <a:normAutofit/>
          </a:bodyPr>
          <a:lstStyle>
            <a:lvl1pPr algn="l">
              <a:defRPr sz="4800" b="0" cap="all"/>
            </a:lvl1pPr>
          </a:lstStyle>
          <a:p>
            <a:r>
              <a:rPr lang="en-CA"/>
              <a:t>Click to edit Master title style</a:t>
            </a:r>
            <a:endParaRPr lang="en-US" dirty="0"/>
          </a:p>
        </p:txBody>
      </p:sp>
      <p:sp>
        <p:nvSpPr>
          <p:cNvPr id="3" name="Text Placeholder 2"/>
          <p:cNvSpPr>
            <a:spLocks noGrp="1"/>
          </p:cNvSpPr>
          <p:nvPr>
            <p:ph type="body" idx="1"/>
          </p:nvPr>
        </p:nvSpPr>
        <p:spPr>
          <a:xfrm>
            <a:off x="722313" y="3470149"/>
            <a:ext cx="7772400" cy="1125140"/>
          </a:xfrm>
        </p:spPr>
        <p:txBody>
          <a:bodyPr anchor="t">
            <a:normAutofit/>
          </a:bodyPr>
          <a:lstStyle>
            <a:lvl1pPr marL="0" indent="0">
              <a:buNone/>
              <a:defRPr sz="24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CA"/>
              <a:t>Click to edit Master text styles</a:t>
            </a:r>
          </a:p>
        </p:txBody>
      </p:sp>
      <p:sp>
        <p:nvSpPr>
          <p:cNvPr id="4" name="Date Placeholder 3"/>
          <p:cNvSpPr>
            <a:spLocks noGrp="1"/>
          </p:cNvSpPr>
          <p:nvPr>
            <p:ph type="dt" sz="half" idx="10"/>
          </p:nvPr>
        </p:nvSpPr>
        <p:spPr/>
        <p:txBody>
          <a:bodyPr/>
          <a:lstStyle/>
          <a:p>
            <a:fld id="{7B8AEBBE-F8B2-42CF-9895-E86A608384EB}" type="datetime1">
              <a:rPr lang="en-US" smtClean="0"/>
              <a:pPr/>
              <a:t>7/9/2026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7D7A59-36E2-48B9-B146-C1E59501F63F}" type="slidenum">
              <a:rPr lang="en-US" smtClean="0"/>
              <a:pPr/>
              <a:t>‹#›</a:t>
            </a:fld>
            <a:endParaRPr lang="en-US"/>
          </a:p>
        </p:txBody>
      </p:sp>
      <p:cxnSp>
        <p:nvCxnSpPr>
          <p:cNvPr id="7" name="Straight Connector 6"/>
          <p:cNvCxnSpPr/>
          <p:nvPr/>
        </p:nvCxnSpPr>
        <p:spPr>
          <a:xfrm>
            <a:off x="731520" y="3449574"/>
            <a:ext cx="7848600" cy="1191"/>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Content Placeholder 2"/>
          <p:cNvSpPr>
            <a:spLocks noGrp="1"/>
          </p:cNvSpPr>
          <p:nvPr>
            <p:ph sz="half" idx="1"/>
          </p:nvPr>
        </p:nvSpPr>
        <p:spPr>
          <a:xfrm>
            <a:off x="457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Content Placeholder 3"/>
          <p:cNvSpPr>
            <a:spLocks noGrp="1"/>
          </p:cNvSpPr>
          <p:nvPr>
            <p:ph sz="half" idx="2"/>
          </p:nvPr>
        </p:nvSpPr>
        <p:spPr>
          <a:xfrm>
            <a:off x="4648200" y="1255014"/>
            <a:ext cx="4038600" cy="35387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Date Placeholder 4"/>
          <p:cNvSpPr>
            <a:spLocks noGrp="1"/>
          </p:cNvSpPr>
          <p:nvPr>
            <p:ph type="dt" sz="half" idx="10"/>
          </p:nvPr>
        </p:nvSpPr>
        <p:spPr/>
        <p:txBody>
          <a:bodyPr/>
          <a:lstStyle/>
          <a:p>
            <a:fld id="{CCEBA98F-560C-4997-81C4-81D4D9187EAB}" type="datetime2">
              <a:rPr lang="en-US" smtClean="0"/>
              <a:t>Thursday, July 9,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CA"/>
              <a:t>Click to edit Master title style</a:t>
            </a:r>
            <a:endParaRPr lang="en-US" dirty="0"/>
          </a:p>
        </p:txBody>
      </p:sp>
      <p:sp>
        <p:nvSpPr>
          <p:cNvPr id="3" name="Text Placeholder 2"/>
          <p:cNvSpPr>
            <a:spLocks noGrp="1"/>
          </p:cNvSpPr>
          <p:nvPr>
            <p:ph type="body" idx="1"/>
          </p:nvPr>
        </p:nvSpPr>
        <p:spPr>
          <a:xfrm>
            <a:off x="45720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4" name="Content Placeholder 3"/>
          <p:cNvSpPr>
            <a:spLocks noGrp="1"/>
          </p:cNvSpPr>
          <p:nvPr>
            <p:ph sz="half" idx="2"/>
          </p:nvPr>
        </p:nvSpPr>
        <p:spPr>
          <a:xfrm>
            <a:off x="45720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5" name="Text Placeholder 4"/>
          <p:cNvSpPr>
            <a:spLocks noGrp="1"/>
          </p:cNvSpPr>
          <p:nvPr>
            <p:ph type="body" sz="quarter" idx="3"/>
          </p:nvPr>
        </p:nvSpPr>
        <p:spPr>
          <a:xfrm>
            <a:off x="4754880" y="1257300"/>
            <a:ext cx="3931920" cy="479822"/>
          </a:xfrm>
          <a:noFill/>
          <a:ln>
            <a:noFill/>
          </a:ln>
          <a:effectLst/>
        </p:spPr>
        <p:style>
          <a:lnRef idx="3">
            <a:schemeClr val="lt1"/>
          </a:lnRef>
          <a:fillRef idx="1">
            <a:schemeClr val="accent2"/>
          </a:fillRef>
          <a:effectRef idx="1">
            <a:schemeClr val="accent2"/>
          </a:effectRef>
          <a:fontRef idx="none"/>
        </p:style>
        <p:txBody>
          <a:bodyPr anchor="ctr">
            <a:normAutofit/>
          </a:bodyPr>
          <a:lstStyle>
            <a:lvl1pPr marL="0" indent="0" algn="ctr">
              <a:buNone/>
              <a:defRPr lang="en-US" sz="2000" b="0" kern="1200" dirty="0" smtClean="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CA"/>
              <a:t>Click to edit Master text styles</a:t>
            </a:r>
          </a:p>
        </p:txBody>
      </p:sp>
      <p:sp>
        <p:nvSpPr>
          <p:cNvPr id="6" name="Content Placeholder 5"/>
          <p:cNvSpPr>
            <a:spLocks noGrp="1"/>
          </p:cNvSpPr>
          <p:nvPr>
            <p:ph sz="quarter" idx="4"/>
          </p:nvPr>
        </p:nvSpPr>
        <p:spPr>
          <a:xfrm>
            <a:off x="4754880" y="1828800"/>
            <a:ext cx="3931920"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7" name="Date Placeholder 6"/>
          <p:cNvSpPr>
            <a:spLocks noGrp="1"/>
          </p:cNvSpPr>
          <p:nvPr>
            <p:ph type="dt" sz="half" idx="10"/>
          </p:nvPr>
        </p:nvSpPr>
        <p:spPr/>
        <p:txBody>
          <a:bodyPr/>
          <a:lstStyle/>
          <a:p>
            <a:fld id="{150972B2-CA5C-437D-87D0-8081271A9E4B}" type="datetime2">
              <a:rPr lang="en-US" smtClean="0"/>
              <a:t>Thursday, July 9, 2026</a:t>
            </a:fld>
            <a:endParaRPr lang="en-US"/>
          </a:p>
        </p:txBody>
      </p:sp>
      <p:sp>
        <p:nvSpPr>
          <p:cNvPr id="8" name="Footer Placeholder 7"/>
          <p:cNvSpPr>
            <a:spLocks noGrp="1"/>
          </p:cNvSpPr>
          <p:nvPr>
            <p:ph type="ftr" sz="quarter" idx="11"/>
          </p:nvPr>
        </p:nvSpPr>
        <p:spPr/>
        <p:txBody>
          <a:bodyPr/>
          <a:lstStyle/>
          <a:p>
            <a:pPr algn="r"/>
            <a:endParaRPr lang="en-US" dirty="0"/>
          </a:p>
        </p:txBody>
      </p:sp>
      <p:sp>
        <p:nvSpPr>
          <p:cNvPr id="9" name="Slide Number Placeholder 8"/>
          <p:cNvSpPr>
            <a:spLocks noGrp="1"/>
          </p:cNvSpPr>
          <p:nvPr>
            <p:ph type="sldNum" sz="quarter" idx="12"/>
          </p:nvPr>
        </p:nvSpPr>
        <p:spPr/>
        <p:txBody>
          <a:bodyPr/>
          <a:lstStyle/>
          <a:p>
            <a:fld id="{0CFEC368-1D7A-4F81-ABF6-AE0E36BAF64C}" type="slidenum">
              <a:rPr lang="en-US" smtClean="0"/>
              <a:pPr/>
              <a:t>‹#›</a:t>
            </a:fld>
            <a:endParaRPr lang="en-US"/>
          </a:p>
        </p:txBody>
      </p:sp>
      <p:cxnSp>
        <p:nvCxnSpPr>
          <p:cNvPr id="11" name="Straight Connector 10"/>
          <p:cNvCxnSpPr/>
          <p:nvPr/>
        </p:nvCxnSpPr>
        <p:spPr>
          <a:xfrm rot="5400000">
            <a:off x="2806462" y="3034268"/>
            <a:ext cx="3531870" cy="794"/>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Date Placeholder 2"/>
          <p:cNvSpPr>
            <a:spLocks noGrp="1"/>
          </p:cNvSpPr>
          <p:nvPr>
            <p:ph type="dt" sz="half" idx="10"/>
          </p:nvPr>
        </p:nvSpPr>
        <p:spPr/>
        <p:txBody>
          <a:bodyPr/>
          <a:lstStyle/>
          <a:p>
            <a:fld id="{79CD4847-11EF-4466-A8AD-85CDB7B49118}" type="datetime2">
              <a:rPr lang="en-US" smtClean="0"/>
              <a:t>Thursday, July 9, 2026</a:t>
            </a:fld>
            <a:endParaRPr lang="en-US"/>
          </a:p>
        </p:txBody>
      </p:sp>
      <p:sp>
        <p:nvSpPr>
          <p:cNvPr id="4" name="Footer Placeholder 3"/>
          <p:cNvSpPr>
            <a:spLocks noGrp="1"/>
          </p:cNvSpPr>
          <p:nvPr>
            <p:ph type="ftr" sz="quarter" idx="11"/>
          </p:nvPr>
        </p:nvSpPr>
        <p:spPr/>
        <p:txBody>
          <a:bodyPr/>
          <a:lstStyle/>
          <a:p>
            <a:pPr algn="r"/>
            <a:endParaRPr lang="en-US" dirty="0"/>
          </a:p>
        </p:txBody>
      </p:sp>
      <p:sp>
        <p:nvSpPr>
          <p:cNvPr id="5" name="Slide Number Placeholder 4"/>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168457A-3AB9-4880-8A0C-9F8524491207}" type="datetime2">
              <a:rPr lang="en-US" smtClean="0"/>
              <a:t>Thursday, July 9, 2026</a:t>
            </a:fld>
            <a:endParaRPr lang="en-US"/>
          </a:p>
        </p:txBody>
      </p:sp>
      <p:sp>
        <p:nvSpPr>
          <p:cNvPr id="3" name="Footer Placeholder 2"/>
          <p:cNvSpPr>
            <a:spLocks noGrp="1"/>
          </p:cNvSpPr>
          <p:nvPr>
            <p:ph type="ftr" sz="quarter" idx="11"/>
          </p:nvPr>
        </p:nvSpPr>
        <p:spPr/>
        <p:txBody>
          <a:bodyPr/>
          <a:lstStyle/>
          <a:p>
            <a:pPr algn="r"/>
            <a:endParaRPr lang="en-US" dirty="0"/>
          </a:p>
        </p:txBody>
      </p:sp>
      <p:sp>
        <p:nvSpPr>
          <p:cNvPr id="4" name="Slide Number Placeholder 3"/>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060"/>
            <a:ext cx="2139696" cy="946404"/>
          </a:xfrm>
        </p:spPr>
        <p:txBody>
          <a:bodyPr anchor="b">
            <a:noAutofit/>
          </a:bodyPr>
          <a:lstStyle>
            <a:lvl1pPr algn="l">
              <a:defRPr sz="2400" b="0"/>
            </a:lvl1pPr>
          </a:lstStyle>
          <a:p>
            <a:r>
              <a:rPr lang="en-CA"/>
              <a:t>Click to edit Master title style</a:t>
            </a:r>
            <a:endParaRPr lang="en-US" dirty="0"/>
          </a:p>
        </p:txBody>
      </p:sp>
      <p:sp>
        <p:nvSpPr>
          <p:cNvPr id="3" name="Content Placeholder 2"/>
          <p:cNvSpPr>
            <a:spLocks noGrp="1"/>
          </p:cNvSpPr>
          <p:nvPr>
            <p:ph idx="1"/>
          </p:nvPr>
        </p:nvSpPr>
        <p:spPr>
          <a:xfrm>
            <a:off x="2971800" y="594060"/>
            <a:ext cx="5715000" cy="418338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Text Placeholder 3"/>
          <p:cNvSpPr>
            <a:spLocks noGrp="1"/>
          </p:cNvSpPr>
          <p:nvPr>
            <p:ph type="body" sz="half" idx="2"/>
          </p:nvPr>
        </p:nvSpPr>
        <p:spPr>
          <a:xfrm>
            <a:off x="457201" y="1597915"/>
            <a:ext cx="2139696" cy="31827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3FE976D3-5B7F-4300-ABED-C91F1B2AE209}" type="datetime2">
              <a:rPr lang="en-US" smtClean="0"/>
              <a:t>Thursday, July 9,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2754ED01-E2A0-4C1E-8E21-014B99041579}" type="slidenum">
              <a:rPr lang="en-US" smtClean="0"/>
              <a:pPr/>
              <a:t>‹#›</a:t>
            </a:fld>
            <a:endParaRPr lang="en-US" dirty="0"/>
          </a:p>
        </p:txBody>
      </p:sp>
      <p:cxnSp>
        <p:nvCxnSpPr>
          <p:cNvPr id="9" name="Straight Connector 8"/>
          <p:cNvCxnSpPr/>
          <p:nvPr/>
        </p:nvCxnSpPr>
        <p:spPr>
          <a:xfrm rot="5400000">
            <a:off x="684114" y="2684956"/>
            <a:ext cx="4183380" cy="1588"/>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594360"/>
            <a:ext cx="2142680" cy="948690"/>
          </a:xfrm>
        </p:spPr>
        <p:txBody>
          <a:bodyPr anchor="b">
            <a:normAutofit/>
          </a:bodyPr>
          <a:lstStyle>
            <a:lvl1pPr algn="l">
              <a:defRPr sz="2400" b="0"/>
            </a:lvl1pPr>
          </a:lstStyle>
          <a:p>
            <a:r>
              <a:rPr lang="en-CA"/>
              <a:t>Click to edit Master title style</a:t>
            </a:r>
            <a:endParaRPr lang="en-US" dirty="0"/>
          </a:p>
        </p:txBody>
      </p:sp>
      <p:sp>
        <p:nvSpPr>
          <p:cNvPr id="3" name="Picture Placeholder 2"/>
          <p:cNvSpPr>
            <a:spLocks noGrp="1"/>
          </p:cNvSpPr>
          <p:nvPr>
            <p:ph type="pic" idx="1"/>
          </p:nvPr>
        </p:nvSpPr>
        <p:spPr>
          <a:xfrm>
            <a:off x="2858610" y="628651"/>
            <a:ext cx="5904390" cy="4125342"/>
          </a:xfrm>
          <a:solidFill>
            <a:schemeClr val="bg2"/>
          </a:solidFill>
          <a:ln w="76200">
            <a:solidFill>
              <a:srgbClr val="FFFFFF"/>
            </a:solidFill>
            <a:miter lim="800000"/>
          </a:ln>
          <a:effectLst>
            <a:outerShdw blurRad="50800" dist="12700" dir="5400000" algn="t" rotWithShape="0">
              <a:prstClr val="black">
                <a:alpha val="59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CA"/>
              <a:t>Drag picture to placeholder or click icon to add</a:t>
            </a:r>
            <a:endParaRPr lang="en-US" dirty="0"/>
          </a:p>
        </p:txBody>
      </p:sp>
      <p:sp>
        <p:nvSpPr>
          <p:cNvPr id="4" name="Text Placeholder 3"/>
          <p:cNvSpPr>
            <a:spLocks noGrp="1"/>
          </p:cNvSpPr>
          <p:nvPr>
            <p:ph type="body" sz="half" idx="2"/>
          </p:nvPr>
        </p:nvSpPr>
        <p:spPr>
          <a:xfrm>
            <a:off x="457200" y="1600200"/>
            <a:ext cx="2139696" cy="318211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CA"/>
              <a:t>Click to edit Master text styles</a:t>
            </a:r>
          </a:p>
        </p:txBody>
      </p:sp>
      <p:sp>
        <p:nvSpPr>
          <p:cNvPr id="5" name="Date Placeholder 4"/>
          <p:cNvSpPr>
            <a:spLocks noGrp="1"/>
          </p:cNvSpPr>
          <p:nvPr>
            <p:ph type="dt" sz="half" idx="10"/>
          </p:nvPr>
        </p:nvSpPr>
        <p:spPr/>
        <p:txBody>
          <a:bodyPr/>
          <a:lstStyle/>
          <a:p>
            <a:fld id="{EBDC1E59-17DD-41CE-97CA-624A472382D4}" type="datetime2">
              <a:rPr lang="en-US" smtClean="0"/>
              <a:t>Thursday, July 9, 2026</a:t>
            </a:fld>
            <a:endParaRPr lang="en-US"/>
          </a:p>
        </p:txBody>
      </p:sp>
      <p:sp>
        <p:nvSpPr>
          <p:cNvPr id="6" name="Footer Placeholder 5"/>
          <p:cNvSpPr>
            <a:spLocks noGrp="1"/>
          </p:cNvSpPr>
          <p:nvPr>
            <p:ph type="ftr" sz="quarter" idx="11"/>
          </p:nvPr>
        </p:nvSpPr>
        <p:spPr/>
        <p:txBody>
          <a:bodyPr/>
          <a:lstStyle/>
          <a:p>
            <a:pPr algn="r"/>
            <a:endParaRPr lang="en-US" dirty="0"/>
          </a:p>
        </p:txBody>
      </p:sp>
      <p:sp>
        <p:nvSpPr>
          <p:cNvPr id="7" name="Slide Number Placeholder 6"/>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a:p>
        </p:txBody>
      </p:sp>
      <p:sp>
        <p:nvSpPr>
          <p:cNvPr id="4" name="Date Placeholder 3"/>
          <p:cNvSpPr>
            <a:spLocks noGrp="1"/>
          </p:cNvSpPr>
          <p:nvPr>
            <p:ph type="dt" sz="half" idx="10"/>
          </p:nvPr>
        </p:nvSpPr>
        <p:spPr/>
        <p:txBody>
          <a:bodyPr/>
          <a:lstStyle/>
          <a:p>
            <a:fld id="{8CC057FC-95B6-4D89-AFDA-ABA33EE921E5}" type="datetime2">
              <a:rPr lang="en-US" smtClean="0"/>
              <a:t>Thursday, July 9,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457200"/>
            <a:ext cx="2057400" cy="4400550"/>
          </a:xfrm>
        </p:spPr>
        <p:txBody>
          <a:bodyPr vert="eaVert" anchor="b"/>
          <a:lstStyle/>
          <a:p>
            <a:r>
              <a:rPr lang="en-CA"/>
              <a:t>Click to edit Master title style</a:t>
            </a:r>
            <a:endParaRPr lang="en-US" dirty="0"/>
          </a:p>
        </p:txBody>
      </p:sp>
      <p:sp>
        <p:nvSpPr>
          <p:cNvPr id="3" name="Vertical Text Placeholder 2"/>
          <p:cNvSpPr>
            <a:spLocks noGrp="1"/>
          </p:cNvSpPr>
          <p:nvPr>
            <p:ph type="body" orient="vert" idx="1"/>
          </p:nvPr>
        </p:nvSpPr>
        <p:spPr>
          <a:xfrm>
            <a:off x="457200" y="457200"/>
            <a:ext cx="6019800" cy="4400550"/>
          </a:xfrm>
        </p:spPr>
        <p:txBody>
          <a:bodyPr vert="eaVert"/>
          <a:lstStyle/>
          <a:p>
            <a:pPr lvl="0"/>
            <a:r>
              <a:rPr lang="en-CA"/>
              <a:t>Click to edit Master text styles</a:t>
            </a:r>
          </a:p>
          <a:p>
            <a:pPr lvl="1"/>
            <a:r>
              <a:rPr lang="en-CA"/>
              <a:t>Second level</a:t>
            </a:r>
          </a:p>
          <a:p>
            <a:pPr lvl="2"/>
            <a:r>
              <a:rPr lang="en-CA"/>
              <a:t>Third level</a:t>
            </a:r>
          </a:p>
          <a:p>
            <a:pPr lvl="3"/>
            <a:r>
              <a:rPr lang="en-CA"/>
              <a:t>Fourth level</a:t>
            </a:r>
          </a:p>
          <a:p>
            <a:pPr lvl="4"/>
            <a:r>
              <a:rPr lang="en-CA"/>
              <a:t>Fifth level</a:t>
            </a:r>
            <a:endParaRPr lang="en-US" dirty="0"/>
          </a:p>
        </p:txBody>
      </p:sp>
      <p:sp>
        <p:nvSpPr>
          <p:cNvPr id="4" name="Date Placeholder 3"/>
          <p:cNvSpPr>
            <a:spLocks noGrp="1"/>
          </p:cNvSpPr>
          <p:nvPr>
            <p:ph type="dt" sz="half" idx="10"/>
          </p:nvPr>
        </p:nvSpPr>
        <p:spPr/>
        <p:txBody>
          <a:bodyPr/>
          <a:lstStyle/>
          <a:p>
            <a:fld id="{EC4549AC-EB31-477F-92A9-B1988E232878}" type="datetime2">
              <a:rPr lang="en-US" smtClean="0"/>
              <a:t>Thursday, July 9, 2026</a:t>
            </a:fld>
            <a:endParaRPr lang="en-US"/>
          </a:p>
        </p:txBody>
      </p:sp>
      <p:sp>
        <p:nvSpPr>
          <p:cNvPr id="5" name="Footer Placeholder 4"/>
          <p:cNvSpPr>
            <a:spLocks noGrp="1"/>
          </p:cNvSpPr>
          <p:nvPr>
            <p:ph type="ftr" sz="quarter" idx="11"/>
          </p:nvPr>
        </p:nvSpPr>
        <p:spPr/>
        <p:txBody>
          <a:bodyPr/>
          <a:lstStyle/>
          <a:p>
            <a:pPr algn="r"/>
            <a:endParaRPr lang="en-US" dirty="0"/>
          </a:p>
        </p:txBody>
      </p:sp>
      <p:sp>
        <p:nvSpPr>
          <p:cNvPr id="6" name="Slide Number Placeholder 5"/>
          <p:cNvSpPr>
            <a:spLocks noGrp="1"/>
          </p:cNvSpPr>
          <p:nvPr>
            <p:ph type="sldNum" sz="quarter" idx="12"/>
          </p:nvPr>
        </p:nvSpPr>
        <p:spPr/>
        <p:txBody>
          <a:bodyPr/>
          <a:lstStyle/>
          <a:p>
            <a:fld id="{0CFEC368-1D7A-4F81-ABF6-AE0E36BAF64C}"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p:cNvSpPr/>
          <p:nvPr/>
        </p:nvSpPr>
        <p:spPr>
          <a:xfrm>
            <a:off x="0" y="165590"/>
            <a:ext cx="9144000" cy="17145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400050"/>
            <a:ext cx="8229600" cy="742950"/>
          </a:xfrm>
          <a:prstGeom prst="rect">
            <a:avLst/>
          </a:prstGeom>
        </p:spPr>
        <p:txBody>
          <a:bodyPr vert="horz" lIns="91440" tIns="45720" rIns="91440" bIns="45720" rtlCol="0" anchor="ctr">
            <a:normAutofit/>
          </a:bodyPr>
          <a:lstStyle/>
          <a:p>
            <a:r>
              <a:rPr lang="en-CA"/>
              <a:t>Click to edit Master title style</a:t>
            </a:r>
            <a:endParaRPr lang="en-US" dirty="0"/>
          </a:p>
        </p:txBody>
      </p:sp>
      <p:sp>
        <p:nvSpPr>
          <p:cNvPr id="3" name="Text Placeholder 2"/>
          <p:cNvSpPr>
            <a:spLocks noGrp="1"/>
          </p:cNvSpPr>
          <p:nvPr>
            <p:ph type="body" idx="1"/>
          </p:nvPr>
        </p:nvSpPr>
        <p:spPr>
          <a:xfrm>
            <a:off x="457200" y="1200150"/>
            <a:ext cx="8229600" cy="3657600"/>
          </a:xfrm>
          <a:prstGeom prst="rect">
            <a:avLst/>
          </a:prstGeom>
        </p:spPr>
        <p:txBody>
          <a:bodyPr vert="horz" lIns="91440" tIns="45720" rIns="91440" bIns="45720" rtlCol="0">
            <a:normAutofit/>
          </a:bodyPr>
          <a:lstStyle/>
          <a:p>
            <a:pPr lvl="0"/>
            <a:r>
              <a:rPr lang="en-CA" dirty="0"/>
              <a:t>Click to edit Master text styles</a:t>
            </a:r>
          </a:p>
          <a:p>
            <a:pPr lvl="1"/>
            <a:r>
              <a:rPr lang="en-CA" dirty="0"/>
              <a:t>Second level</a:t>
            </a:r>
          </a:p>
          <a:p>
            <a:pPr lvl="2"/>
            <a:r>
              <a:rPr lang="en-CA" dirty="0"/>
              <a:t>Third level</a:t>
            </a:r>
          </a:p>
          <a:p>
            <a:pPr lvl="3"/>
            <a:r>
              <a:rPr lang="en-CA" dirty="0"/>
              <a:t>Fourth level</a:t>
            </a:r>
          </a:p>
          <a:p>
            <a:pPr lvl="4"/>
            <a:r>
              <a:rPr lang="en-CA" dirty="0"/>
              <a:t>Fifth level</a:t>
            </a:r>
            <a:endParaRPr lang="en-US" dirty="0"/>
          </a:p>
        </p:txBody>
      </p:sp>
      <p:sp>
        <p:nvSpPr>
          <p:cNvPr id="7" name="Rectangle 6"/>
          <p:cNvSpPr/>
          <p:nvPr/>
        </p:nvSpPr>
        <p:spPr>
          <a:xfrm>
            <a:off x="0" y="0"/>
            <a:ext cx="9144000" cy="27432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2"/>
          </p:nvPr>
        </p:nvSpPr>
        <p:spPr>
          <a:xfrm>
            <a:off x="457200" y="13716"/>
            <a:ext cx="2895600" cy="246888"/>
          </a:xfrm>
          <a:prstGeom prst="rect">
            <a:avLst/>
          </a:prstGeom>
        </p:spPr>
        <p:txBody>
          <a:bodyPr vert="horz" lIns="91440" tIns="45720" rIns="91440" bIns="45720" rtlCol="0" anchor="ctr"/>
          <a:lstStyle>
            <a:lvl1pPr algn="l">
              <a:defRPr sz="1200">
                <a:solidFill>
                  <a:srgbClr val="FFFFFF"/>
                </a:solidFill>
              </a:defRPr>
            </a:lvl1pPr>
          </a:lstStyle>
          <a:p>
            <a:fld id="{A80CB818-7379-467D-8E76-EF9D9074A26C}" type="datetime2">
              <a:rPr lang="en-US" smtClean="0"/>
              <a:t>Thursday, July 9, 2026</a:t>
            </a:fld>
            <a:endParaRPr lang="en-US" dirty="0"/>
          </a:p>
        </p:txBody>
      </p:sp>
      <p:sp>
        <p:nvSpPr>
          <p:cNvPr id="5" name="Footer Placeholder 4"/>
          <p:cNvSpPr>
            <a:spLocks noGrp="1"/>
          </p:cNvSpPr>
          <p:nvPr>
            <p:ph type="ftr" sz="quarter" idx="3"/>
          </p:nvPr>
        </p:nvSpPr>
        <p:spPr>
          <a:xfrm>
            <a:off x="3429000" y="13716"/>
            <a:ext cx="4114800" cy="246888"/>
          </a:xfrm>
          <a:prstGeom prst="rect">
            <a:avLst/>
          </a:prstGeom>
        </p:spPr>
        <p:txBody>
          <a:bodyPr vert="horz" lIns="91440" tIns="45720" rIns="91440" bIns="45720" rtlCol="0" anchor="ctr"/>
          <a:lstStyle>
            <a:lvl1pPr algn="ctr">
              <a:defRPr sz="1200">
                <a:solidFill>
                  <a:srgbClr val="FFFFFF"/>
                </a:solidFill>
              </a:defRPr>
            </a:lvl1pPr>
          </a:lstStyle>
          <a:p>
            <a:pPr algn="r"/>
            <a:endParaRPr lang="en-US" dirty="0"/>
          </a:p>
        </p:txBody>
      </p:sp>
      <p:sp>
        <p:nvSpPr>
          <p:cNvPr id="6" name="Slide Number Placeholder 5"/>
          <p:cNvSpPr>
            <a:spLocks noGrp="1"/>
          </p:cNvSpPr>
          <p:nvPr>
            <p:ph type="sldNum" sz="quarter" idx="4"/>
          </p:nvPr>
        </p:nvSpPr>
        <p:spPr>
          <a:xfrm>
            <a:off x="7620000" y="13716"/>
            <a:ext cx="1066800" cy="246888"/>
          </a:xfrm>
          <a:prstGeom prst="rect">
            <a:avLst/>
          </a:prstGeom>
        </p:spPr>
        <p:txBody>
          <a:bodyPr vert="horz" lIns="91440" tIns="45720" rIns="91440" bIns="45720" rtlCol="0" anchor="ctr"/>
          <a:lstStyle>
            <a:lvl1pPr algn="l">
              <a:defRPr sz="1400" b="1">
                <a:solidFill>
                  <a:srgbClr val="FFFFFF"/>
                </a:solidFill>
              </a:defRPr>
            </a:lvl1pPr>
          </a:lstStyle>
          <a:p>
            <a:fld id="{0CFEC368-1D7A-4F81-ABF6-AE0E36BAF64C}"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Lst>
  <p:hf sldNum="0" hdr="0" ftr="0" dt="0"/>
  <p:txStyles>
    <p:titleStyle>
      <a:lvl1pPr algn="l" defTabSz="914400" rtl="0" eaLnBrk="1" latinLnBrk="0" hangingPunct="1">
        <a:spcBef>
          <a:spcPct val="0"/>
        </a:spcBef>
        <a:buNone/>
        <a:defRPr sz="4000" kern="1200" spc="-100" baseline="0">
          <a:solidFill>
            <a:schemeClr val="tx2"/>
          </a:solidFill>
          <a:latin typeface="+mj-lt"/>
          <a:ea typeface="+mj-ea"/>
          <a:cs typeface="+mj-cs"/>
        </a:defRPr>
      </a:lvl1pPr>
    </p:titleStyle>
    <p:bodyStyle>
      <a:lvl1pPr marL="182880" indent="-182880" algn="l" defTabSz="914400" rtl="0" eaLnBrk="1" latinLnBrk="0" hangingPunct="1">
        <a:spcBef>
          <a:spcPct val="20000"/>
        </a:spcBef>
        <a:buClr>
          <a:schemeClr val="accent1"/>
        </a:buClr>
        <a:buSzPct val="85000"/>
        <a:buFont typeface="Arial" pitchFamily="34" charset="0"/>
        <a:buChar char="•"/>
        <a:defRPr sz="2400" kern="1200">
          <a:solidFill>
            <a:schemeClr val="tx1"/>
          </a:solidFill>
          <a:latin typeface="+mn-lt"/>
          <a:ea typeface="+mn-ea"/>
          <a:cs typeface="+mn-cs"/>
        </a:defRPr>
      </a:lvl1pPr>
      <a:lvl2pPr marL="457200" indent="-182880" algn="l" defTabSz="914400" rtl="0" eaLnBrk="1" latinLnBrk="0" hangingPunct="1">
        <a:spcBef>
          <a:spcPct val="20000"/>
        </a:spcBef>
        <a:buClr>
          <a:schemeClr val="accent1"/>
        </a:buClr>
        <a:buSzPct val="85000"/>
        <a:buFont typeface="Arial" pitchFamily="34" charset="0"/>
        <a:buChar char="•"/>
        <a:defRPr sz="2000" kern="1200">
          <a:solidFill>
            <a:schemeClr val="tx1"/>
          </a:solidFill>
          <a:latin typeface="+mn-lt"/>
          <a:ea typeface="+mn-ea"/>
          <a:cs typeface="+mn-cs"/>
        </a:defRPr>
      </a:lvl2pPr>
      <a:lvl3pPr marL="731520" indent="-182880" algn="l" defTabSz="914400" rtl="0" eaLnBrk="1" latinLnBrk="0" hangingPunct="1">
        <a:spcBef>
          <a:spcPct val="20000"/>
        </a:spcBef>
        <a:buClr>
          <a:schemeClr val="accent1"/>
        </a:buClr>
        <a:buSzPct val="90000"/>
        <a:buFont typeface="Arial" pitchFamily="34" charset="0"/>
        <a:buChar char="•"/>
        <a:defRPr sz="1800" kern="1200">
          <a:solidFill>
            <a:schemeClr val="tx1"/>
          </a:solidFill>
          <a:latin typeface="+mn-lt"/>
          <a:ea typeface="+mn-ea"/>
          <a:cs typeface="+mn-cs"/>
        </a:defRPr>
      </a:lvl3pPr>
      <a:lvl4pPr marL="1005840" indent="-182880" algn="l" defTabSz="914400" rtl="0" eaLnBrk="1" latinLnBrk="0" hangingPunct="1">
        <a:spcBef>
          <a:spcPct val="20000"/>
        </a:spcBef>
        <a:buClr>
          <a:schemeClr val="accent1"/>
        </a:buClr>
        <a:buFont typeface="Arial" pitchFamily="34" charset="0"/>
        <a:buChar char="•"/>
        <a:defRPr sz="1600" kern="1200">
          <a:solidFill>
            <a:schemeClr val="tx1"/>
          </a:solidFill>
          <a:latin typeface="+mn-lt"/>
          <a:ea typeface="+mn-ea"/>
          <a:cs typeface="+mn-cs"/>
        </a:defRPr>
      </a:lvl4pPr>
      <a:lvl5pPr marL="1188720" indent="-137160" algn="l" defTabSz="914400" rtl="0" eaLnBrk="1" latinLnBrk="0" hangingPunct="1">
        <a:spcBef>
          <a:spcPct val="20000"/>
        </a:spcBef>
        <a:buClr>
          <a:schemeClr val="accent1"/>
        </a:buClr>
        <a:buSzPct val="100000"/>
        <a:buFont typeface="Arial" pitchFamily="34" charset="0"/>
        <a:buChar char="•"/>
        <a:defRPr sz="1400" kern="1200" baseline="0">
          <a:solidFill>
            <a:schemeClr val="tx1"/>
          </a:solidFill>
          <a:latin typeface="+mn-lt"/>
          <a:ea typeface="+mn-ea"/>
          <a:cs typeface="+mn-cs"/>
        </a:defRPr>
      </a:lvl5pPr>
      <a:lvl6pPr marL="137160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6pPr>
      <a:lvl7pPr marL="155448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7pPr>
      <a:lvl8pPr marL="173736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8pPr>
      <a:lvl9pPr marL="1920240" indent="-182880" algn="l" defTabSz="914400" rtl="0" eaLnBrk="1" latinLnBrk="0" hangingPunct="1">
        <a:spcBef>
          <a:spcPct val="20000"/>
        </a:spcBef>
        <a:buClr>
          <a:schemeClr val="accent1"/>
        </a:buClr>
        <a:buFont typeface="Arial" pitchFamily="34" charset="0"/>
        <a:buChar char="•"/>
        <a:defRPr sz="13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Autofit/>
          </a:bodyPr>
          <a:lstStyle/>
          <a:p>
            <a:r>
              <a:rPr lang="en-US" sz="4800" dirty="0"/>
              <a:t>CSE331</a:t>
            </a:r>
            <a:br>
              <a:rPr lang="en-US" sz="4800" dirty="0"/>
            </a:br>
            <a:r>
              <a:rPr lang="en-US" sz="3600" dirty="0"/>
              <a:t>Automata and computability</a:t>
            </a:r>
          </a:p>
        </p:txBody>
      </p:sp>
      <p:sp>
        <p:nvSpPr>
          <p:cNvPr id="3" name="Subtitle 2"/>
          <p:cNvSpPr>
            <a:spLocks noGrp="1"/>
          </p:cNvSpPr>
          <p:nvPr>
            <p:ph type="subTitle" idx="1"/>
          </p:nvPr>
        </p:nvSpPr>
        <p:spPr>
          <a:xfrm>
            <a:off x="685802" y="2628901"/>
            <a:ext cx="7521575" cy="2234159"/>
          </a:xfrm>
        </p:spPr>
        <p:txBody>
          <a:bodyPr>
            <a:normAutofit/>
          </a:bodyPr>
          <a:lstStyle/>
          <a:p>
            <a:r>
              <a:rPr lang="en-US" dirty="0">
                <a:solidFill>
                  <a:srgbClr val="FF0000"/>
                </a:solidFill>
              </a:rPr>
              <a:t>Regular Expression</a:t>
            </a:r>
          </a:p>
          <a:p>
            <a:endParaRPr lang="en-US" dirty="0"/>
          </a:p>
          <a:p>
            <a:r>
              <a:rPr lang="en-US"/>
              <a:t>Summer </a:t>
            </a:r>
            <a:r>
              <a:rPr lang="en-US" dirty="0"/>
              <a:t>2026</a:t>
            </a:r>
          </a:p>
          <a:p>
            <a:endParaRPr lang="en-US" dirty="0"/>
          </a:p>
        </p:txBody>
      </p:sp>
    </p:spTree>
    <p:extLst>
      <p:ext uri="{BB962C8B-B14F-4D97-AF65-F5344CB8AC3E}">
        <p14:creationId xmlns:p14="http://schemas.microsoft.com/office/powerpoint/2010/main" val="18826518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Today's learning goals	</a:t>
            </a:r>
            <a:r>
              <a:rPr lang="en-US" sz="2400" dirty="0" err="1"/>
              <a:t>Sipser</a:t>
            </a:r>
            <a:r>
              <a:rPr lang="en-US" sz="2400" dirty="0"/>
              <a:t> Ch 1.3</a:t>
            </a:r>
            <a:endParaRPr lang="en-US" dirty="0"/>
          </a:p>
        </p:txBody>
      </p:sp>
      <p:sp>
        <p:nvSpPr>
          <p:cNvPr id="3" name="Content Placeholder 2"/>
          <p:cNvSpPr>
            <a:spLocks noGrp="1"/>
          </p:cNvSpPr>
          <p:nvPr>
            <p:ph idx="1"/>
          </p:nvPr>
        </p:nvSpPr>
        <p:spPr/>
        <p:txBody>
          <a:bodyPr>
            <a:normAutofit/>
          </a:bodyPr>
          <a:lstStyle/>
          <a:p>
            <a:r>
              <a:rPr lang="en-US" dirty="0"/>
              <a:t>Decide whether or not a string is described by a given regular expression</a:t>
            </a:r>
          </a:p>
          <a:p>
            <a:r>
              <a:rPr lang="en-US" dirty="0"/>
              <a:t>Design a regular expression to describe a given language</a:t>
            </a:r>
          </a:p>
          <a:p>
            <a:pPr marL="0" indent="0">
              <a:buNone/>
            </a:pPr>
            <a:endParaRPr lang="en-US" dirty="0"/>
          </a:p>
        </p:txBody>
      </p:sp>
    </p:spTree>
    <p:extLst>
      <p:ext uri="{BB962C8B-B14F-4D97-AF65-F5344CB8AC3E}">
        <p14:creationId xmlns:p14="http://schemas.microsoft.com/office/powerpoint/2010/main" val="2063963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Recap</a:t>
            </a:r>
          </a:p>
        </p:txBody>
      </p:sp>
      <p:sp>
        <p:nvSpPr>
          <p:cNvPr id="3" name="Content Placeholder 2"/>
          <p:cNvSpPr>
            <a:spLocks noGrp="1"/>
          </p:cNvSpPr>
          <p:nvPr>
            <p:ph idx="1"/>
          </p:nvPr>
        </p:nvSpPr>
        <p:spPr/>
        <p:txBody>
          <a:bodyPr/>
          <a:lstStyle/>
          <a:p>
            <a:pPr marL="0" indent="0">
              <a:buNone/>
            </a:pPr>
            <a:r>
              <a:rPr lang="en-US" b="1"/>
              <a:t>Regular</a:t>
            </a:r>
            <a:r>
              <a:rPr lang="en-US"/>
              <a:t> sets of strings </a:t>
            </a:r>
            <a:r>
              <a:rPr lang="en-US">
                <a:solidFill>
                  <a:schemeClr val="accent1"/>
                </a:solidFill>
              </a:rPr>
              <a:t>i.e., those </a:t>
            </a:r>
            <a:r>
              <a:rPr lang="en-US">
                <a:solidFill>
                  <a:srgbClr val="F2AF0D"/>
                </a:solidFill>
              </a:rPr>
              <a:t>that aren't too complicated</a:t>
            </a:r>
            <a:r>
              <a:rPr lang="en-US"/>
              <a:t> are those that are</a:t>
            </a:r>
          </a:p>
          <a:p>
            <a:r>
              <a:rPr lang="en-US"/>
              <a:t>the language of some DFA, or equivalently, </a:t>
            </a:r>
          </a:p>
          <a:p>
            <a:r>
              <a:rPr lang="en-US"/>
              <a:t>the language of some NFA.</a:t>
            </a:r>
          </a:p>
          <a:p>
            <a:endParaRPr lang="en-US"/>
          </a:p>
          <a:p>
            <a:pPr marL="0" indent="0">
              <a:buNone/>
            </a:pPr>
            <a:r>
              <a:rPr lang="en-US"/>
              <a:t>If a set of strings can be expressed as the result of </a:t>
            </a:r>
            <a:r>
              <a:rPr lang="en-US" b="1">
                <a:solidFill>
                  <a:schemeClr val="tx2"/>
                </a:solidFill>
              </a:rPr>
              <a:t>complement, union, intersection, concatenation, Kleene star</a:t>
            </a:r>
            <a:r>
              <a:rPr lang="en-US" b="1"/>
              <a:t> </a:t>
            </a:r>
            <a:r>
              <a:rPr lang="en-US"/>
              <a:t>of regular languages, then it itself is regular.</a:t>
            </a:r>
          </a:p>
        </p:txBody>
      </p:sp>
    </p:spTree>
    <p:extLst>
      <p:ext uri="{BB962C8B-B14F-4D97-AF65-F5344CB8AC3E}">
        <p14:creationId xmlns:p14="http://schemas.microsoft.com/office/powerpoint/2010/main" val="16311456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Regular expressions</a:t>
            </a:r>
          </a:p>
        </p:txBody>
      </p:sp>
      <p:sp>
        <p:nvSpPr>
          <p:cNvPr id="3" name="Content Placeholder 2"/>
          <p:cNvSpPr>
            <a:spLocks noGrp="1"/>
          </p:cNvSpPr>
          <p:nvPr>
            <p:ph idx="1"/>
          </p:nvPr>
        </p:nvSpPr>
        <p:spPr/>
        <p:txBody>
          <a:bodyPr/>
          <a:lstStyle/>
          <a:p>
            <a:r>
              <a:rPr lang="en-US" dirty="0"/>
              <a:t>Can all regular languages be expressed as those that are built up from </a:t>
            </a:r>
            <a:r>
              <a:rPr lang="en-US" b="1" dirty="0"/>
              <a:t>very simple </a:t>
            </a:r>
            <a:r>
              <a:rPr lang="en-US" dirty="0"/>
              <a:t>languages using the regular operations?</a:t>
            </a:r>
          </a:p>
        </p:txBody>
      </p:sp>
    </p:spTree>
    <p:extLst>
      <p:ext uri="{BB962C8B-B14F-4D97-AF65-F5344CB8AC3E}">
        <p14:creationId xmlns:p14="http://schemas.microsoft.com/office/powerpoint/2010/main" val="19293342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97A90-F2D8-4790-9AFB-A68FD93323ED}"/>
              </a:ext>
            </a:extLst>
          </p:cNvPr>
          <p:cNvSpPr>
            <a:spLocks noGrp="1"/>
          </p:cNvSpPr>
          <p:nvPr>
            <p:ph type="title"/>
          </p:nvPr>
        </p:nvSpPr>
        <p:spPr/>
        <p:txBody>
          <a:bodyPr/>
          <a:lstStyle/>
          <a:p>
            <a:r>
              <a:rPr lang="en-US" dirty="0"/>
              <a:t>DFAs vs Regular Expressions</a:t>
            </a:r>
          </a:p>
        </p:txBody>
      </p:sp>
      <p:sp>
        <p:nvSpPr>
          <p:cNvPr id="3" name="Content Placeholder 2">
            <a:extLst>
              <a:ext uri="{FF2B5EF4-FFF2-40B4-BE49-F238E27FC236}">
                <a16:creationId xmlns:a16="http://schemas.microsoft.com/office/drawing/2014/main" id="{F5C045AE-CA1D-4566-ACE7-140C92ED054F}"/>
              </a:ext>
            </a:extLst>
          </p:cNvPr>
          <p:cNvSpPr>
            <a:spLocks noGrp="1"/>
          </p:cNvSpPr>
          <p:nvPr>
            <p:ph idx="1"/>
          </p:nvPr>
        </p:nvSpPr>
        <p:spPr/>
        <p:txBody>
          <a:bodyPr/>
          <a:lstStyle/>
          <a:p>
            <a:endParaRPr lang="en-US" dirty="0"/>
          </a:p>
          <a:p>
            <a:r>
              <a:rPr lang="en-US" dirty="0"/>
              <a:t>DFAs – </a:t>
            </a:r>
            <a:r>
              <a:rPr lang="en-US" dirty="0">
                <a:solidFill>
                  <a:srgbClr val="FF0000"/>
                </a:solidFill>
              </a:rPr>
              <a:t>check</a:t>
            </a:r>
            <a:r>
              <a:rPr lang="en-US" dirty="0"/>
              <a:t> if a given word is in the language</a:t>
            </a:r>
          </a:p>
          <a:p>
            <a:pPr marL="0" indent="0">
              <a:buNone/>
            </a:pPr>
            <a:endParaRPr lang="en-US" dirty="0"/>
          </a:p>
          <a:p>
            <a:r>
              <a:rPr lang="en-US" dirty="0"/>
              <a:t>Regular Expressions – </a:t>
            </a:r>
            <a:r>
              <a:rPr lang="en-US" dirty="0">
                <a:solidFill>
                  <a:srgbClr val="FF0000"/>
                </a:solidFill>
              </a:rPr>
              <a:t>generate</a:t>
            </a:r>
            <a:r>
              <a:rPr lang="en-US" dirty="0"/>
              <a:t> all words in the language</a:t>
            </a:r>
          </a:p>
          <a:p>
            <a:endParaRPr lang="en-US" dirty="0"/>
          </a:p>
        </p:txBody>
      </p:sp>
    </p:spTree>
    <p:extLst>
      <p:ext uri="{BB962C8B-B14F-4D97-AF65-F5344CB8AC3E}">
        <p14:creationId xmlns:p14="http://schemas.microsoft.com/office/powerpoint/2010/main" val="8637251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regular operations	</a:t>
            </a:r>
            <a:r>
              <a:rPr lang="en-US" sz="2000"/>
              <a:t>Sipser Def 1.23 p. 44</a:t>
            </a:r>
          </a:p>
        </p:txBody>
      </p:sp>
      <p:sp>
        <p:nvSpPr>
          <p:cNvPr id="3" name="Content Placeholder 2"/>
          <p:cNvSpPr>
            <a:spLocks noGrp="1"/>
          </p:cNvSpPr>
          <p:nvPr>
            <p:ph idx="1"/>
          </p:nvPr>
        </p:nvSpPr>
        <p:spPr/>
        <p:txBody>
          <a:bodyPr/>
          <a:lstStyle/>
          <a:p>
            <a:pPr marL="0" indent="0">
              <a:buNone/>
            </a:pPr>
            <a:r>
              <a:rPr lang="en-US"/>
              <a:t>For A, B languages over same alphabet, define:</a:t>
            </a:r>
          </a:p>
          <a:p>
            <a:pPr marL="0" indent="0">
              <a:buNone/>
            </a:pPr>
            <a:endParaRPr lang="en-US"/>
          </a:p>
          <a:p>
            <a:pPr marL="0" indent="0">
              <a:buNone/>
            </a:pPr>
            <a:endParaRPr lang="en-US"/>
          </a:p>
          <a:p>
            <a:pPr marL="0" indent="0">
              <a:buNone/>
            </a:pPr>
            <a:r>
              <a:rPr lang="en-US"/>
              <a:t>		</a:t>
            </a:r>
          </a:p>
          <a:p>
            <a:pPr marL="0" indent="0">
              <a:buNone/>
            </a:pPr>
            <a:endParaRPr lang="en-US"/>
          </a:p>
        </p:txBody>
      </p:sp>
      <p:sp>
        <p:nvSpPr>
          <p:cNvPr id="9" name="Cloud Callout 8"/>
          <p:cNvSpPr/>
          <p:nvPr/>
        </p:nvSpPr>
        <p:spPr>
          <a:xfrm>
            <a:off x="2240254" y="3638085"/>
            <a:ext cx="6866819" cy="1332919"/>
          </a:xfrm>
          <a:prstGeom prst="cloudCallout">
            <a:avLst>
              <a:gd name="adj1" fmla="val -33847"/>
              <a:gd name="adj2" fmla="val -83382"/>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b="1"/>
              <a:t>These are operations on sets!</a:t>
            </a:r>
          </a:p>
        </p:txBody>
      </p:sp>
      <p:pic>
        <p:nvPicPr>
          <p:cNvPr id="12" name="Picture 11"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240254" y="1738700"/>
            <a:ext cx="3797300" cy="317500"/>
          </a:xfrm>
          <a:prstGeom prst="rect">
            <a:avLst/>
          </a:prstGeom>
        </p:spPr>
      </p:pic>
      <p:pic>
        <p:nvPicPr>
          <p:cNvPr id="13" name="Picture 12" descr="latex-image-1.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240254" y="2244377"/>
            <a:ext cx="4305300" cy="317500"/>
          </a:xfrm>
          <a:prstGeom prst="rect">
            <a:avLst/>
          </a:prstGeom>
        </p:spPr>
      </p:pic>
      <p:pic>
        <p:nvPicPr>
          <p:cNvPr id="14" name="Picture 13" descr="latex-image-1.png"/>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2600840" y="2679583"/>
            <a:ext cx="5511800" cy="317500"/>
          </a:xfrm>
          <a:prstGeom prst="rect">
            <a:avLst/>
          </a:prstGeom>
        </p:spPr>
      </p:pic>
    </p:spTree>
    <p:extLst>
      <p:ext uri="{BB962C8B-B14F-4D97-AF65-F5344CB8AC3E}">
        <p14:creationId xmlns:p14="http://schemas.microsoft.com/office/powerpoint/2010/main" val="652968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Inductive application of closure	</a:t>
            </a:r>
            <a:r>
              <a:rPr lang="en-US" sz="1600" i="1" dirty="0" err="1">
                <a:solidFill>
                  <a:schemeClr val="accent6"/>
                </a:solidFill>
              </a:rPr>
              <a:t>Sipser</a:t>
            </a:r>
            <a:r>
              <a:rPr lang="en-US" sz="1600" i="1" dirty="0">
                <a:solidFill>
                  <a:schemeClr val="accent6"/>
                </a:solidFill>
              </a:rPr>
              <a:t> 1.52 p. 64</a:t>
            </a:r>
            <a:endParaRPr lang="en-US" i="1" dirty="0">
              <a:solidFill>
                <a:schemeClr val="accent6"/>
              </a:solidFill>
            </a:endParaRPr>
          </a:p>
        </p:txBody>
      </p:sp>
      <p:sp>
        <p:nvSpPr>
          <p:cNvPr id="3" name="Content Placeholder 2"/>
          <p:cNvSpPr>
            <a:spLocks noGrp="1"/>
          </p:cNvSpPr>
          <p:nvPr>
            <p:ph idx="1"/>
          </p:nvPr>
        </p:nvSpPr>
        <p:spPr>
          <a:xfrm>
            <a:off x="266520" y="1137426"/>
            <a:ext cx="8877480" cy="4006074"/>
          </a:xfrm>
        </p:spPr>
        <p:txBody>
          <a:bodyPr>
            <a:normAutofit fontScale="85000" lnSpcReduction="20000"/>
          </a:bodyPr>
          <a:lstStyle/>
          <a:p>
            <a:pPr marL="0" indent="0">
              <a:buNone/>
            </a:pPr>
            <a:r>
              <a:rPr lang="en-US" dirty="0"/>
              <a:t>R is a </a:t>
            </a:r>
            <a:r>
              <a:rPr lang="en-US" b="1" dirty="0">
                <a:solidFill>
                  <a:schemeClr val="tx2"/>
                </a:solidFill>
              </a:rPr>
              <a:t>regular expression</a:t>
            </a:r>
            <a:r>
              <a:rPr lang="en-US" dirty="0">
                <a:solidFill>
                  <a:schemeClr val="tx2"/>
                </a:solidFill>
              </a:rPr>
              <a:t> </a:t>
            </a:r>
            <a:r>
              <a:rPr lang="en-US" dirty="0">
                <a:solidFill>
                  <a:srgbClr val="292934"/>
                </a:solidFill>
              </a:rPr>
              <a:t>over Σ </a:t>
            </a:r>
            <a:r>
              <a:rPr lang="en-US" dirty="0"/>
              <a:t>if</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endParaRPr lang="en-US" sz="1400" dirty="0"/>
          </a:p>
          <a:p>
            <a:pPr marL="0" indent="0">
              <a:buNone/>
            </a:pPr>
            <a:r>
              <a:rPr lang="en-US" sz="1400" dirty="0"/>
              <a:t>Σ is shorthand for (0 U 1) </a:t>
            </a:r>
            <a:r>
              <a:rPr lang="en-US" sz="1400" dirty="0">
                <a:solidFill>
                  <a:schemeClr val="accent5"/>
                </a:solidFill>
              </a:rPr>
              <a:t>if Σ = {0,1}, </a:t>
            </a:r>
            <a:r>
              <a:rPr lang="en-US" sz="1400" dirty="0"/>
              <a:t>Parentheses may be omitted, R</a:t>
            </a:r>
            <a:r>
              <a:rPr lang="en-US" sz="1400" baseline="30000" dirty="0"/>
              <a:t>+</a:t>
            </a:r>
            <a:r>
              <a:rPr lang="en-US" sz="1400" dirty="0"/>
              <a:t> means RR</a:t>
            </a:r>
            <a:r>
              <a:rPr lang="en-US" sz="1400" baseline="30000" dirty="0"/>
              <a:t>*</a:t>
            </a:r>
            <a:r>
              <a:rPr lang="en-US" sz="1400" dirty="0"/>
              <a:t>, </a:t>
            </a:r>
            <a:r>
              <a:rPr lang="en-US" sz="1400" dirty="0" err="1"/>
              <a:t>R</a:t>
            </a:r>
            <a:r>
              <a:rPr lang="en-US" sz="1400" baseline="30000" dirty="0" err="1"/>
              <a:t>k</a:t>
            </a:r>
            <a:r>
              <a:rPr lang="en-US" sz="1400" dirty="0"/>
              <a:t> means R concatenated with itself k times</a:t>
            </a:r>
          </a:p>
          <a:p>
            <a:pPr marL="0" indent="0">
              <a:buNone/>
            </a:pPr>
            <a:endParaRPr lang="en-US" dirty="0"/>
          </a:p>
        </p:txBody>
      </p:sp>
      <p:pic>
        <p:nvPicPr>
          <p:cNvPr id="5" name="Picture 4"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580073" y="1700106"/>
            <a:ext cx="7416800" cy="2781300"/>
          </a:xfrm>
          <a:prstGeom prst="rect">
            <a:avLst/>
          </a:prstGeom>
        </p:spPr>
      </p:pic>
      <p:sp>
        <p:nvSpPr>
          <p:cNvPr id="6" name="Cloud Callout 5"/>
          <p:cNvSpPr/>
          <p:nvPr/>
        </p:nvSpPr>
        <p:spPr>
          <a:xfrm>
            <a:off x="5302971" y="1552459"/>
            <a:ext cx="3841029" cy="1238831"/>
          </a:xfrm>
          <a:prstGeom prst="cloudCallout">
            <a:avLst>
              <a:gd name="adj1" fmla="val -112670"/>
              <a:gd name="adj2" fmla="val 25791"/>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Watch out for overloaded symbols!</a:t>
            </a:r>
          </a:p>
        </p:txBody>
      </p:sp>
    </p:spTree>
    <p:extLst>
      <p:ext uri="{BB962C8B-B14F-4D97-AF65-F5344CB8AC3E}">
        <p14:creationId xmlns:p14="http://schemas.microsoft.com/office/powerpoint/2010/main" val="42902058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Syntax </a:t>
            </a:r>
            <a:r>
              <a:rPr lang="en-US">
                <a:sym typeface="Wingdings"/>
              </a:rPr>
              <a:t> Languages</a:t>
            </a:r>
            <a:endParaRPr lang="en-US"/>
          </a:p>
        </p:txBody>
      </p:sp>
      <p:sp>
        <p:nvSpPr>
          <p:cNvPr id="3" name="Content Placeholder 2"/>
          <p:cNvSpPr>
            <a:spLocks noGrp="1"/>
          </p:cNvSpPr>
          <p:nvPr>
            <p:ph idx="1"/>
          </p:nvPr>
        </p:nvSpPr>
        <p:spPr/>
        <p:txBody>
          <a:bodyPr/>
          <a:lstStyle/>
          <a:p>
            <a:pPr marL="0" indent="0">
              <a:buNone/>
            </a:pPr>
            <a:r>
              <a:rPr lang="en-US" dirty="0"/>
              <a:t>The language described by a </a:t>
            </a:r>
          </a:p>
          <a:p>
            <a:pPr marL="0" indent="0">
              <a:buNone/>
            </a:pPr>
            <a:r>
              <a:rPr lang="en-US" dirty="0"/>
              <a:t>regular expression, L(R):</a:t>
            </a:r>
          </a:p>
          <a:p>
            <a:r>
              <a:rPr lang="en-US" dirty="0"/>
              <a:t>L ( </a:t>
            </a:r>
            <a:r>
              <a:rPr lang="en-US" sz="2000" dirty="0"/>
              <a:t>(0 U 1)U1</a:t>
            </a:r>
            <a:r>
              <a:rPr lang="en-US" dirty="0"/>
              <a:t>	) = {						}</a:t>
            </a:r>
          </a:p>
          <a:p>
            <a:endParaRPr lang="en-US" dirty="0"/>
          </a:p>
          <a:p>
            <a:r>
              <a:rPr lang="en-US" dirty="0"/>
              <a:t>L (	1*</a:t>
            </a:r>
            <a:r>
              <a:rPr lang="en-US" sz="2400" dirty="0"/>
              <a:t> 1</a:t>
            </a:r>
            <a:r>
              <a:rPr lang="en-US" dirty="0"/>
              <a:t>	) = {						}</a:t>
            </a:r>
          </a:p>
          <a:p>
            <a:endParaRPr lang="en-US" dirty="0"/>
          </a:p>
          <a:p>
            <a:r>
              <a:rPr lang="en-US" dirty="0"/>
              <a:t>L (		) = {						}</a:t>
            </a:r>
          </a:p>
        </p:txBody>
      </p:sp>
      <p:pic>
        <p:nvPicPr>
          <p:cNvPr id="6" name="Picture 5"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442990" y="3988284"/>
            <a:ext cx="469900" cy="228600"/>
          </a:xfrm>
          <a:prstGeom prst="rect">
            <a:avLst/>
          </a:prstGeom>
        </p:spPr>
      </p:pic>
      <p:pic>
        <p:nvPicPr>
          <p:cNvPr id="8" name="Picture 7" descr="latex-image-1.png"/>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438900" y="400050"/>
            <a:ext cx="2247900" cy="1485900"/>
          </a:xfrm>
          <a:prstGeom prst="rect">
            <a:avLst/>
          </a:prstGeom>
          <a:solidFill>
            <a:srgbClr val="F6BC05"/>
          </a:solidFill>
        </p:spPr>
      </p:pic>
    </p:spTree>
    <p:extLst>
      <p:ext uri="{BB962C8B-B14F-4D97-AF65-F5344CB8AC3E}">
        <p14:creationId xmlns:p14="http://schemas.microsoft.com/office/powerpoint/2010/main" val="2943910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Syntax </a:t>
            </a:r>
            <a:r>
              <a:rPr lang="en-US">
                <a:sym typeface="Wingdings"/>
              </a:rPr>
              <a:t> Languages</a:t>
            </a:r>
            <a:endParaRPr lang="en-US"/>
          </a:p>
        </p:txBody>
      </p:sp>
      <p:sp>
        <p:nvSpPr>
          <p:cNvPr id="3" name="Content Placeholder 2"/>
          <p:cNvSpPr>
            <a:spLocks noGrp="1"/>
          </p:cNvSpPr>
          <p:nvPr>
            <p:ph idx="1"/>
          </p:nvPr>
        </p:nvSpPr>
        <p:spPr/>
        <p:txBody>
          <a:bodyPr/>
          <a:lstStyle/>
          <a:p>
            <a:pPr marL="0" indent="0">
              <a:buNone/>
            </a:pPr>
            <a:r>
              <a:rPr lang="en-US" dirty="0"/>
              <a:t>The language described by a </a:t>
            </a:r>
          </a:p>
          <a:p>
            <a:pPr marL="0" indent="0">
              <a:buNone/>
            </a:pPr>
            <a:r>
              <a:rPr lang="en-US" dirty="0"/>
              <a:t>regular expression, L(R):</a:t>
            </a:r>
          </a:p>
          <a:p>
            <a:r>
              <a:rPr lang="en-US" dirty="0"/>
              <a:t>L (</a:t>
            </a:r>
            <a:r>
              <a:rPr lang="el-GR" dirty="0"/>
              <a:t>Σ*(00+11)Σ*</a:t>
            </a:r>
            <a:r>
              <a:rPr lang="en-US" dirty="0"/>
              <a:t>) = {						}</a:t>
            </a:r>
          </a:p>
          <a:p>
            <a:endParaRPr lang="en-US" dirty="0"/>
          </a:p>
          <a:p>
            <a:r>
              <a:rPr lang="en-US" dirty="0"/>
              <a:t>L (   </a:t>
            </a:r>
            <a:r>
              <a:rPr lang="el-GR" dirty="0"/>
              <a:t>Σ(ΣΣ)*</a:t>
            </a:r>
            <a:r>
              <a:rPr lang="en-US" dirty="0"/>
              <a:t>	) = {						}</a:t>
            </a:r>
          </a:p>
          <a:p>
            <a:endParaRPr lang="en-US" dirty="0"/>
          </a:p>
          <a:p>
            <a:r>
              <a:rPr lang="en-US" dirty="0"/>
              <a:t>L ( 0*10*10* ) = {						}</a:t>
            </a:r>
          </a:p>
        </p:txBody>
      </p:sp>
      <p:pic>
        <p:nvPicPr>
          <p:cNvPr id="8" name="Picture 7"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38900" y="400050"/>
            <a:ext cx="2247900" cy="1485900"/>
          </a:xfrm>
          <a:prstGeom prst="rect">
            <a:avLst/>
          </a:prstGeom>
          <a:solidFill>
            <a:srgbClr val="F6BC05"/>
          </a:solidFill>
        </p:spPr>
      </p:pic>
    </p:spTree>
    <p:extLst>
      <p:ext uri="{BB962C8B-B14F-4D97-AF65-F5344CB8AC3E}">
        <p14:creationId xmlns:p14="http://schemas.microsoft.com/office/powerpoint/2010/main" val="4138762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Syntax </a:t>
            </a:r>
            <a:r>
              <a:rPr lang="en-US">
                <a:sym typeface="Wingdings"/>
              </a:rPr>
              <a:t> Languages</a:t>
            </a:r>
            <a:endParaRPr lang="en-US"/>
          </a:p>
        </p:txBody>
      </p:sp>
      <p:sp>
        <p:nvSpPr>
          <p:cNvPr id="3" name="Content Placeholder 2"/>
          <p:cNvSpPr>
            <a:spLocks noGrp="1"/>
          </p:cNvSpPr>
          <p:nvPr>
            <p:ph idx="1"/>
          </p:nvPr>
        </p:nvSpPr>
        <p:spPr/>
        <p:txBody>
          <a:bodyPr/>
          <a:lstStyle/>
          <a:p>
            <a:pPr marL="0" indent="0">
              <a:buNone/>
            </a:pPr>
            <a:r>
              <a:rPr lang="en-US" dirty="0"/>
              <a:t>The language described by a </a:t>
            </a:r>
          </a:p>
          <a:p>
            <a:pPr marL="0" indent="0">
              <a:buNone/>
            </a:pPr>
            <a:r>
              <a:rPr lang="en-US" dirty="0"/>
              <a:t>regular expression, L(R):</a:t>
            </a:r>
          </a:p>
          <a:p>
            <a:r>
              <a:rPr lang="en-US" dirty="0"/>
              <a:t>L (</a:t>
            </a:r>
            <a:r>
              <a:rPr lang="pl-PL" dirty="0"/>
              <a:t> (0U1)</a:t>
            </a:r>
            <a:r>
              <a:rPr lang="en-US" sz="1600" dirty="0"/>
              <a:t>o</a:t>
            </a:r>
            <a:r>
              <a:rPr lang="pl-PL" dirty="0"/>
              <a:t>(0U1)</a:t>
            </a:r>
            <a:r>
              <a:rPr lang="en-US" sz="1600" dirty="0"/>
              <a:t>o</a:t>
            </a:r>
            <a:r>
              <a:rPr lang="pl-PL" dirty="0"/>
              <a:t>(0U1))*</a:t>
            </a:r>
            <a:r>
              <a:rPr lang="en-US" dirty="0"/>
              <a:t> = {				}</a:t>
            </a:r>
          </a:p>
          <a:p>
            <a:pPr marL="0" indent="0">
              <a:buNone/>
            </a:pPr>
            <a:endParaRPr lang="en-US" dirty="0"/>
          </a:p>
        </p:txBody>
      </p:sp>
      <p:pic>
        <p:nvPicPr>
          <p:cNvPr id="8" name="Picture 7"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6438900" y="400050"/>
            <a:ext cx="2247900" cy="1485900"/>
          </a:xfrm>
          <a:prstGeom prst="rect">
            <a:avLst/>
          </a:prstGeom>
          <a:solidFill>
            <a:srgbClr val="F6BC05"/>
          </a:solidFill>
        </p:spPr>
      </p:pic>
    </p:spTree>
    <p:extLst>
      <p:ext uri="{BB962C8B-B14F-4D97-AF65-F5344CB8AC3E}">
        <p14:creationId xmlns:p14="http://schemas.microsoft.com/office/powerpoint/2010/main" val="42461079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L(R)</a:t>
            </a:r>
          </a:p>
        </p:txBody>
      </p:sp>
      <p:sp>
        <p:nvSpPr>
          <p:cNvPr id="3" name="Content Placeholder 2"/>
          <p:cNvSpPr>
            <a:spLocks noGrp="1"/>
          </p:cNvSpPr>
          <p:nvPr>
            <p:ph idx="1"/>
          </p:nvPr>
        </p:nvSpPr>
        <p:spPr/>
        <p:txBody>
          <a:bodyPr>
            <a:normAutofit/>
          </a:bodyPr>
          <a:lstStyle/>
          <a:p>
            <a:pPr marL="0" indent="0">
              <a:buNone/>
            </a:pPr>
            <a:r>
              <a:rPr lang="en-US" dirty="0"/>
              <a:t>Which of the following strings is </a:t>
            </a:r>
            <a:r>
              <a:rPr lang="en-US" b="1" dirty="0"/>
              <a:t>not</a:t>
            </a:r>
            <a:r>
              <a:rPr lang="en-US" dirty="0"/>
              <a:t> in the language described by </a:t>
            </a:r>
          </a:p>
          <a:p>
            <a:pPr marL="0" indent="0" algn="ctr">
              <a:buNone/>
            </a:pPr>
            <a:r>
              <a:rPr lang="en-US" dirty="0"/>
              <a:t>(   ( (00)</a:t>
            </a:r>
            <a:r>
              <a:rPr lang="en-US" baseline="30000" dirty="0"/>
              <a:t>*</a:t>
            </a:r>
            <a:r>
              <a:rPr lang="en-US" dirty="0"/>
              <a:t>(11) )  U  01   )</a:t>
            </a:r>
            <a:r>
              <a:rPr lang="en-US" baseline="30000" dirty="0"/>
              <a:t>*</a:t>
            </a:r>
            <a:endParaRPr lang="en-US" dirty="0"/>
          </a:p>
          <a:p>
            <a:pPr marL="457200" indent="-457200">
              <a:buAutoNum type="alphaUcPeriod"/>
            </a:pPr>
            <a:r>
              <a:rPr lang="en-US" dirty="0"/>
              <a:t>00</a:t>
            </a:r>
          </a:p>
          <a:p>
            <a:pPr marL="457200" indent="-457200">
              <a:buAutoNum type="alphaUcPeriod"/>
            </a:pPr>
            <a:r>
              <a:rPr lang="en-US" dirty="0"/>
              <a:t>01</a:t>
            </a:r>
          </a:p>
          <a:p>
            <a:pPr marL="457200" indent="-457200">
              <a:buAutoNum type="alphaUcPeriod"/>
            </a:pPr>
            <a:r>
              <a:rPr lang="en-US" dirty="0"/>
              <a:t>1101</a:t>
            </a:r>
          </a:p>
          <a:p>
            <a:pPr marL="457200" indent="-457200">
              <a:buAutoNum type="alphaUcPeriod"/>
            </a:pPr>
            <a:r>
              <a:rPr lang="en-US" dirty="0"/>
              <a:t>   </a:t>
            </a:r>
          </a:p>
          <a:p>
            <a:pPr marL="457200" indent="-457200">
              <a:buAutoNum type="alphaUcPeriod"/>
            </a:pPr>
            <a:r>
              <a:rPr lang="en-US" dirty="0"/>
              <a:t>I don't know</a:t>
            </a:r>
          </a:p>
          <a:p>
            <a:pPr marL="457200" indent="-457200">
              <a:buAutoNum type="alphaUcPeriod"/>
            </a:pPr>
            <a:endParaRPr lang="en-US" dirty="0"/>
          </a:p>
          <a:p>
            <a:pPr marL="457200" indent="-457200">
              <a:buAutoNum type="alphaUcPeriod"/>
            </a:pPr>
            <a:endParaRPr lang="en-US" dirty="0"/>
          </a:p>
        </p:txBody>
      </p:sp>
      <p:pic>
        <p:nvPicPr>
          <p:cNvPr id="4" name="Picture 3" descr="latex-image-1.png"/>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19047" y="3936032"/>
            <a:ext cx="128413" cy="142681"/>
          </a:xfrm>
          <a:prstGeom prst="rect">
            <a:avLst/>
          </a:prstGeom>
        </p:spPr>
      </p:pic>
    </p:spTree>
    <p:extLst>
      <p:ext uri="{BB962C8B-B14F-4D97-AF65-F5344CB8AC3E}">
        <p14:creationId xmlns:p14="http://schemas.microsoft.com/office/powerpoint/2010/main" val="569362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L(R)</a:t>
            </a:r>
          </a:p>
        </p:txBody>
      </p:sp>
      <p:sp>
        <p:nvSpPr>
          <p:cNvPr id="3" name="Content Placeholder 2"/>
          <p:cNvSpPr>
            <a:spLocks noGrp="1"/>
          </p:cNvSpPr>
          <p:nvPr>
            <p:ph idx="1"/>
          </p:nvPr>
        </p:nvSpPr>
        <p:spPr/>
        <p:txBody>
          <a:bodyPr>
            <a:normAutofit fontScale="92500"/>
          </a:bodyPr>
          <a:lstStyle/>
          <a:p>
            <a:pPr marL="0" indent="0">
              <a:buNone/>
            </a:pPr>
            <a:r>
              <a:rPr lang="en-US" dirty="0"/>
              <a:t>Let L be the language </a:t>
            </a:r>
            <a:r>
              <a:rPr lang="en-US" dirty="0">
                <a:solidFill>
                  <a:srgbClr val="808DA0"/>
                </a:solidFill>
              </a:rPr>
              <a:t>over {</a:t>
            </a:r>
            <a:r>
              <a:rPr lang="en-US" dirty="0" err="1">
                <a:solidFill>
                  <a:srgbClr val="808DA0"/>
                </a:solidFill>
              </a:rPr>
              <a:t>a,b</a:t>
            </a:r>
            <a:r>
              <a:rPr lang="en-US" dirty="0">
                <a:solidFill>
                  <a:srgbClr val="808DA0"/>
                </a:solidFill>
              </a:rPr>
              <a:t>} </a:t>
            </a:r>
            <a:r>
              <a:rPr lang="en-US" dirty="0"/>
              <a:t>described by the regular expression</a:t>
            </a:r>
          </a:p>
          <a:p>
            <a:pPr marL="0" indent="0" algn="ctr">
              <a:buNone/>
            </a:pPr>
            <a:r>
              <a:rPr lang="en-US" dirty="0"/>
              <a:t>((a U Ø) b</a:t>
            </a:r>
            <a:r>
              <a:rPr lang="en-US" baseline="30000" dirty="0"/>
              <a:t>*</a:t>
            </a:r>
            <a:r>
              <a:rPr lang="en-US" dirty="0"/>
              <a:t>)</a:t>
            </a:r>
            <a:r>
              <a:rPr lang="en-US" baseline="30000" dirty="0"/>
              <a:t>*</a:t>
            </a:r>
          </a:p>
          <a:p>
            <a:pPr marL="0" indent="0">
              <a:buNone/>
            </a:pPr>
            <a:r>
              <a:rPr lang="en-US" dirty="0"/>
              <a:t>Which of the following is </a:t>
            </a:r>
            <a:r>
              <a:rPr lang="en-US" b="1" dirty="0"/>
              <a:t>not</a:t>
            </a:r>
            <a:r>
              <a:rPr lang="en-US" dirty="0"/>
              <a:t> true about L?</a:t>
            </a:r>
          </a:p>
          <a:p>
            <a:pPr marL="457200" indent="-457200">
              <a:buAutoNum type="alphaUcPeriod"/>
            </a:pPr>
            <a:r>
              <a:rPr lang="en-US" dirty="0"/>
              <a:t>Some strings in L have equal numbers of a's and b's</a:t>
            </a:r>
          </a:p>
          <a:p>
            <a:pPr marL="457200" indent="-457200">
              <a:buAutoNum type="alphaUcPeriod"/>
            </a:pPr>
            <a:r>
              <a:rPr lang="en-US" dirty="0"/>
              <a:t>L contains the string </a:t>
            </a:r>
            <a:r>
              <a:rPr lang="en-US" dirty="0" err="1"/>
              <a:t>aaaaaa</a:t>
            </a:r>
            <a:endParaRPr lang="en-US" dirty="0"/>
          </a:p>
          <a:p>
            <a:pPr marL="457200" indent="-457200">
              <a:buAutoNum type="alphaUcPeriod"/>
            </a:pPr>
            <a:r>
              <a:rPr lang="en-US" dirty="0"/>
              <a:t>a's never follow b's in any string in L</a:t>
            </a:r>
          </a:p>
          <a:p>
            <a:pPr marL="457200" indent="-457200">
              <a:buAutoNum type="alphaUcPeriod"/>
            </a:pPr>
            <a:r>
              <a:rPr lang="en-US" dirty="0"/>
              <a:t>L can also be represented by the regular expression (ab</a:t>
            </a:r>
            <a:r>
              <a:rPr lang="en-US" baseline="30000" dirty="0"/>
              <a:t>*</a:t>
            </a:r>
            <a:r>
              <a:rPr lang="en-US" dirty="0"/>
              <a:t>)</a:t>
            </a:r>
            <a:r>
              <a:rPr lang="en-US" baseline="30000" dirty="0"/>
              <a:t>*</a:t>
            </a:r>
            <a:endParaRPr lang="en-US" dirty="0"/>
          </a:p>
          <a:p>
            <a:pPr marL="457200" indent="-457200">
              <a:buAutoNum type="alphaUcPeriod"/>
            </a:pPr>
            <a:r>
              <a:rPr lang="en-US" dirty="0"/>
              <a:t>More than one of the above.</a:t>
            </a:r>
          </a:p>
        </p:txBody>
      </p:sp>
    </p:spTree>
    <p:extLst>
      <p:ext uri="{BB962C8B-B14F-4D97-AF65-F5344CB8AC3E}">
        <p14:creationId xmlns:p14="http://schemas.microsoft.com/office/powerpoint/2010/main" val="1368770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L(R)</a:t>
            </a:r>
          </a:p>
        </p:txBody>
      </p:sp>
      <p:sp>
        <p:nvSpPr>
          <p:cNvPr id="3" name="Content Placeholder 2"/>
          <p:cNvSpPr>
            <a:spLocks noGrp="1"/>
          </p:cNvSpPr>
          <p:nvPr>
            <p:ph idx="1"/>
          </p:nvPr>
        </p:nvSpPr>
        <p:spPr/>
        <p:txBody>
          <a:bodyPr>
            <a:normAutofit/>
          </a:bodyPr>
          <a:lstStyle/>
          <a:p>
            <a:pPr marL="0" indent="0">
              <a:buNone/>
            </a:pPr>
            <a:r>
              <a:rPr lang="en-US" dirty="0"/>
              <a:t>Review: Determine whether each statement below about regular expressions over the alphabet {a, b, c} is true or false: </a:t>
            </a:r>
          </a:p>
          <a:p>
            <a:pPr marL="0" indent="0">
              <a:buNone/>
            </a:pPr>
            <a:r>
              <a:rPr lang="it-IT" dirty="0"/>
              <a:t>True or False: ab ∈ L((a U b)*)</a:t>
            </a:r>
            <a:endParaRPr lang="en-US" dirty="0"/>
          </a:p>
          <a:p>
            <a:pPr marL="0" indent="0">
              <a:buNone/>
            </a:pPr>
            <a:r>
              <a:rPr lang="it-IT" dirty="0"/>
              <a:t>True or False: </a:t>
            </a:r>
            <a:r>
              <a:rPr lang="en-US" dirty="0" err="1"/>
              <a:t>ba</a:t>
            </a:r>
            <a:r>
              <a:rPr lang="it-IT" dirty="0"/>
              <a:t> ∈ L(a*b*)</a:t>
            </a:r>
            <a:endParaRPr lang="en-US" dirty="0"/>
          </a:p>
          <a:p>
            <a:pPr marL="0" indent="0">
              <a:buNone/>
            </a:pPr>
            <a:r>
              <a:rPr lang="it-IT" dirty="0"/>
              <a:t>True or False: ab ∈ L(a U b U c)</a:t>
            </a:r>
            <a:endParaRPr lang="en-US" dirty="0"/>
          </a:p>
          <a:p>
            <a:pPr marL="0" indent="0">
              <a:buNone/>
            </a:pPr>
            <a:r>
              <a:rPr lang="it-IT" dirty="0"/>
              <a:t>True or False: </a:t>
            </a:r>
            <a:r>
              <a:rPr lang="el-GR" dirty="0"/>
              <a:t>ε </a:t>
            </a:r>
            <a:r>
              <a:rPr lang="it-IT" dirty="0"/>
              <a:t>∈ L((a U b)*)</a:t>
            </a:r>
            <a:endParaRPr lang="en-US" dirty="0"/>
          </a:p>
          <a:p>
            <a:pPr marL="0" indent="0">
              <a:buNone/>
            </a:pPr>
            <a:r>
              <a:rPr lang="it-IT" dirty="0"/>
              <a:t>True or False: </a:t>
            </a:r>
            <a:r>
              <a:rPr lang="el-GR" dirty="0"/>
              <a:t>ε</a:t>
            </a:r>
            <a:r>
              <a:rPr lang="it-IT" dirty="0"/>
              <a:t> ∈ L(aa* U bb*)</a:t>
            </a:r>
          </a:p>
          <a:p>
            <a:pPr marL="0" indent="0">
              <a:buNone/>
            </a:pPr>
            <a:endParaRPr lang="en-US" dirty="0"/>
          </a:p>
        </p:txBody>
      </p:sp>
    </p:spTree>
    <p:extLst>
      <p:ext uri="{BB962C8B-B14F-4D97-AF65-F5344CB8AC3E}">
        <p14:creationId xmlns:p14="http://schemas.microsoft.com/office/powerpoint/2010/main" val="620185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1</a:t>
            </a:r>
            <a:r>
              <a:rPr lang="en-US" dirty="0">
                <a:solidFill>
                  <a:srgbClr val="292934"/>
                </a:solidFill>
              </a:rPr>
              <a:t> = {w | length of w is 1 or more}</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26382960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2</a:t>
            </a:r>
            <a:r>
              <a:rPr lang="en-US" dirty="0">
                <a:solidFill>
                  <a:srgbClr val="292934"/>
                </a:solidFill>
              </a:rPr>
              <a:t> = {w | w contains at lease two 1s}</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30926944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3</a:t>
            </a:r>
            <a:r>
              <a:rPr lang="en-US" dirty="0">
                <a:solidFill>
                  <a:srgbClr val="292934"/>
                </a:solidFill>
              </a:rPr>
              <a:t> = {w | w contains at most two 1s}</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2339970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4</a:t>
            </a:r>
            <a:r>
              <a:rPr lang="en-US" dirty="0">
                <a:solidFill>
                  <a:srgbClr val="292934"/>
                </a:solidFill>
              </a:rPr>
              <a:t> = {w | length of w is not divisible by 3}</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272128813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5</a:t>
            </a:r>
            <a:r>
              <a:rPr lang="en-US" dirty="0">
                <a:solidFill>
                  <a:srgbClr val="292934"/>
                </a:solidFill>
              </a:rPr>
              <a:t> = {w | 0s and 1s alternate in w}</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3641080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6</a:t>
            </a:r>
            <a:r>
              <a:rPr lang="en-US" dirty="0">
                <a:solidFill>
                  <a:srgbClr val="292934"/>
                </a:solidFill>
              </a:rPr>
              <a:t> = {w | w doesn’t contain 00 and 11}</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40033094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7</a:t>
            </a:r>
            <a:r>
              <a:rPr lang="en-US" dirty="0">
                <a:solidFill>
                  <a:srgbClr val="292934"/>
                </a:solidFill>
              </a:rPr>
              <a:t> = {w | w doesn’t end with 01}</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11727923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8</a:t>
            </a:r>
            <a:r>
              <a:rPr lang="en-US" dirty="0">
                <a:solidFill>
                  <a:srgbClr val="292934"/>
                </a:solidFill>
              </a:rPr>
              <a:t> = {w | w doesn’t contain 00}</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18265196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9</a:t>
            </a:r>
            <a:r>
              <a:rPr lang="en-US" dirty="0">
                <a:solidFill>
                  <a:srgbClr val="292934"/>
                </a:solidFill>
              </a:rPr>
              <a:t> = {w | w doesn’t contain 10}</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1752059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10</a:t>
            </a:r>
            <a:r>
              <a:rPr lang="en-US" dirty="0">
                <a:solidFill>
                  <a:srgbClr val="292934"/>
                </a:solidFill>
              </a:rPr>
              <a:t> = {w | w starts and ends with different symbols}</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24461403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11</a:t>
            </a:r>
            <a:r>
              <a:rPr lang="en-US" dirty="0">
                <a:solidFill>
                  <a:srgbClr val="292934"/>
                </a:solidFill>
              </a:rPr>
              <a:t> = {w | w starts and ends with the same symbols}</a:t>
            </a:r>
            <a:endParaRPr lang="en-US"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Tree>
    <p:extLst>
      <p:ext uri="{BB962C8B-B14F-4D97-AF65-F5344CB8AC3E}">
        <p14:creationId xmlns:p14="http://schemas.microsoft.com/office/powerpoint/2010/main" val="42750367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sp>
        <p:nvSpPr>
          <p:cNvPr id="3" name="Content Placeholder 2"/>
          <p:cNvSpPr>
            <a:spLocks noGrp="1"/>
          </p:cNvSpPr>
          <p:nvPr>
            <p:ph idx="1"/>
          </p:nvPr>
        </p:nvSpPr>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sz="2000" dirty="0">
                <a:solidFill>
                  <a:srgbClr val="292934"/>
                </a:solidFill>
              </a:rPr>
              <a:t>L</a:t>
            </a:r>
            <a:r>
              <a:rPr lang="en-US" sz="2000" baseline="-25000" dirty="0">
                <a:solidFill>
                  <a:srgbClr val="292934"/>
                </a:solidFill>
              </a:rPr>
              <a:t>12</a:t>
            </a:r>
            <a:r>
              <a:rPr lang="en-US" sz="2000" dirty="0">
                <a:solidFill>
                  <a:srgbClr val="292934"/>
                </a:solidFill>
              </a:rPr>
              <a:t> = {w | </a:t>
            </a:r>
            <a:r>
              <a:rPr lang="en-US" sz="2000" dirty="0"/>
              <a:t>w has an even number of copies of the substring ab</a:t>
            </a:r>
            <a:r>
              <a:rPr lang="en-US" sz="2000" dirty="0">
                <a:solidFill>
                  <a:srgbClr val="292934"/>
                </a:solidFill>
              </a:rPr>
              <a:t>}</a:t>
            </a:r>
          </a:p>
          <a:p>
            <a:pPr marL="0" indent="0" algn="ctr">
              <a:buNone/>
            </a:pPr>
            <a:endParaRPr lang="en-US" sz="2000" dirty="0">
              <a:solidFill>
                <a:srgbClr val="292934"/>
              </a:solidFill>
            </a:endParaRPr>
          </a:p>
          <a:p>
            <a:pPr marL="0" indent="0" algn="ctr">
              <a:buNone/>
            </a:pPr>
            <a:r>
              <a:rPr lang="en-US" sz="1600" dirty="0"/>
              <a:t>The main observation needed here is that the way to get two copies of </a:t>
            </a:r>
            <a:r>
              <a:rPr lang="en-US" sz="1600" b="1" dirty="0"/>
              <a:t>ab</a:t>
            </a:r>
            <a:r>
              <a:rPr lang="en-US" sz="1600" dirty="0"/>
              <a:t> is to have a nonempty run of a's, then a nonempty run of b's, then a nonempty run of a's, and then another nonempty run of b's. To get an even number of copies of </a:t>
            </a:r>
            <a:r>
              <a:rPr lang="en-US" sz="1600" b="1" dirty="0"/>
              <a:t>ab</a:t>
            </a:r>
            <a:r>
              <a:rPr lang="en-US" sz="1600" dirty="0"/>
              <a:t>, you need to repeat this pattern multiple times. Finally, accounting for what comes before that first run of a's and after that last run of b's, we can come up with this regex:</a:t>
            </a:r>
          </a:p>
          <a:p>
            <a:pPr marL="0" indent="0" algn="ctr">
              <a:buNone/>
            </a:pPr>
            <a:endParaRPr lang="en-US" sz="1600" dirty="0"/>
          </a:p>
          <a:p>
            <a:pPr marL="0" indent="0" algn="ctr">
              <a:buNone/>
            </a:pPr>
            <a:endParaRPr lang="en-US" sz="2000" dirty="0"/>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pic>
        <p:nvPicPr>
          <p:cNvPr id="8" name="Picture 7">
            <a:extLst>
              <a:ext uri="{FF2B5EF4-FFF2-40B4-BE49-F238E27FC236}">
                <a16:creationId xmlns:a16="http://schemas.microsoft.com/office/drawing/2014/main" id="{D34C7101-9D03-4970-91F5-88BE1B705530}"/>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3495164" y="4200758"/>
            <a:ext cx="2153671" cy="380507"/>
          </a:xfrm>
          <a:prstGeom prst="rect">
            <a:avLst/>
          </a:prstGeom>
        </p:spPr>
      </p:pic>
    </p:spTree>
    <p:extLst>
      <p:ext uri="{BB962C8B-B14F-4D97-AF65-F5344CB8AC3E}">
        <p14:creationId xmlns:p14="http://schemas.microsoft.com/office/powerpoint/2010/main" val="29958172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
        <p:nvSpPr>
          <p:cNvPr id="12" name="Content Placeholder 2">
            <a:extLst>
              <a:ext uri="{FF2B5EF4-FFF2-40B4-BE49-F238E27FC236}">
                <a16:creationId xmlns:a16="http://schemas.microsoft.com/office/drawing/2014/main" id="{7954013F-D84E-45CA-A5CF-1C08EBE0496F}"/>
              </a:ext>
            </a:extLst>
          </p:cNvPr>
          <p:cNvSpPr>
            <a:spLocks noGrp="1"/>
          </p:cNvSpPr>
          <p:nvPr>
            <p:ph idx="1"/>
          </p:nvPr>
        </p:nvSpPr>
        <p:spPr>
          <a:xfrm>
            <a:off x="457200" y="1200150"/>
            <a:ext cx="8229600" cy="3657600"/>
          </a:xfrm>
        </p:spPr>
        <p:txBody>
          <a:bodyPr>
            <a:normAutofit fontScale="62500" lnSpcReduction="20000"/>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solidFill>
                  <a:srgbClr val="292934"/>
                </a:solidFill>
              </a:rPr>
              <a:t>Write regular expression which generates</a:t>
            </a:r>
          </a:p>
          <a:p>
            <a:pPr marL="0" indent="0" algn="ctr">
              <a:buNone/>
            </a:pPr>
            <a:r>
              <a:rPr lang="en-US" dirty="0">
                <a:solidFill>
                  <a:srgbClr val="292934"/>
                </a:solidFill>
              </a:rPr>
              <a:t>L</a:t>
            </a:r>
            <a:r>
              <a:rPr lang="en-US" baseline="-25000" dirty="0">
                <a:solidFill>
                  <a:srgbClr val="292934"/>
                </a:solidFill>
              </a:rPr>
              <a:t>13</a:t>
            </a:r>
            <a:r>
              <a:rPr lang="en-US" dirty="0">
                <a:solidFill>
                  <a:srgbClr val="292934"/>
                </a:solidFill>
              </a:rPr>
              <a:t> = {w | w ≠ ab}</a:t>
            </a:r>
          </a:p>
          <a:p>
            <a:pPr marL="0" indent="0">
              <a:buNone/>
            </a:pPr>
            <a:endParaRPr lang="en-US" dirty="0"/>
          </a:p>
          <a:p>
            <a:pPr marL="0" indent="0">
              <a:buNone/>
            </a:pPr>
            <a:r>
              <a:rPr lang="en-US" dirty="0"/>
              <a:t>This one is a little trickier than it looks because there is no easy way to say “everything but </a:t>
            </a:r>
            <a:r>
              <a:rPr lang="en-US" b="1" dirty="0"/>
              <a:t>ab</a:t>
            </a:r>
            <a:r>
              <a:rPr lang="en-US" dirty="0"/>
              <a:t>” in regex-speak. We need to figure out what structure the other strings all share that </a:t>
            </a:r>
            <a:r>
              <a:rPr lang="en-US" b="1" dirty="0"/>
              <a:t>ab</a:t>
            </a:r>
            <a:r>
              <a:rPr lang="en-US" dirty="0"/>
              <a:t> doesn’t.</a:t>
            </a:r>
          </a:p>
          <a:p>
            <a:pPr marL="0" indent="0">
              <a:buNone/>
            </a:pPr>
            <a:endParaRPr lang="en-US" dirty="0"/>
          </a:p>
          <a:p>
            <a:pPr marL="0" indent="0">
              <a:buNone/>
            </a:pPr>
            <a:r>
              <a:rPr lang="en-US" dirty="0"/>
              <a:t>There are a lot of ways to solve this one, but my personal favorite is to use the following observation. Any string that isn't </a:t>
            </a:r>
            <a:r>
              <a:rPr lang="en-US" b="1" dirty="0"/>
              <a:t>ab</a:t>
            </a:r>
            <a:r>
              <a:rPr lang="en-US" dirty="0"/>
              <a:t> is either</a:t>
            </a:r>
          </a:p>
          <a:p>
            <a:pPr>
              <a:buFont typeface="Arial" panose="020B0604020202020204" pitchFamily="34" charset="0"/>
              <a:buChar char="•"/>
            </a:pPr>
            <a:r>
              <a:rPr lang="en-US" dirty="0"/>
              <a:t>length 0, 1, or 3 or more, or</a:t>
            </a:r>
          </a:p>
          <a:p>
            <a:pPr>
              <a:buFont typeface="Arial" panose="020B0604020202020204" pitchFamily="34" charset="0"/>
              <a:buChar char="•"/>
            </a:pPr>
            <a:r>
              <a:rPr lang="en-US" dirty="0"/>
              <a:t>length 2 and not </a:t>
            </a:r>
            <a:r>
              <a:rPr lang="en-US" b="1" dirty="0"/>
              <a:t>ab</a:t>
            </a:r>
            <a:r>
              <a:rPr lang="en-US" dirty="0"/>
              <a:t>.</a:t>
            </a:r>
          </a:p>
          <a:p>
            <a:pPr>
              <a:buFont typeface="Arial" panose="020B0604020202020204" pitchFamily="34" charset="0"/>
              <a:buChar char="•"/>
            </a:pPr>
            <a:endParaRPr lang="en-US" dirty="0"/>
          </a:p>
          <a:p>
            <a:pPr marL="0" indent="0">
              <a:buNone/>
            </a:pPr>
            <a:r>
              <a:rPr lang="en-US" dirty="0"/>
              <a:t>We can directly encode option (1) and enumerate all choices for option (2) to get this regex:</a:t>
            </a:r>
          </a:p>
          <a:p>
            <a:pPr marL="0" indent="0" algn="ctr">
              <a:buNone/>
            </a:pPr>
            <a:endParaRPr lang="en-US" dirty="0"/>
          </a:p>
        </p:txBody>
      </p:sp>
      <p:pic>
        <p:nvPicPr>
          <p:cNvPr id="17" name="Picture 16">
            <a:extLst>
              <a:ext uri="{FF2B5EF4-FFF2-40B4-BE49-F238E27FC236}">
                <a16:creationId xmlns:a16="http://schemas.microsoft.com/office/drawing/2014/main" id="{1E035C74-A942-4793-A307-44055700CCC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2646377" y="4155468"/>
            <a:ext cx="3608053" cy="702282"/>
          </a:xfrm>
          <a:prstGeom prst="rect">
            <a:avLst/>
          </a:prstGeom>
        </p:spPr>
      </p:pic>
    </p:spTree>
    <p:extLst>
      <p:ext uri="{BB962C8B-B14F-4D97-AF65-F5344CB8AC3E}">
        <p14:creationId xmlns:p14="http://schemas.microsoft.com/office/powerpoint/2010/main" val="24764494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Regular Expression</a:t>
            </a:r>
          </a:p>
        </p:txBody>
      </p:sp>
      <p:pic>
        <p:nvPicPr>
          <p:cNvPr id="4" name="Picture 3" descr="imgres.png">
            <a:extLst>
              <a:ext uri="{FF2B5EF4-FFF2-40B4-BE49-F238E27FC236}">
                <a16:creationId xmlns:a16="http://schemas.microsoft.com/office/drawing/2014/main" id="{8D7C4A7C-90FB-4890-BAEF-9A74784E1E7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587990" y="400050"/>
            <a:ext cx="1098809" cy="1036971"/>
          </a:xfrm>
          <a:prstGeom prst="rect">
            <a:avLst/>
          </a:prstGeom>
        </p:spPr>
      </p:pic>
      <p:sp>
        <p:nvSpPr>
          <p:cNvPr id="12" name="Content Placeholder 2">
            <a:extLst>
              <a:ext uri="{FF2B5EF4-FFF2-40B4-BE49-F238E27FC236}">
                <a16:creationId xmlns:a16="http://schemas.microsoft.com/office/drawing/2014/main" id="{7954013F-D84E-45CA-A5CF-1C08EBE0496F}"/>
              </a:ext>
            </a:extLst>
          </p:cNvPr>
          <p:cNvSpPr>
            <a:spLocks noGrp="1"/>
          </p:cNvSpPr>
          <p:nvPr>
            <p:ph idx="1"/>
          </p:nvPr>
        </p:nvSpPr>
        <p:spPr>
          <a:xfrm>
            <a:off x="457200" y="1200150"/>
            <a:ext cx="8229600" cy="3657600"/>
          </a:xfrm>
        </p:spPr>
        <p:txBody>
          <a:bodyPr>
            <a:normAutofit/>
          </a:bodyPr>
          <a:lstStyle/>
          <a:p>
            <a:pPr marL="0" indent="0">
              <a:buNone/>
            </a:pPr>
            <a:r>
              <a:rPr lang="en-US" b="1" dirty="0">
                <a:solidFill>
                  <a:schemeClr val="accent1"/>
                </a:solidFill>
              </a:rPr>
              <a:t>Example</a:t>
            </a:r>
            <a:endParaRPr lang="en-US" i="1" dirty="0">
              <a:solidFill>
                <a:srgbClr val="808DA0"/>
              </a:solidFill>
            </a:endParaRPr>
          </a:p>
          <a:p>
            <a:pPr marL="0" indent="0">
              <a:buNone/>
            </a:pPr>
            <a:r>
              <a:rPr lang="en-US" dirty="0"/>
              <a:t>L</a:t>
            </a:r>
            <a:r>
              <a:rPr lang="en-US" sz="2000" baseline="-25000" dirty="0"/>
              <a:t>14</a:t>
            </a:r>
            <a:r>
              <a:rPr lang="en-US" dirty="0"/>
              <a:t> = { w </a:t>
            </a:r>
            <a:r>
              <a:rPr lang="en-US" dirty="0">
                <a:solidFill>
                  <a:srgbClr val="292934"/>
                </a:solidFill>
              </a:rPr>
              <a:t>|</a:t>
            </a:r>
            <a:r>
              <a:rPr lang="en-US" dirty="0"/>
              <a:t> number of 0s in w is a multiple of 3 }</a:t>
            </a:r>
          </a:p>
          <a:p>
            <a:pPr marL="0" indent="0">
              <a:buNone/>
            </a:pPr>
            <a:endParaRPr lang="en-US" dirty="0"/>
          </a:p>
          <a:p>
            <a:pPr marL="0" indent="0">
              <a:buNone/>
            </a:pPr>
            <a:r>
              <a:rPr lang="en-US" dirty="0"/>
              <a:t>L</a:t>
            </a:r>
            <a:r>
              <a:rPr lang="en-US" sz="2000" baseline="-25000" dirty="0"/>
              <a:t>15</a:t>
            </a:r>
            <a:r>
              <a:rPr lang="en-US" dirty="0"/>
              <a:t> = { w </a:t>
            </a:r>
            <a:r>
              <a:rPr lang="en-US" dirty="0">
                <a:solidFill>
                  <a:srgbClr val="292934"/>
                </a:solidFill>
              </a:rPr>
              <a:t>|</a:t>
            </a:r>
            <a:r>
              <a:rPr lang="en-US" dirty="0"/>
              <a:t> every 1 is followed by at least one 0  }</a:t>
            </a:r>
          </a:p>
          <a:p>
            <a:pPr marL="0" indent="0">
              <a:buNone/>
            </a:pPr>
            <a:endParaRPr lang="en-US" dirty="0"/>
          </a:p>
          <a:p>
            <a:pPr marL="0" indent="0">
              <a:buNone/>
            </a:pPr>
            <a:r>
              <a:rPr lang="en-US" dirty="0"/>
              <a:t>L</a:t>
            </a:r>
            <a:r>
              <a:rPr lang="en-US" sz="2000" baseline="-25000" dirty="0"/>
              <a:t>16</a:t>
            </a:r>
            <a:r>
              <a:rPr lang="en-US" dirty="0"/>
              <a:t> = {1</a:t>
            </a:r>
            <a:r>
              <a:rPr lang="en-US" baseline="30000" dirty="0"/>
              <a:t>m</a:t>
            </a:r>
            <a:r>
              <a:rPr lang="en-US" dirty="0"/>
              <a:t>0</a:t>
            </a:r>
            <a:r>
              <a:rPr lang="en-US" baseline="30000" dirty="0"/>
              <a:t>n</a:t>
            </a:r>
            <a:r>
              <a:rPr lang="en-US" dirty="0"/>
              <a:t> </a:t>
            </a:r>
            <a:r>
              <a:rPr lang="en-US" dirty="0">
                <a:solidFill>
                  <a:srgbClr val="292934"/>
                </a:solidFill>
              </a:rPr>
              <a:t>| m, n ≥</a:t>
            </a:r>
            <a:r>
              <a:rPr lang="en-US" baseline="30000" dirty="0">
                <a:solidFill>
                  <a:srgbClr val="292934"/>
                </a:solidFill>
              </a:rPr>
              <a:t> </a:t>
            </a:r>
            <a:r>
              <a:rPr lang="en-US" dirty="0">
                <a:solidFill>
                  <a:srgbClr val="292934"/>
                </a:solidFill>
              </a:rPr>
              <a:t>1</a:t>
            </a:r>
            <a:r>
              <a:rPr lang="en-US" dirty="0"/>
              <a:t>}</a:t>
            </a:r>
          </a:p>
          <a:p>
            <a:pPr marL="0" indent="0">
              <a:buNone/>
            </a:pPr>
            <a:endParaRPr lang="en-US" dirty="0"/>
          </a:p>
          <a:p>
            <a:pPr marL="0" indent="0">
              <a:buNone/>
            </a:pPr>
            <a:r>
              <a:rPr lang="en-US" dirty="0"/>
              <a:t>L</a:t>
            </a:r>
            <a:r>
              <a:rPr lang="en-US" baseline="-25000" dirty="0"/>
              <a:t>17 </a:t>
            </a:r>
            <a:r>
              <a:rPr lang="en-US" dirty="0"/>
              <a:t>= {L</a:t>
            </a:r>
            <a:r>
              <a:rPr lang="en-US" sz="2400" baseline="-25000" dirty="0"/>
              <a:t>14</a:t>
            </a:r>
            <a:r>
              <a:rPr lang="en-US" dirty="0"/>
              <a:t> ∩</a:t>
            </a:r>
            <a:r>
              <a:rPr lang="en-US" sz="2400" baseline="-25000" dirty="0"/>
              <a:t> </a:t>
            </a:r>
            <a:r>
              <a:rPr lang="en-US" dirty="0"/>
              <a:t>L</a:t>
            </a:r>
            <a:r>
              <a:rPr lang="en-US" sz="2400" baseline="-25000" dirty="0"/>
              <a:t>15</a:t>
            </a:r>
            <a:r>
              <a:rPr lang="en-US" dirty="0"/>
              <a:t> ∩ L</a:t>
            </a:r>
            <a:r>
              <a:rPr lang="en-US" sz="2000" baseline="-25000" dirty="0"/>
              <a:t>14</a:t>
            </a:r>
            <a:r>
              <a:rPr lang="en-US" sz="2000" dirty="0"/>
              <a:t>}</a:t>
            </a:r>
            <a:endParaRPr lang="en-US" dirty="0"/>
          </a:p>
          <a:p>
            <a:pPr marL="0" indent="0" algn="ctr">
              <a:buNone/>
            </a:pPr>
            <a:endParaRPr lang="en-US" dirty="0"/>
          </a:p>
        </p:txBody>
      </p:sp>
    </p:spTree>
    <p:extLst>
      <p:ext uri="{BB962C8B-B14F-4D97-AF65-F5344CB8AC3E}">
        <p14:creationId xmlns:p14="http://schemas.microsoft.com/office/powerpoint/2010/main" val="23884368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29120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Regular expressions in practice</a:t>
            </a:r>
          </a:p>
        </p:txBody>
      </p:sp>
      <p:sp>
        <p:nvSpPr>
          <p:cNvPr id="3" name="Content Placeholder 2"/>
          <p:cNvSpPr>
            <a:spLocks noGrp="1"/>
          </p:cNvSpPr>
          <p:nvPr>
            <p:ph idx="1"/>
          </p:nvPr>
        </p:nvSpPr>
        <p:spPr/>
        <p:txBody>
          <a:bodyPr/>
          <a:lstStyle/>
          <a:p>
            <a:r>
              <a:rPr lang="en-US" b="1"/>
              <a:t>Compilers</a:t>
            </a:r>
            <a:r>
              <a:rPr lang="en-US"/>
              <a:t>: first phase of compiling transforms Strings to Tokens </a:t>
            </a:r>
            <a:r>
              <a:rPr lang="en-US">
                <a:solidFill>
                  <a:schemeClr val="accent1"/>
                </a:solidFill>
              </a:rPr>
              <a:t>keywords, operators, identifiers, literals</a:t>
            </a:r>
          </a:p>
          <a:p>
            <a:pPr lvl="1"/>
            <a:r>
              <a:rPr lang="en-US">
                <a:solidFill>
                  <a:srgbClr val="4128D2"/>
                </a:solidFill>
              </a:rPr>
              <a:t>One regular expression for each token type</a:t>
            </a:r>
            <a:endParaRPr lang="en-US"/>
          </a:p>
          <a:p>
            <a:pPr lvl="1"/>
            <a:endParaRPr lang="en-US">
              <a:solidFill>
                <a:srgbClr val="4128D2"/>
              </a:solidFill>
            </a:endParaRPr>
          </a:p>
          <a:p>
            <a:r>
              <a:rPr lang="en-US" b="1">
                <a:solidFill>
                  <a:srgbClr val="292934"/>
                </a:solidFill>
              </a:rPr>
              <a:t>Other software tools</a:t>
            </a:r>
            <a:r>
              <a:rPr lang="en-US">
                <a:solidFill>
                  <a:srgbClr val="292934"/>
                </a:solidFill>
              </a:rPr>
              <a:t>: grep, Perl, Python, Java, Ruby, …</a:t>
            </a:r>
            <a:endParaRPr lang="en-US" b="1">
              <a:solidFill>
                <a:srgbClr val="292934"/>
              </a:solidFill>
            </a:endParaRPr>
          </a:p>
        </p:txBody>
      </p:sp>
    </p:spTree>
    <p:extLst>
      <p:ext uri="{BB962C8B-B14F-4D97-AF65-F5344CB8AC3E}">
        <p14:creationId xmlns:p14="http://schemas.microsoft.com/office/powerpoint/2010/main" val="13510944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"Regular = regular"		</a:t>
            </a:r>
            <a:r>
              <a:rPr lang="en-US" sz="1600" i="1">
                <a:solidFill>
                  <a:schemeClr val="accent6"/>
                </a:solidFill>
              </a:rPr>
              <a:t>Sipser Theorem 1.54 p. 66</a:t>
            </a:r>
          </a:p>
        </p:txBody>
      </p:sp>
      <p:sp>
        <p:nvSpPr>
          <p:cNvPr id="3" name="Content Placeholder 2"/>
          <p:cNvSpPr>
            <a:spLocks noGrp="1"/>
          </p:cNvSpPr>
          <p:nvPr>
            <p:ph idx="1"/>
          </p:nvPr>
        </p:nvSpPr>
        <p:spPr/>
        <p:txBody>
          <a:bodyPr/>
          <a:lstStyle/>
          <a:p>
            <a:pPr marL="0" indent="0">
              <a:buNone/>
            </a:pPr>
            <a:r>
              <a:rPr lang="en-US" b="1" dirty="0"/>
              <a:t>Theorem:</a:t>
            </a:r>
            <a:r>
              <a:rPr lang="en-US" dirty="0"/>
              <a:t> A language is regular if and only if some regular expression describes it.</a:t>
            </a:r>
          </a:p>
          <a:p>
            <a:pPr marL="0" indent="0">
              <a:buNone/>
            </a:pPr>
            <a:endParaRPr lang="en-US" b="1" dirty="0"/>
          </a:p>
          <a:p>
            <a:pPr marL="0" indent="0">
              <a:buNone/>
            </a:pPr>
            <a:r>
              <a:rPr lang="en-US" dirty="0">
                <a:solidFill>
                  <a:schemeClr val="tx2"/>
                </a:solidFill>
              </a:rPr>
              <a:t>Lemma 1.55</a:t>
            </a:r>
            <a:r>
              <a:rPr lang="en-US" dirty="0"/>
              <a:t>: If a language is described by a regular expression, then it is regular.</a:t>
            </a:r>
          </a:p>
          <a:p>
            <a:pPr marL="0" indent="0">
              <a:buNone/>
            </a:pPr>
            <a:endParaRPr lang="en-US" dirty="0">
              <a:solidFill>
                <a:schemeClr val="tx2"/>
              </a:solidFill>
            </a:endParaRPr>
          </a:p>
          <a:p>
            <a:pPr marL="0" indent="0">
              <a:buNone/>
            </a:pPr>
            <a:r>
              <a:rPr lang="en-US" dirty="0">
                <a:solidFill>
                  <a:schemeClr val="tx2"/>
                </a:solidFill>
              </a:rPr>
              <a:t>Lemma 1.60</a:t>
            </a:r>
            <a:r>
              <a:rPr lang="en-US" dirty="0"/>
              <a:t>: If a language is regular, then it is described by some regular expression</a:t>
            </a:r>
            <a:endParaRPr lang="en-US" dirty="0">
              <a:solidFill>
                <a:schemeClr val="tx2"/>
              </a:solidFill>
            </a:endParaRPr>
          </a:p>
        </p:txBody>
      </p:sp>
    </p:spTree>
    <p:extLst>
      <p:ext uri="{BB962C8B-B14F-4D97-AF65-F5344CB8AC3E}">
        <p14:creationId xmlns:p14="http://schemas.microsoft.com/office/powerpoint/2010/main" val="341856347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larity">
  <a:themeElements>
    <a:clrScheme name="UC">
      <a:dk1>
        <a:srgbClr val="292934"/>
      </a:dk1>
      <a:lt1>
        <a:srgbClr val="FFFFFF"/>
      </a:lt1>
      <a:dk2>
        <a:srgbClr val="4128D2"/>
      </a:dk2>
      <a:lt2>
        <a:srgbClr val="F3F2DC"/>
      </a:lt2>
      <a:accent1>
        <a:srgbClr val="F2AF0D"/>
      </a:accent1>
      <a:accent2>
        <a:srgbClr val="F6BC05"/>
      </a:accent2>
      <a:accent3>
        <a:srgbClr val="726056"/>
      </a:accent3>
      <a:accent4>
        <a:srgbClr val="4C5A6A"/>
      </a:accent4>
      <a:accent5>
        <a:srgbClr val="808DA0"/>
      </a:accent5>
      <a:accent6>
        <a:srgbClr val="79463D"/>
      </a:accent6>
      <a:hlink>
        <a:srgbClr val="0000FF"/>
      </a:hlink>
      <a:folHlink>
        <a:srgbClr val="800080"/>
      </a:folHlink>
    </a:clrScheme>
    <a:fontScheme name="Office Classic 2">
      <a:maj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돋움"/>
        <a:font script="Hans" typeface="华文新魏"/>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larity">
      <a:fillStyleLst>
        <a:solidFill>
          <a:schemeClr val="phClr"/>
        </a:solidFill>
        <a:gradFill rotWithShape="1">
          <a:gsLst>
            <a:gs pos="0">
              <a:schemeClr val="phClr">
                <a:tint val="50000"/>
                <a:shade val="86000"/>
                <a:satMod val="140000"/>
              </a:schemeClr>
            </a:gs>
            <a:gs pos="45000">
              <a:schemeClr val="phClr">
                <a:tint val="48000"/>
                <a:satMod val="150000"/>
              </a:schemeClr>
            </a:gs>
            <a:gs pos="100000">
              <a:schemeClr val="phClr">
                <a:tint val="28000"/>
                <a:satMod val="160000"/>
              </a:schemeClr>
            </a:gs>
          </a:gsLst>
          <a:path path="circle">
            <a:fillToRect l="100000" t="100000" r="100000" b="100000"/>
          </a:path>
        </a:gradFill>
        <a:gradFill rotWithShape="1">
          <a:gsLst>
            <a:gs pos="0">
              <a:schemeClr val="phClr">
                <a:shade val="70000"/>
                <a:satMod val="150000"/>
              </a:schemeClr>
            </a:gs>
            <a:gs pos="34000">
              <a:schemeClr val="phClr">
                <a:shade val="70000"/>
                <a:satMod val="140000"/>
              </a:schemeClr>
            </a:gs>
            <a:gs pos="70000">
              <a:schemeClr val="phClr">
                <a:tint val="100000"/>
                <a:shade val="90000"/>
                <a:satMod val="140000"/>
              </a:schemeClr>
            </a:gs>
            <a:gs pos="100000">
              <a:schemeClr val="phClr">
                <a:tint val="100000"/>
                <a:shade val="100000"/>
                <a:satMod val="100000"/>
              </a:schemeClr>
            </a:gs>
          </a:gsLst>
          <a:path path="circle">
            <a:fillToRect l="100000" t="100000" r="100000" b="100000"/>
          </a:path>
        </a:gradFill>
      </a:fillStyleLst>
      <a:lnStyleLst>
        <a:ln w="9525" cap="flat" cmpd="sng" algn="ctr">
          <a:solidFill>
            <a:schemeClr val="phClr"/>
          </a:solidFill>
          <a:prstDash val="solid"/>
        </a:ln>
        <a:ln w="26425" cap="flat" cmpd="sng" algn="ctr">
          <a:solidFill>
            <a:schemeClr val="phClr"/>
          </a:solidFill>
          <a:prstDash val="solid"/>
        </a:ln>
        <a:ln w="4445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38100" dist="25400" dir="2700000" algn="br" rotWithShape="0">
              <a:srgbClr val="000000">
                <a:alpha val="60000"/>
              </a:srgbClr>
            </a:outerShdw>
          </a:effectLst>
          <a:scene3d>
            <a:camera prst="orthographicFront">
              <a:rot lat="0" lon="0" rev="0"/>
            </a:camera>
            <a:lightRig rig="balanced" dir="t">
              <a:rot lat="0" lon="0" rev="5100000"/>
            </a:lightRig>
          </a:scene3d>
          <a:sp3d contourW="6350">
            <a:bevelT w="29210" h="12700"/>
            <a:contourClr>
              <a:schemeClr val="phClr">
                <a:shade val="30000"/>
                <a:satMod val="130000"/>
              </a:schemeClr>
            </a:contourClr>
          </a:sp3d>
        </a:effectStyle>
      </a:effectStyleLst>
      <a:bgFillStyleLst>
        <a:solidFill>
          <a:schemeClr val="phClr"/>
        </a:solidFill>
        <a:gradFill rotWithShape="1">
          <a:gsLst>
            <a:gs pos="0">
              <a:schemeClr val="phClr">
                <a:tint val="85000"/>
                <a:satMod val="180000"/>
              </a:schemeClr>
            </a:gs>
            <a:gs pos="40000">
              <a:schemeClr val="phClr">
                <a:tint val="95000"/>
                <a:shade val="85000"/>
                <a:satMod val="150000"/>
              </a:schemeClr>
            </a:gs>
            <a:gs pos="100000">
              <a:schemeClr val="phClr">
                <a:shade val="45000"/>
                <a:satMod val="200000"/>
              </a:schemeClr>
            </a:gs>
          </a:gsLst>
          <a:lin ang="5400000" scaled="0"/>
        </a:gradFill>
        <a:blipFill rotWithShape="1">
          <a:blip xmlns:r="http://schemas.openxmlformats.org/officeDocument/2006/relationships" r:embed="rId1">
            <a:duotone>
              <a:schemeClr val="phClr">
                <a:shade val="55000"/>
              </a:schemeClr>
              <a:schemeClr val="phClr">
                <a:tint val="97000"/>
                <a:satMod val="95000"/>
              </a:schemeClr>
            </a:duotone>
          </a:blip>
          <a:tile tx="0" ty="0" sx="70000" sy="70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Clarity.thmx</Template>
  <TotalTime>7529</TotalTime>
  <Words>1247</Words>
  <Application>Microsoft Office PowerPoint</Application>
  <PresentationFormat>On-screen Show (16:9)</PresentationFormat>
  <Paragraphs>169</Paragraphs>
  <Slides>30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Wingdings</vt:lpstr>
      <vt:lpstr>Clarity</vt:lpstr>
      <vt:lpstr>CSE331 Automata and computability</vt:lpstr>
      <vt:lpstr>Today's learning goals Sipser Ch 1.3</vt:lpstr>
      <vt:lpstr>Recap</vt:lpstr>
      <vt:lpstr>Regular expressions</vt:lpstr>
      <vt:lpstr>DFAs vs Regular Expressions</vt:lpstr>
      <vt:lpstr>The regular operations Sipser Def 1.23 p. 44</vt:lpstr>
      <vt:lpstr>Inductive application of closure Sipser 1.52 p. 64</vt:lpstr>
      <vt:lpstr>Syntax  Languages</vt:lpstr>
      <vt:lpstr>Syntax  Languages</vt:lpstr>
      <vt:lpstr>Syntax  Languages</vt:lpstr>
      <vt:lpstr>L(R)</vt:lpstr>
      <vt:lpstr>L(R)</vt:lpstr>
      <vt:lpstr>L(R)</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Writing Regular Expression</vt:lpstr>
      <vt:lpstr>PowerPoint Presentation</vt:lpstr>
      <vt:lpstr>Regular expressions in practice</vt:lpstr>
      <vt:lpstr>"Regular = regular"  Sipser Theorem 1.54 p. 66</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105 Theory of Computation</dc:title>
  <dc:subject/>
  <dc:creator>Mia Minnes Kemp</dc:creator>
  <cp:keywords/>
  <dc:description/>
  <cp:lastModifiedBy>Zayed Humayun</cp:lastModifiedBy>
  <cp:revision>588</cp:revision>
  <dcterms:created xsi:type="dcterms:W3CDTF">2014-10-03T04:30:04Z</dcterms:created>
  <dcterms:modified xsi:type="dcterms:W3CDTF">2026-07-09T10:45:55Z</dcterms:modified>
  <cp:category/>
</cp:coreProperties>
</file>