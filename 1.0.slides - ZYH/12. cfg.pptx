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6" r:id="rId3"/>
    <p:sldId id="486" r:id="rId4"/>
    <p:sldId id="479" r:id="rId5"/>
    <p:sldId id="487" r:id="rId6"/>
    <p:sldId id="489" r:id="rId7"/>
    <p:sldId id="488" r:id="rId8"/>
    <p:sldId id="490" r:id="rId9"/>
    <p:sldId id="491" r:id="rId10"/>
    <p:sldId id="493" r:id="rId11"/>
    <p:sldId id="492" r:id="rId12"/>
    <p:sldId id="495" r:id="rId13"/>
    <p:sldId id="500" r:id="rId14"/>
    <p:sldId id="501" r:id="rId15"/>
    <p:sldId id="502" r:id="rId16"/>
    <p:sldId id="503" r:id="rId17"/>
    <p:sldId id="504" r:id="rId18"/>
    <p:sldId id="517" r:id="rId19"/>
    <p:sldId id="518" r:id="rId20"/>
    <p:sldId id="536" r:id="rId21"/>
    <p:sldId id="537" r:id="rId22"/>
    <p:sldId id="538" r:id="rId23"/>
    <p:sldId id="521" r:id="rId24"/>
    <p:sldId id="525" r:id="rId25"/>
    <p:sldId id="528" r:id="rId26"/>
    <p:sldId id="529" r:id="rId27"/>
    <p:sldId id="530" r:id="rId28"/>
    <p:sldId id="539" r:id="rId29"/>
    <p:sldId id="540" r:id="rId30"/>
    <p:sldId id="532" r:id="rId31"/>
    <p:sldId id="533" r:id="rId32"/>
    <p:sldId id="542" r:id="rId33"/>
    <p:sldId id="543" r:id="rId34"/>
    <p:sldId id="541" r:id="rId35"/>
    <p:sldId id="534" r:id="rId36"/>
    <p:sldId id="535" r:id="rId37"/>
    <p:sldId id="544" r:id="rId38"/>
    <p:sldId id="509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0BC662-618E-43F7-98A5-348421E58B04}" v="2" dt="2025-09-11T04:30:55.6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>
        <p:scale>
          <a:sx n="125" d="100"/>
          <a:sy n="125" d="100"/>
        </p:scale>
        <p:origin x="1194" y="5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35DA8EDE-1902-4638-8616-443071F489F5}"/>
    <pc:docChg chg="modSld">
      <pc:chgData name="Shachar Lovett" userId="0c6d1e87c56e93c6" providerId="LiveId" clId="{35DA8EDE-1902-4638-8616-443071F489F5}" dt="2025-03-06T01:22:38.841" v="0"/>
      <pc:docMkLst>
        <pc:docMk/>
      </pc:docMkLst>
      <pc:sldChg chg="modSp mod">
        <pc:chgData name="Shachar Lovett" userId="0c6d1e87c56e93c6" providerId="LiveId" clId="{35DA8EDE-1902-4638-8616-443071F489F5}" dt="2025-03-06T01:22:38.841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9BEB4AAA-ABB3-4A0F-8742-69E678283EE7}"/>
    <pc:docChg chg="modSld">
      <pc:chgData name="Shachar Lovett" userId="0c6d1e87c56e93c6" providerId="LiveId" clId="{9BEB4AAA-ABB3-4A0F-8742-69E678283EE7}" dt="2019-04-01T12:20:00.057" v="0"/>
      <pc:docMkLst>
        <pc:docMk/>
      </pc:docMkLst>
      <pc:sldChg chg="modSp">
        <pc:chgData name="Shachar Lovett" userId="0c6d1e87c56e93c6" providerId="LiveId" clId="{9BEB4AAA-ABB3-4A0F-8742-69E678283EE7}" dt="2019-04-01T12:20:00.057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12E18075-FBA8-4043-89D8-96355AEFC2FC}"/>
    <pc:docChg chg="modSld">
      <pc:chgData name="Shachar Lovett" userId="0c6d1e87c56e93c6" providerId="LiveId" clId="{12E18075-FBA8-4043-89D8-96355AEFC2FC}" dt="2019-09-06T15:16:43.428" v="0"/>
      <pc:docMkLst>
        <pc:docMk/>
      </pc:docMkLst>
      <pc:sldChg chg="modSp">
        <pc:chgData name="Shachar Lovett" userId="0c6d1e87c56e93c6" providerId="LiveId" clId="{12E18075-FBA8-4043-89D8-96355AEFC2FC}" dt="2019-09-06T15:16:43.428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BF347D6E-7A36-47D3-BDE6-682B73CB7525}"/>
    <pc:docChg chg="addSld delSld modSld">
      <pc:chgData name="Shachar Lovett" userId="0c6d1e87c56e93c6" providerId="LiveId" clId="{BF347D6E-7A36-47D3-BDE6-682B73CB7525}" dt="2025-04-23T22:05:00.669" v="431" actId="6549"/>
      <pc:docMkLst>
        <pc:docMk/>
      </pc:docMkLst>
      <pc:sldChg chg="modSp del mod">
        <pc:chgData name="Shachar Lovett" userId="0c6d1e87c56e93c6" providerId="LiveId" clId="{BF347D6E-7A36-47D3-BDE6-682B73CB7525}" dt="2025-04-23T21:54:27.659" v="43" actId="47"/>
        <pc:sldMkLst>
          <pc:docMk/>
          <pc:sldMk cId="2804626822" sldId="481"/>
        </pc:sldMkLst>
      </pc:sldChg>
      <pc:sldChg chg="del">
        <pc:chgData name="Shachar Lovett" userId="0c6d1e87c56e93c6" providerId="LiveId" clId="{BF347D6E-7A36-47D3-BDE6-682B73CB7525}" dt="2025-04-23T21:52:46.512" v="1" actId="47"/>
        <pc:sldMkLst>
          <pc:docMk/>
          <pc:sldMk cId="1748044526" sldId="482"/>
        </pc:sldMkLst>
      </pc:sldChg>
      <pc:sldChg chg="modSp add mod">
        <pc:chgData name="Shachar Lovett" userId="0c6d1e87c56e93c6" providerId="LiveId" clId="{BF347D6E-7A36-47D3-BDE6-682B73CB7525}" dt="2025-04-23T21:55:16.827" v="55" actId="20577"/>
        <pc:sldMkLst>
          <pc:docMk/>
          <pc:sldMk cId="2998622251" sldId="483"/>
        </pc:sldMkLst>
      </pc:sldChg>
      <pc:sldChg chg="modSp add del mod">
        <pc:chgData name="Shachar Lovett" userId="0c6d1e87c56e93c6" providerId="LiveId" clId="{BF347D6E-7A36-47D3-BDE6-682B73CB7525}" dt="2025-04-23T21:56:11.657" v="56" actId="47"/>
        <pc:sldMkLst>
          <pc:docMk/>
          <pc:sldMk cId="2725852817" sldId="484"/>
        </pc:sldMkLst>
      </pc:sldChg>
      <pc:sldChg chg="modSp mod">
        <pc:chgData name="Shachar Lovett" userId="0c6d1e87c56e93c6" providerId="LiveId" clId="{BF347D6E-7A36-47D3-BDE6-682B73CB7525}" dt="2025-04-23T21:59:26.485" v="57" actId="20577"/>
        <pc:sldMkLst>
          <pc:docMk/>
          <pc:sldMk cId="3383902846" sldId="497"/>
        </pc:sldMkLst>
      </pc:sldChg>
      <pc:sldChg chg="modSp new mod">
        <pc:chgData name="Shachar Lovett" userId="0c6d1e87c56e93c6" providerId="LiveId" clId="{BF347D6E-7A36-47D3-BDE6-682B73CB7525}" dt="2025-04-23T22:05:00.669" v="431" actId="6549"/>
        <pc:sldMkLst>
          <pc:docMk/>
          <pc:sldMk cId="2617592791" sldId="505"/>
        </pc:sldMkLst>
      </pc:sldChg>
      <pc:sldChg chg="del">
        <pc:chgData name="Shachar Lovett" userId="0c6d1e87c56e93c6" providerId="LiveId" clId="{BF347D6E-7A36-47D3-BDE6-682B73CB7525}" dt="2025-04-23T21:52:51.590" v="2" actId="47"/>
        <pc:sldMkLst>
          <pc:docMk/>
          <pc:sldMk cId="3915071649" sldId="505"/>
        </pc:sldMkLst>
      </pc:sldChg>
    </pc:docChg>
  </pc:docChgLst>
  <pc:docChgLst>
    <pc:chgData name="Shachar Lovett" userId="0c6d1e87c56e93c6" providerId="LiveId" clId="{D115BFFD-887E-493A-9C55-8316AABAD0E9}"/>
    <pc:docChg chg="custSel modSld">
      <pc:chgData name="Shachar Lovett" userId="0c6d1e87c56e93c6" providerId="LiveId" clId="{D115BFFD-887E-493A-9C55-8316AABAD0E9}" dt="2025-09-11T04:36:06.780" v="217" actId="20577"/>
      <pc:docMkLst>
        <pc:docMk/>
      </pc:docMkLst>
      <pc:sldChg chg="modSp mod">
        <pc:chgData name="Shachar Lovett" userId="0c6d1e87c56e93c6" providerId="LiveId" clId="{D115BFFD-887E-493A-9C55-8316AABAD0E9}" dt="2025-09-11T04:36:06.780" v="217" actId="20577"/>
        <pc:sldMkLst>
          <pc:docMk/>
          <pc:sldMk cId="1882651833" sldId="256"/>
        </pc:sldMkLst>
        <pc:spChg chg="mod">
          <ac:chgData name="Shachar Lovett" userId="0c6d1e87c56e93c6" providerId="LiveId" clId="{D115BFFD-887E-493A-9C55-8316AABAD0E9}" dt="2025-09-11T04:36:06.780" v="217" actId="20577"/>
          <ac:spMkLst>
            <pc:docMk/>
            <pc:sldMk cId="1882651833" sldId="256"/>
            <ac:spMk id="3" creationId="{00000000-0000-0000-0000-000000000000}"/>
          </ac:spMkLst>
        </pc:spChg>
      </pc:sldChg>
      <pc:sldChg chg="modSp mod">
        <pc:chgData name="Shachar Lovett" userId="0c6d1e87c56e93c6" providerId="LiveId" clId="{D115BFFD-887E-493A-9C55-8316AABAD0E9}" dt="2025-09-11T04:31:50.597" v="201" actId="20577"/>
        <pc:sldMkLst>
          <pc:docMk/>
          <pc:sldMk cId="2617592791" sldId="505"/>
        </pc:sldMkLst>
        <pc:spChg chg="mod">
          <ac:chgData name="Shachar Lovett" userId="0c6d1e87c56e93c6" providerId="LiveId" clId="{D115BFFD-887E-493A-9C55-8316AABAD0E9}" dt="2025-09-11T04:31:50.597" v="201" actId="20577"/>
          <ac:spMkLst>
            <pc:docMk/>
            <pc:sldMk cId="2617592791" sldId="505"/>
            <ac:spMk id="3" creationId="{1B5F203C-8149-6E54-5614-8F3C0488FB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Thursday, April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975600" cy="1445419"/>
          </a:xfrm>
        </p:spPr>
        <p:txBody>
          <a:bodyPr>
            <a:normAutofit fontScale="90000"/>
          </a:bodyPr>
          <a:lstStyle/>
          <a:p>
            <a:r>
              <a:rPr lang="en-US" dirty="0"/>
              <a:t>CSE 331 </a:t>
            </a:r>
            <a:br>
              <a:rPr lang="en-US" dirty="0"/>
            </a:br>
            <a:r>
              <a:rPr lang="en-US" sz="4400" dirty="0"/>
              <a:t>Automata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Introduction to CFGs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learning goals	</a:t>
            </a:r>
            <a:r>
              <a:rPr lang="en-US" sz="2400" dirty="0" err="1"/>
              <a:t>Sipser</a:t>
            </a:r>
            <a:r>
              <a:rPr lang="en-US" sz="2400" dirty="0"/>
              <a:t> Ch 1.4, 2.1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context-free grammars</a:t>
            </a:r>
          </a:p>
          <a:p>
            <a:r>
              <a:rPr lang="en-US" dirty="0"/>
              <a:t>Test if a specific string can be generated by a given context-free grammar</a:t>
            </a:r>
          </a:p>
          <a:p>
            <a:r>
              <a:rPr lang="en-US" dirty="0"/>
              <a:t>Test if a specific string can be generated by a given context-free grammar</a:t>
            </a:r>
          </a:p>
          <a:p>
            <a:r>
              <a:rPr lang="en-US" dirty="0"/>
              <a:t>Design a context-free grammar to generate a given language</a:t>
            </a:r>
          </a:p>
          <a:p>
            <a:r>
              <a:rPr lang="en-US" dirty="0"/>
              <a:t>Determine if a context-free grammar is ambiguous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6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next model of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F2AF0D"/>
                </a:solidFill>
              </a:rPr>
              <a:t>Idea: </a:t>
            </a:r>
            <a:r>
              <a:rPr lang="en-US"/>
              <a:t>allow </a:t>
            </a:r>
            <a:r>
              <a:rPr lang="en-US" i="1"/>
              <a:t>some </a:t>
            </a:r>
            <a:r>
              <a:rPr lang="en-US"/>
              <a:t>memory of unbounded size</a:t>
            </a:r>
          </a:p>
          <a:p>
            <a:r>
              <a:rPr lang="en-US">
                <a:solidFill>
                  <a:srgbClr val="F2AF0D"/>
                </a:solidFill>
              </a:rPr>
              <a:t>How? </a:t>
            </a:r>
          </a:p>
          <a:p>
            <a:pPr lvl="1"/>
            <a:r>
              <a:rPr lang="en-US"/>
              <a:t>Generalization of regular expressions </a:t>
            </a:r>
            <a:r>
              <a:rPr lang="en-US">
                <a:sym typeface="Wingdings"/>
              </a:rPr>
              <a:t> </a:t>
            </a:r>
            <a:r>
              <a:rPr lang="en-US" b="1">
                <a:solidFill>
                  <a:schemeClr val="tx2"/>
                </a:solidFill>
                <a:sym typeface="Wingdings"/>
              </a:rPr>
              <a:t>Context-free grammars</a:t>
            </a:r>
          </a:p>
          <a:p>
            <a:pPr lvl="1"/>
            <a:r>
              <a:rPr lang="en-US">
                <a:sym typeface="Wingdings"/>
              </a:rPr>
              <a:t>Generalization for DFA  </a:t>
            </a:r>
            <a:r>
              <a:rPr lang="en-US" b="1">
                <a:solidFill>
                  <a:srgbClr val="4128D2"/>
                </a:solidFill>
                <a:sym typeface="Wingdings"/>
              </a:rPr>
              <a:t>Pushdown Automata</a:t>
            </a:r>
            <a:endParaRPr lang="en-US" b="1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83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0768" y="1143000"/>
            <a:ext cx="8647447" cy="3882297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All languages over Σ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Birds' eye view</a:t>
            </a:r>
          </a:p>
        </p:txBody>
      </p:sp>
      <p:sp>
        <p:nvSpPr>
          <p:cNvPr id="3" name="Oval 2"/>
          <p:cNvSpPr/>
          <p:nvPr/>
        </p:nvSpPr>
        <p:spPr>
          <a:xfrm>
            <a:off x="1255131" y="1536034"/>
            <a:ext cx="7279761" cy="333792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Context-free languages over Σ</a:t>
            </a:r>
          </a:p>
        </p:txBody>
      </p:sp>
      <p:sp>
        <p:nvSpPr>
          <p:cNvPr id="5" name="Oval 4"/>
          <p:cNvSpPr/>
          <p:nvPr/>
        </p:nvSpPr>
        <p:spPr>
          <a:xfrm>
            <a:off x="2126340" y="2643752"/>
            <a:ext cx="5699772" cy="2111367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Regular languages over Σ</a:t>
            </a:r>
          </a:p>
        </p:txBody>
      </p:sp>
      <p:sp>
        <p:nvSpPr>
          <p:cNvPr id="6" name="Oval 5"/>
          <p:cNvSpPr/>
          <p:nvPr/>
        </p:nvSpPr>
        <p:spPr>
          <a:xfrm>
            <a:off x="3036942" y="3485617"/>
            <a:ext cx="3847043" cy="1053361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Finite languages over Σ</a:t>
            </a:r>
          </a:p>
        </p:txBody>
      </p:sp>
    </p:spTree>
    <p:extLst>
      <p:ext uri="{BB962C8B-B14F-4D97-AF65-F5344CB8AC3E}">
        <p14:creationId xmlns:p14="http://schemas.microsoft.com/office/powerpoint/2010/main" val="361872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grammar	</a:t>
            </a:r>
            <a:r>
              <a:rPr lang="en-US" sz="1600" i="1">
                <a:solidFill>
                  <a:schemeClr val="accent6"/>
                </a:solidFill>
              </a:rPr>
              <a:t>Sipser Def 2.2, page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5"/>
                </a:solidFill>
              </a:rPr>
              <a:t>(V, Σ, R, S)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Variables</a:t>
            </a:r>
            <a:r>
              <a:rPr lang="en-US"/>
              <a:t>: finite set of </a:t>
            </a:r>
            <a:r>
              <a:rPr lang="en-US">
                <a:solidFill>
                  <a:schemeClr val="accent1"/>
                </a:solidFill>
              </a:rPr>
              <a:t>(usually upper case) </a:t>
            </a:r>
            <a:r>
              <a:rPr lang="en-US"/>
              <a:t>variables </a:t>
            </a:r>
            <a:r>
              <a:rPr lang="en-US" b="1">
                <a:solidFill>
                  <a:schemeClr val="tx2"/>
                </a:solidFill>
              </a:rPr>
              <a:t>V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Terminals</a:t>
            </a:r>
            <a:r>
              <a:rPr lang="en-US"/>
              <a:t>: finite set of </a:t>
            </a:r>
            <a:r>
              <a:rPr lang="en-US">
                <a:solidFill>
                  <a:schemeClr val="accent1"/>
                </a:solidFill>
              </a:rPr>
              <a:t>alphabet </a:t>
            </a:r>
            <a:r>
              <a:rPr lang="en-US"/>
              <a:t>symbols </a:t>
            </a:r>
            <a:r>
              <a:rPr lang="en-US" b="1">
                <a:solidFill>
                  <a:srgbClr val="4128D2"/>
                </a:solidFill>
              </a:rPr>
              <a:t>Σ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Rules/Productions</a:t>
            </a:r>
            <a:r>
              <a:rPr lang="en-US"/>
              <a:t>: finite set of allowed transformations  </a:t>
            </a:r>
            <a:r>
              <a:rPr lang="en-US" b="1">
                <a:solidFill>
                  <a:srgbClr val="4128D2"/>
                </a:solidFill>
              </a:rPr>
              <a:t>R</a:t>
            </a:r>
            <a:endParaRPr lang="en-US">
              <a:solidFill>
                <a:srgbClr val="4128D2"/>
              </a:solidFill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Start variable</a:t>
            </a:r>
            <a:r>
              <a:rPr lang="en-US"/>
              <a:t>: origination of each derivation </a:t>
            </a:r>
            <a:r>
              <a:rPr lang="en-US" b="1">
                <a:solidFill>
                  <a:srgbClr val="4128D2"/>
                </a:solidFill>
              </a:rPr>
              <a:t>S</a:t>
            </a:r>
            <a:endParaRPr lang="en-US">
              <a:solidFill>
                <a:srgbClr val="4128D2"/>
              </a:solidFill>
            </a:endParaRPr>
          </a:p>
          <a:p>
            <a:pPr marL="0" indent="0">
              <a:buNone/>
            </a:pPr>
            <a:endParaRPr lang="en-US" b="1"/>
          </a:p>
        </p:txBody>
      </p:sp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887" y="2712883"/>
            <a:ext cx="1003300" cy="215900"/>
          </a:xfrm>
          <a:prstGeom prst="rect">
            <a:avLst/>
          </a:prstGeom>
        </p:spPr>
      </p:pic>
      <p:pic>
        <p:nvPicPr>
          <p:cNvPr id="6" name="Picture 5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755" y="3912454"/>
            <a:ext cx="39243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768206" y="1834724"/>
            <a:ext cx="1160147" cy="61157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Callout 5"/>
          <p:cNvSpPr/>
          <p:nvPr/>
        </p:nvSpPr>
        <p:spPr>
          <a:xfrm>
            <a:off x="2978757" y="3199006"/>
            <a:ext cx="4044838" cy="1521096"/>
          </a:xfrm>
          <a:prstGeom prst="wedgeEllipseCallout">
            <a:avLst>
              <a:gd name="adj1" fmla="val -1834"/>
              <a:gd name="adj2" fmla="val -872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Notation: </a:t>
            </a:r>
          </a:p>
          <a:p>
            <a:pPr algn="ctr"/>
            <a:endParaRPr lang="en-US"/>
          </a:p>
          <a:p>
            <a:pPr algn="ctr"/>
            <a:r>
              <a:rPr lang="en-US"/>
              <a:t>Terminology: sequence of rule applications is </a:t>
            </a:r>
            <a:r>
              <a:rPr lang="en-US" b="1"/>
              <a:t>derivation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language	</a:t>
            </a:r>
            <a:r>
              <a:rPr lang="en-US" sz="1600" i="1">
                <a:solidFill>
                  <a:srgbClr val="79463D"/>
                </a:solidFill>
              </a:rPr>
              <a:t>Sipser p.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The </a:t>
            </a:r>
            <a:r>
              <a:rPr lang="en-US" sz="2000" b="1">
                <a:solidFill>
                  <a:schemeClr val="tx2"/>
                </a:solidFill>
              </a:rPr>
              <a:t>language</a:t>
            </a:r>
            <a:r>
              <a:rPr lang="en-US" sz="2000" b="1"/>
              <a:t> </a:t>
            </a:r>
            <a:r>
              <a:rPr lang="en-US" sz="2000"/>
              <a:t>generated by a CFG (V, Σ, R, S) is</a:t>
            </a:r>
          </a:p>
          <a:p>
            <a:pPr marL="0" indent="0">
              <a:buNone/>
            </a:pPr>
            <a:endParaRPr lang="en-US" sz="2000"/>
          </a:p>
          <a:p>
            <a:pPr marL="0" indent="0" algn="ctr">
              <a:buNone/>
            </a:pPr>
            <a:r>
              <a:rPr lang="en-US" sz="2000">
                <a:solidFill>
                  <a:srgbClr val="292934"/>
                </a:solidFill>
              </a:rPr>
              <a:t>{ w in Σ</a:t>
            </a:r>
            <a:r>
              <a:rPr lang="en-US" sz="2000" baseline="30000">
                <a:solidFill>
                  <a:srgbClr val="292934"/>
                </a:solidFill>
              </a:rPr>
              <a:t>* </a:t>
            </a:r>
            <a:r>
              <a:rPr lang="en-US" sz="2000">
                <a:solidFill>
                  <a:srgbClr val="292934"/>
                </a:solidFill>
              </a:rPr>
              <a:t>| Starting with the Start variable and applying one or more rules, can derive w on RHS}</a:t>
            </a:r>
          </a:p>
        </p:txBody>
      </p:sp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605" y="3559679"/>
            <a:ext cx="1143000" cy="203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4857" y="2850525"/>
            <a:ext cx="2141107" cy="212681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G = (V, Σ, R, S)</a:t>
            </a:r>
          </a:p>
          <a:p>
            <a:pPr algn="ctr"/>
            <a:r>
              <a:rPr lang="en-US"/>
              <a:t>the language generated by G is denoted L(G).</a:t>
            </a:r>
          </a:p>
        </p:txBody>
      </p:sp>
    </p:spTree>
    <p:extLst>
      <p:ext uri="{BB962C8B-B14F-4D97-AF65-F5344CB8AC3E}">
        <p14:creationId xmlns:p14="http://schemas.microsoft.com/office/powerpoint/2010/main" val="425704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Consider the CFG </a:t>
            </a:r>
          </a:p>
          <a:p>
            <a:pPr marL="0" indent="0" algn="ctr">
              <a:buNone/>
            </a:pPr>
            <a:r>
              <a:rPr lang="en-US"/>
              <a:t>({S}, {0}, R, S)</a:t>
            </a:r>
          </a:p>
          <a:p>
            <a:pPr marL="0" indent="0">
              <a:buNone/>
            </a:pPr>
            <a:r>
              <a:rPr lang="en-US"/>
              <a:t>where R is the following set of rules</a:t>
            </a:r>
          </a:p>
          <a:p>
            <a:pPr marL="0" indent="0" algn="ctr">
              <a:buNone/>
            </a:pPr>
            <a:r>
              <a:rPr lang="en-US"/>
              <a:t>S </a:t>
            </a:r>
            <a:r>
              <a:rPr lang="en-US">
                <a:sym typeface="Wingdings"/>
              </a:rPr>
              <a:t> 0S</a:t>
            </a:r>
          </a:p>
          <a:p>
            <a:pPr marL="0" indent="0" algn="ctr">
              <a:buNone/>
            </a:pPr>
            <a:r>
              <a:rPr lang="en-US">
                <a:sym typeface="Wingdings"/>
              </a:rPr>
              <a:t>S  0</a:t>
            </a:r>
          </a:p>
          <a:p>
            <a:pPr marL="0" indent="0" algn="ctr">
              <a:buNone/>
            </a:pPr>
            <a:endParaRPr lang="en-US">
              <a:sym typeface="Wingdings"/>
            </a:endParaRPr>
          </a:p>
          <a:p>
            <a:pPr marL="0" indent="0">
              <a:buNone/>
            </a:pPr>
            <a:r>
              <a:rPr lang="en-US">
                <a:sym typeface="Wingdings"/>
              </a:rPr>
              <a:t>Is this a well-formed definition?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No: there's more than one rule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No: the same LHS gets sent to two different strings.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No: one of the string in the RHS has both variables and literals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Yes.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I don't know.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2885378"/>
            <a:ext cx="7444345" cy="197237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4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language	</a:t>
            </a:r>
            <a:r>
              <a:rPr lang="en-US" sz="1600" i="1">
                <a:solidFill>
                  <a:srgbClr val="79463D"/>
                </a:solidFill>
              </a:rPr>
              <a:t>Sipser p.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For CFG G = (V, Σ, R, S), L(G) = { w in Σ</a:t>
            </a:r>
            <a:r>
              <a:rPr lang="en-US" sz="2000" baseline="30000">
                <a:solidFill>
                  <a:schemeClr val="bg1">
                    <a:lumMod val="50000"/>
                  </a:schemeClr>
                </a:solidFill>
              </a:rPr>
              <a:t>* 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| Starting with the Start variable and applying one or more rules, can derive w on RHS}.</a:t>
            </a: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292934"/>
                </a:solidFill>
              </a:rPr>
              <a:t>What is the language of the CFG </a:t>
            </a:r>
            <a:r>
              <a:rPr lang="en-US" sz="2000"/>
              <a:t>({S}, {0}, R, S) with </a:t>
            </a:r>
          </a:p>
          <a:p>
            <a:pPr marL="0" indent="0">
              <a:buNone/>
            </a:pPr>
            <a:r>
              <a:rPr lang="en-US" sz="2000"/>
              <a:t>R = {S </a:t>
            </a:r>
            <a:r>
              <a:rPr lang="en-US" sz="2000">
                <a:sym typeface="Wingdings"/>
              </a:rPr>
              <a:t> 0S, S  0} ? </a:t>
            </a:r>
          </a:p>
          <a:p>
            <a:pPr marL="0" indent="0">
              <a:buNone/>
            </a:pPr>
            <a:endParaRPr lang="en-US" sz="2000">
              <a:sym typeface="Wingdings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accent1"/>
                </a:solidFill>
                <a:sym typeface="Wingdings"/>
              </a:rPr>
              <a:t>A.</a:t>
            </a:r>
            <a:r>
              <a:rPr lang="en-US" sz="2000">
                <a:sym typeface="Wingdings"/>
              </a:rPr>
              <a:t> {0}		</a:t>
            </a:r>
            <a:r>
              <a:rPr lang="en-US" sz="2000">
                <a:solidFill>
                  <a:srgbClr val="F2AF0D"/>
                </a:solidFill>
                <a:sym typeface="Wingdings"/>
              </a:rPr>
              <a:t>B. </a:t>
            </a:r>
            <a:r>
              <a:rPr lang="en-US" sz="2000">
                <a:sym typeface="Wingdings"/>
              </a:rPr>
              <a:t>{0, 0S}	</a:t>
            </a:r>
            <a:r>
              <a:rPr lang="en-US" sz="2000">
                <a:solidFill>
                  <a:srgbClr val="F2AF0D"/>
                </a:solidFill>
                <a:sym typeface="Wingdings"/>
              </a:rPr>
              <a:t>C. </a:t>
            </a:r>
            <a:r>
              <a:rPr lang="en-US" sz="2000">
                <a:sym typeface="Wingdings"/>
              </a:rPr>
              <a:t>{0, 00, 000, …}</a:t>
            </a:r>
          </a:p>
          <a:p>
            <a:pPr marL="0" indent="0">
              <a:buNone/>
            </a:pPr>
            <a:r>
              <a:rPr lang="en-US" sz="2000">
                <a:solidFill>
                  <a:srgbClr val="F2AF0D"/>
                </a:solidFill>
                <a:sym typeface="Wingdings"/>
              </a:rPr>
              <a:t>D.</a:t>
            </a:r>
            <a:r>
              <a:rPr lang="en-US" sz="2000">
                <a:sym typeface="Wingdings"/>
              </a:rPr>
              <a:t> {ε, 0, 00, 000, …}		</a:t>
            </a:r>
            <a:r>
              <a:rPr lang="en-US" sz="2000">
                <a:solidFill>
                  <a:srgbClr val="F2AF0D"/>
                </a:solidFill>
                <a:sym typeface="Wingdings"/>
              </a:rPr>
              <a:t>E. </a:t>
            </a:r>
            <a:r>
              <a:rPr lang="en-US" sz="2000">
                <a:sym typeface="Wingdings"/>
              </a:rPr>
              <a:t>I don't know.	</a:t>
            </a: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963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language	</a:t>
            </a:r>
            <a:r>
              <a:rPr lang="en-US" sz="1600" i="1">
                <a:solidFill>
                  <a:srgbClr val="79463D"/>
                </a:solidFill>
              </a:rPr>
              <a:t>Sipser p.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292934"/>
                </a:solidFill>
              </a:rPr>
              <a:t>What is the language of the CFG </a:t>
            </a:r>
            <a:r>
              <a:rPr lang="en-US" sz="2000"/>
              <a:t>({S}, {0,1}, R, S) with </a:t>
            </a:r>
          </a:p>
          <a:p>
            <a:pPr marL="0" indent="0">
              <a:buNone/>
            </a:pPr>
            <a:r>
              <a:rPr lang="en-US" sz="2000"/>
              <a:t>R = the set of rules</a:t>
            </a:r>
          </a:p>
          <a:p>
            <a:pPr marL="0" indent="0" algn="ctr">
              <a:buNone/>
            </a:pPr>
            <a:r>
              <a:rPr lang="en-US" sz="2000">
                <a:sym typeface="Wingdings"/>
              </a:rPr>
              <a:t>S  0S</a:t>
            </a:r>
          </a:p>
          <a:p>
            <a:pPr marL="0" indent="0" algn="ctr">
              <a:buNone/>
            </a:pPr>
            <a:r>
              <a:rPr lang="en-US" sz="2000">
                <a:sym typeface="Wingdings"/>
              </a:rPr>
              <a:t>S  1S</a:t>
            </a:r>
          </a:p>
          <a:p>
            <a:pPr marL="0" indent="0" algn="ctr">
              <a:buNone/>
            </a:pPr>
            <a:r>
              <a:rPr lang="en-US" sz="2000">
                <a:sym typeface="Wingdings"/>
              </a:rPr>
              <a:t>S  ε</a:t>
            </a:r>
          </a:p>
          <a:p>
            <a:pPr marL="0" indent="0">
              <a:buNone/>
            </a:pPr>
            <a:endParaRPr lang="en-US" sz="2000">
              <a:sym typeface="Wingdings"/>
            </a:endParaRPr>
          </a:p>
          <a:p>
            <a:pPr marL="0" indent="0">
              <a:buNone/>
            </a:pPr>
            <a:r>
              <a:rPr lang="en-US" sz="2000">
                <a:solidFill>
                  <a:schemeClr val="accent1"/>
                </a:solidFill>
                <a:sym typeface="Wingdings"/>
              </a:rPr>
              <a:t>A.</a:t>
            </a:r>
            <a:r>
              <a:rPr lang="en-US" sz="2000">
                <a:sym typeface="Wingdings"/>
              </a:rPr>
              <a:t> L(0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1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)	</a:t>
            </a:r>
            <a:r>
              <a:rPr lang="en-US" sz="2000">
                <a:solidFill>
                  <a:srgbClr val="F2AF0D"/>
                </a:solidFill>
                <a:sym typeface="Wingdings"/>
              </a:rPr>
              <a:t>B. </a:t>
            </a:r>
            <a:r>
              <a:rPr lang="en-US" sz="2000">
                <a:sym typeface="Wingdings"/>
              </a:rPr>
              <a:t>L(0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 U 1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)	</a:t>
            </a:r>
            <a:r>
              <a:rPr lang="en-US" sz="2000">
                <a:solidFill>
                  <a:srgbClr val="F2AF0D"/>
                </a:solidFill>
                <a:sym typeface="Wingdings"/>
              </a:rPr>
              <a:t>C. </a:t>
            </a:r>
            <a:r>
              <a:rPr lang="en-US" sz="2000">
                <a:sym typeface="Wingdings"/>
              </a:rPr>
              <a:t>L( (0 U 1) 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)</a:t>
            </a:r>
          </a:p>
          <a:p>
            <a:pPr marL="0" indent="0">
              <a:buNone/>
            </a:pPr>
            <a:r>
              <a:rPr lang="en-US" sz="2000">
                <a:solidFill>
                  <a:srgbClr val="F2AF0D"/>
                </a:solidFill>
                <a:sym typeface="Wingdings"/>
              </a:rPr>
              <a:t>D.</a:t>
            </a:r>
            <a:r>
              <a:rPr lang="en-US" sz="2000">
                <a:sym typeface="Wingdings"/>
              </a:rPr>
              <a:t> L ( (0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1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) )</a:t>
            </a:r>
            <a:r>
              <a:rPr lang="en-US" sz="2000" baseline="30000">
                <a:sym typeface="Wingdings"/>
              </a:rPr>
              <a:t>*</a:t>
            </a:r>
            <a:r>
              <a:rPr lang="en-US" sz="2000">
                <a:sym typeface="Wingdings"/>
              </a:rPr>
              <a:t>		</a:t>
            </a:r>
            <a:r>
              <a:rPr lang="en-US" sz="2000">
                <a:solidFill>
                  <a:srgbClr val="F2AF0D"/>
                </a:solidFill>
                <a:sym typeface="Wingdings"/>
              </a:rPr>
              <a:t>E. </a:t>
            </a:r>
            <a:r>
              <a:rPr lang="en-US" sz="2000">
                <a:sym typeface="Wingdings"/>
              </a:rPr>
              <a:t>I don't know.	</a:t>
            </a: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5910481" y="1866087"/>
            <a:ext cx="2978757" cy="862477"/>
          </a:xfrm>
          <a:prstGeom prst="cloudCallout">
            <a:avLst>
              <a:gd name="adj1" fmla="val -65570"/>
              <a:gd name="adj2" fmla="val -2477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 </a:t>
            </a:r>
            <a:r>
              <a:rPr lang="en-US">
                <a:sym typeface="Wingdings"/>
              </a:rPr>
              <a:t> 0S | 1S | ε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79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a CFG to describe the language</a:t>
            </a:r>
          </a:p>
          <a:p>
            <a:pPr marL="0" indent="0" algn="ctr">
              <a:buNone/>
            </a:pPr>
            <a:r>
              <a:rPr lang="en-US"/>
              <a:t>{ abba 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V = { S, T, V, W } </a:t>
            </a:r>
          </a:p>
          <a:p>
            <a:pPr marL="0" indent="0">
              <a:buNone/>
            </a:pPr>
            <a:r>
              <a:rPr lang="en-US"/>
              <a:t>Σ = { a,b }</a:t>
            </a:r>
          </a:p>
          <a:p>
            <a:pPr marL="0" indent="0">
              <a:buNone/>
            </a:pPr>
            <a:r>
              <a:rPr lang="en-US"/>
              <a:t>R = { 	S </a:t>
            </a:r>
            <a:r>
              <a:rPr lang="en-US">
                <a:sym typeface="Wingdings"/>
              </a:rPr>
              <a:t> aT	T  bV	V  bW	W  a  }</a:t>
            </a:r>
            <a:endParaRPr lang="en-US"/>
          </a:p>
          <a:p>
            <a:pPr marL="0" indent="0">
              <a:buNone/>
            </a:pPr>
            <a:r>
              <a:rPr lang="en-US"/>
              <a:t>S 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6427844" y="737026"/>
            <a:ext cx="2716156" cy="1442689"/>
          </a:xfrm>
          <a:prstGeom prst="cloudCallout">
            <a:avLst>
              <a:gd name="adj1" fmla="val -67009"/>
              <a:gd name="adj2" fmla="val 298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Can CFGs describe simple sets?</a:t>
            </a:r>
          </a:p>
        </p:txBody>
      </p:sp>
    </p:spTree>
    <p:extLst>
      <p:ext uri="{BB962C8B-B14F-4D97-AF65-F5344CB8AC3E}">
        <p14:creationId xmlns:p14="http://schemas.microsoft.com/office/powerpoint/2010/main" val="339400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a CFG to describe the language</a:t>
            </a:r>
          </a:p>
          <a:p>
            <a:pPr marL="0" indent="0" algn="ctr">
              <a:buNone/>
            </a:pPr>
            <a:r>
              <a:rPr lang="en-US"/>
              <a:t>{ abba 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V =</a:t>
            </a:r>
          </a:p>
          <a:p>
            <a:pPr marL="0" indent="0">
              <a:buNone/>
            </a:pPr>
            <a:r>
              <a:rPr lang="en-US"/>
              <a:t>Σ = </a:t>
            </a:r>
          </a:p>
          <a:p>
            <a:pPr marL="0" indent="0">
              <a:buNone/>
            </a:pPr>
            <a:r>
              <a:rPr lang="en-US"/>
              <a:t>R = </a:t>
            </a:r>
          </a:p>
          <a:p>
            <a:pPr marL="0" indent="0">
              <a:buNone/>
            </a:pPr>
            <a:r>
              <a:rPr lang="en-US"/>
              <a:t>S = 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82128" y="2603112"/>
            <a:ext cx="4861448" cy="1972372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solidFill>
                  <a:srgbClr val="292934"/>
                </a:solidFill>
              </a:rPr>
              <a:t>What's the </a:t>
            </a:r>
            <a:r>
              <a:rPr lang="en-US" b="1">
                <a:solidFill>
                  <a:schemeClr val="tx2"/>
                </a:solidFill>
              </a:rPr>
              <a:t>set of terminals</a:t>
            </a:r>
            <a:r>
              <a:rPr lang="en-US">
                <a:solidFill>
                  <a:srgbClr val="292934"/>
                </a:solidFill>
              </a:rPr>
              <a:t> of this CFG?</a:t>
            </a:r>
          </a:p>
          <a:p>
            <a:pPr marL="342900" indent="-342900">
              <a:buAutoNum type="alphaUcPeriod"/>
            </a:pPr>
            <a:r>
              <a:rPr lang="en-US">
                <a:solidFill>
                  <a:srgbClr val="292934"/>
                </a:solidFill>
              </a:rPr>
              <a:t>{a,b}</a:t>
            </a:r>
          </a:p>
          <a:p>
            <a:pPr marL="342900" indent="-342900">
              <a:buAutoNum type="alphaUcPeriod"/>
            </a:pPr>
            <a:r>
              <a:rPr lang="en-US">
                <a:solidFill>
                  <a:srgbClr val="292934"/>
                </a:solidFill>
              </a:rPr>
              <a:t>V U S U Σ</a:t>
            </a:r>
          </a:p>
          <a:p>
            <a:pPr marL="342900" indent="-342900">
              <a:buAutoNum type="alphaUcPeriod"/>
            </a:pPr>
            <a:r>
              <a:rPr lang="en-US">
                <a:solidFill>
                  <a:srgbClr val="292934"/>
                </a:solidFill>
              </a:rPr>
              <a:t>{S, a, b}</a:t>
            </a:r>
          </a:p>
          <a:p>
            <a:pPr marL="342900" indent="-342900">
              <a:buAutoNum type="alphaUcPeriod"/>
            </a:pPr>
            <a:r>
              <a:rPr lang="en-US">
                <a:solidFill>
                  <a:srgbClr val="292934"/>
                </a:solidFill>
              </a:rPr>
              <a:t>{a,b, ε}</a:t>
            </a:r>
          </a:p>
          <a:p>
            <a:pPr marL="342900" indent="-342900">
              <a:buAutoNum type="alphaUcPeriod"/>
            </a:pPr>
            <a:r>
              <a:rPr lang="en-US">
                <a:solidFill>
                  <a:srgbClr val="292934"/>
                </a:solidFill>
              </a:rPr>
              <a:t>I don't know.</a:t>
            </a:r>
          </a:p>
          <a:p>
            <a:pPr marL="342900" indent="-342900">
              <a:buAutoNum type="alphaUcPeriod"/>
            </a:pPr>
            <a:endParaRPr lang="en-US">
              <a:solidFill>
                <a:srgbClr val="292934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6427844" y="737026"/>
            <a:ext cx="2716156" cy="1442689"/>
          </a:xfrm>
          <a:prstGeom prst="cloudCallout">
            <a:avLst>
              <a:gd name="adj1" fmla="val -67009"/>
              <a:gd name="adj2" fmla="val 298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Can CFGs describe simple sets?</a:t>
            </a:r>
          </a:p>
        </p:txBody>
      </p:sp>
    </p:spTree>
    <p:extLst>
      <p:ext uri="{BB962C8B-B14F-4D97-AF65-F5344CB8AC3E}">
        <p14:creationId xmlns:p14="http://schemas.microsoft.com/office/powerpoint/2010/main" val="2047502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a CFG to describe the language</a:t>
            </a:r>
          </a:p>
          <a:p>
            <a:pPr marL="0" indent="0" algn="ctr">
              <a:buNone/>
            </a:pPr>
            <a:r>
              <a:rPr lang="en-US"/>
              <a:t>{ abba 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 sz="2000"/>
              <a:t>( { S, T, V, W } , { a,b } , { S </a:t>
            </a:r>
            <a:r>
              <a:rPr lang="en-US" sz="2000">
                <a:sym typeface="Wingdings"/>
              </a:rPr>
              <a:t> aT , T  bV , V  bW , W  a  }, </a:t>
            </a:r>
            <a:r>
              <a:rPr lang="en-US" sz="2000"/>
              <a:t>S )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OR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( { S } , { a,b } , { S </a:t>
            </a:r>
            <a:r>
              <a:rPr lang="en-US" sz="2000">
                <a:sym typeface="Wingdings"/>
              </a:rPr>
              <a:t> abba } , S )</a:t>
            </a:r>
            <a:endParaRPr lang="en-US" sz="2000"/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6427844" y="737026"/>
            <a:ext cx="2716156" cy="1442689"/>
          </a:xfrm>
          <a:prstGeom prst="cloudCallout">
            <a:avLst>
              <a:gd name="adj1" fmla="val -67009"/>
              <a:gd name="adj2" fmla="val 298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Can CFGs describe simple sets?</a:t>
            </a:r>
          </a:p>
        </p:txBody>
      </p:sp>
    </p:spTree>
    <p:extLst>
      <p:ext uri="{BB962C8B-B14F-4D97-AF65-F5344CB8AC3E}">
        <p14:creationId xmlns:p14="http://schemas.microsoft.com/office/powerpoint/2010/main" val="164447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a CFG to describe the language</a:t>
            </a:r>
          </a:p>
          <a:p>
            <a:pPr marL="0" indent="0" algn="ctr">
              <a:buNone/>
            </a:pPr>
            <a:r>
              <a:rPr lang="en-US"/>
              <a:t>{ 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n</a:t>
            </a:r>
            <a:r>
              <a:rPr lang="en-US"/>
              <a:t> | n ≥ 0 }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4" name="Cloud Callout 3"/>
          <p:cNvSpPr/>
          <p:nvPr/>
        </p:nvSpPr>
        <p:spPr>
          <a:xfrm>
            <a:off x="6427844" y="737026"/>
            <a:ext cx="2716156" cy="1442689"/>
          </a:xfrm>
          <a:prstGeom prst="cloudCallout">
            <a:avLst>
              <a:gd name="adj1" fmla="val -67009"/>
              <a:gd name="adj2" fmla="val 298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 know this set is not regular!</a:t>
            </a:r>
          </a:p>
        </p:txBody>
      </p:sp>
    </p:spTree>
    <p:extLst>
      <p:ext uri="{BB962C8B-B14F-4D97-AF65-F5344CB8AC3E}">
        <p14:creationId xmlns:p14="http://schemas.microsoft.com/office/powerpoint/2010/main" val="252031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Building a CFG to describe the language</a:t>
            </a:r>
          </a:p>
          <a:p>
            <a:pPr marL="0" indent="0" algn="ctr">
              <a:buNone/>
            </a:pPr>
            <a:r>
              <a:rPr lang="en-US"/>
              <a:t>{ 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n</a:t>
            </a:r>
            <a:r>
              <a:rPr lang="en-US"/>
              <a:t> | n ≥ 0 }</a:t>
            </a:r>
          </a:p>
          <a:p>
            <a:pPr marL="0" indent="0" algn="ctr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One approach: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accent1"/>
                </a:solidFill>
              </a:rPr>
              <a:t>what is shortest string in the language?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accent1"/>
                </a:solidFill>
              </a:rPr>
              <a:t>how do we go from shorter strings to longer ones?</a:t>
            </a:r>
          </a:p>
        </p:txBody>
      </p:sp>
    </p:spTree>
    <p:extLst>
      <p:ext uri="{BB962C8B-B14F-4D97-AF65-F5344CB8AC3E}">
        <p14:creationId xmlns:p14="http://schemas.microsoft.com/office/powerpoint/2010/main" val="324428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 </a:t>
            </a:r>
            <a:r>
              <a:rPr lang="en-US" dirty="0" err="1"/>
              <a:t>a</a:t>
            </a:r>
            <a:r>
              <a:rPr lang="en-US" baseline="30000" dirty="0" err="1"/>
              <a:t>n</a:t>
            </a:r>
            <a:r>
              <a:rPr lang="en-US" dirty="0" err="1"/>
              <a:t>b</a:t>
            </a:r>
            <a:r>
              <a:rPr lang="en-US" baseline="30000" dirty="0" err="1"/>
              <a:t>n</a:t>
            </a:r>
            <a:r>
              <a:rPr lang="en-US" dirty="0"/>
              <a:t> | n ≥ 0 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 = { S }</a:t>
            </a:r>
          </a:p>
          <a:p>
            <a:pPr marL="0" indent="0">
              <a:buNone/>
            </a:pPr>
            <a:r>
              <a:rPr lang="en-US" dirty="0"/>
              <a:t>Σ = { </a:t>
            </a:r>
            <a:r>
              <a:rPr lang="en-US" dirty="0" err="1"/>
              <a:t>a,b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R = </a:t>
            </a:r>
          </a:p>
          <a:p>
            <a:pPr marL="0" indent="0">
              <a:buNone/>
            </a:pPr>
            <a:r>
              <a:rPr lang="en-US" dirty="0"/>
              <a:t>S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82128" y="2603112"/>
            <a:ext cx="4861448" cy="1972372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292934"/>
                </a:solidFill>
              </a:rPr>
              <a:t>Which rules would complete this CFG?</a:t>
            </a:r>
          </a:p>
          <a:p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ab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aS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 | Sb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FF0000"/>
                </a:solidFill>
              </a:rPr>
              <a:t>S 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FF0000"/>
                </a:solidFill>
                <a:sym typeface="Wingdings"/>
              </a:rPr>
              <a:t>aSb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We need another variable other than S.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I don't know.</a:t>
            </a:r>
          </a:p>
          <a:p>
            <a:pPr marL="342900" indent="-342900">
              <a:buAutoNum type="alphaUcPeriod"/>
            </a:pPr>
            <a:endParaRPr lang="en-US" dirty="0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718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 0</a:t>
            </a:r>
            <a:r>
              <a:rPr lang="en-US" baseline="30000" dirty="0"/>
              <a:t>n</a:t>
            </a:r>
            <a:r>
              <a:rPr lang="en-US" dirty="0"/>
              <a:t>1</a:t>
            </a:r>
            <a:r>
              <a:rPr lang="en-US" baseline="30000" dirty="0"/>
              <a:t>m</a:t>
            </a: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 | </a:t>
            </a:r>
            <a:r>
              <a:rPr lang="en-US" dirty="0" err="1"/>
              <a:t>n,m</a:t>
            </a:r>
            <a:r>
              <a:rPr lang="en-US" dirty="0"/>
              <a:t> ≥ 0 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chemeClr val="accent2"/>
                </a:solidFill>
              </a:rPr>
              <a:t>Hint: work from the outside in.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6427844" y="737026"/>
            <a:ext cx="2716156" cy="1442689"/>
          </a:xfrm>
          <a:prstGeom prst="cloudCallout">
            <a:avLst>
              <a:gd name="adj1" fmla="val -67009"/>
              <a:gd name="adj2" fmla="val 298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Also not a regular set</a:t>
            </a:r>
          </a:p>
        </p:txBody>
      </p:sp>
    </p:spTree>
    <p:extLst>
      <p:ext uri="{BB962C8B-B14F-4D97-AF65-F5344CB8AC3E}">
        <p14:creationId xmlns:p14="http://schemas.microsoft.com/office/powerpoint/2010/main" val="423309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 0</a:t>
            </a:r>
            <a:r>
              <a:rPr lang="en-US" baseline="30000" dirty="0"/>
              <a:t>n</a:t>
            </a:r>
            <a:r>
              <a:rPr lang="en-US" dirty="0"/>
              <a:t>1</a:t>
            </a:r>
            <a:r>
              <a:rPr lang="en-US" baseline="30000" dirty="0"/>
              <a:t>m</a:t>
            </a: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 | </a:t>
            </a:r>
            <a:r>
              <a:rPr lang="en-US" dirty="0" err="1"/>
              <a:t>n,m</a:t>
            </a:r>
            <a:r>
              <a:rPr lang="en-US" dirty="0"/>
              <a:t> ≥ 0 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chemeClr val="accent2"/>
                </a:solidFill>
              </a:rPr>
              <a:t>Hint: work from the outside in.</a:t>
            </a:r>
          </a:p>
          <a:p>
            <a:pPr marL="0" indent="0">
              <a:buNone/>
            </a:pPr>
            <a:r>
              <a:rPr lang="en-US" dirty="0"/>
              <a:t>V = { S, T }</a:t>
            </a:r>
          </a:p>
          <a:p>
            <a:pPr marL="0" indent="0">
              <a:buNone/>
            </a:pPr>
            <a:r>
              <a:rPr lang="en-US" dirty="0"/>
              <a:t>Σ = { 0,1,2 }</a:t>
            </a:r>
          </a:p>
          <a:p>
            <a:pPr marL="0" indent="0">
              <a:buNone/>
            </a:pPr>
            <a:r>
              <a:rPr lang="en-US" dirty="0"/>
              <a:t>R = { S </a:t>
            </a:r>
            <a:r>
              <a:rPr lang="en-US" dirty="0">
                <a:sym typeface="Wingdings"/>
              </a:rPr>
              <a:t> 0S2 | T | ε	, 	T  1T | ε	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 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6427844" y="737026"/>
            <a:ext cx="2716156" cy="1442689"/>
          </a:xfrm>
          <a:prstGeom prst="cloudCallout">
            <a:avLst>
              <a:gd name="adj1" fmla="val -67009"/>
              <a:gd name="adj2" fmla="val 298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Also not a regular set</a:t>
            </a:r>
          </a:p>
        </p:txBody>
      </p:sp>
    </p:spTree>
    <p:extLst>
      <p:ext uri="{BB962C8B-B14F-4D97-AF65-F5344CB8AC3E}">
        <p14:creationId xmlns:p14="http://schemas.microsoft.com/office/powerpoint/2010/main" val="3473247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every regular language a CFL?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Approach 1</a:t>
            </a:r>
            <a:r>
              <a:rPr lang="en-US"/>
              <a:t>: start with an arbitrary DFA M, build a CFG that generates L(M).</a:t>
            </a:r>
          </a:p>
          <a:p>
            <a:endParaRPr lang="en-US" b="1"/>
          </a:p>
          <a:p>
            <a:r>
              <a:rPr lang="en-US" b="1">
                <a:solidFill>
                  <a:srgbClr val="4128D2"/>
                </a:solidFill>
              </a:rPr>
              <a:t>Approach 2</a:t>
            </a:r>
            <a:r>
              <a:rPr lang="en-US"/>
              <a:t>: build CFGs for {a}, {ε}, {}; then show that the class of CFL is closed under the regular operations (union, concatenation, Kleene star).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92037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Approach 1 (Converting regular languages into CFL)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Claim</a:t>
            </a:r>
            <a:r>
              <a:rPr lang="en-US" dirty="0"/>
              <a:t>: Given any DFA M, there is a CFG whose language is L(M).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Construction: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2AF0D"/>
                </a:solidFill>
              </a:rPr>
              <a:t>Trace computation using variables to denote state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Given M = (Q,Σ,δ,q</a:t>
            </a:r>
            <a:r>
              <a:rPr lang="en-US" baseline="-25000" dirty="0"/>
              <a:t>0</a:t>
            </a:r>
            <a:r>
              <a:rPr lang="en-US" dirty="0"/>
              <a:t>,F) a DFA, define the CFG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V</a:t>
            </a:r>
            <a:r>
              <a:rPr lang="en-US" dirty="0"/>
              <a:t> = { S</a:t>
            </a:r>
            <a:r>
              <a:rPr lang="en-US" baseline="-25000" dirty="0"/>
              <a:t>i</a:t>
            </a:r>
            <a:r>
              <a:rPr lang="en-US" dirty="0"/>
              <a:t> | q</a:t>
            </a:r>
            <a:r>
              <a:rPr lang="en-US" baseline="-25000" dirty="0"/>
              <a:t>i</a:t>
            </a:r>
            <a:r>
              <a:rPr lang="en-US" dirty="0"/>
              <a:t> is in Q }</a:t>
            </a: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Σ</a:t>
            </a: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R</a:t>
            </a:r>
            <a:r>
              <a:rPr lang="en-US" dirty="0"/>
              <a:t> = { S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 </a:t>
            </a:r>
            <a:r>
              <a:rPr lang="en-US" dirty="0" err="1">
                <a:sym typeface="Wingdings"/>
              </a:rPr>
              <a:t>aS</a:t>
            </a:r>
            <a:r>
              <a:rPr lang="en-US" baseline="-25000" dirty="0" err="1">
                <a:sym typeface="Wingdings"/>
              </a:rPr>
              <a:t>j</a:t>
            </a:r>
            <a:r>
              <a:rPr lang="en-US" dirty="0">
                <a:sym typeface="Wingdings"/>
              </a:rPr>
              <a:t> | δ(</a:t>
            </a:r>
            <a:r>
              <a:rPr lang="en-US" dirty="0" err="1">
                <a:sym typeface="Wingdings"/>
              </a:rPr>
              <a:t>q</a:t>
            </a:r>
            <a:r>
              <a:rPr lang="en-US" baseline="-25000" dirty="0" err="1">
                <a:sym typeface="Wingdings"/>
              </a:rPr>
              <a:t>i</a:t>
            </a:r>
            <a:r>
              <a:rPr lang="en-US" dirty="0" err="1">
                <a:sym typeface="Wingdings"/>
              </a:rPr>
              <a:t>,a</a:t>
            </a:r>
            <a:r>
              <a:rPr lang="en-US" dirty="0">
                <a:sym typeface="Wingdings"/>
              </a:rPr>
              <a:t>) = </a:t>
            </a:r>
            <a:r>
              <a:rPr lang="en-US" dirty="0" err="1">
                <a:sym typeface="Wingdings"/>
              </a:rPr>
              <a:t>q</a:t>
            </a:r>
            <a:r>
              <a:rPr lang="en-US" baseline="-25000" dirty="0" err="1">
                <a:sym typeface="Wingdings"/>
              </a:rPr>
              <a:t>j</a:t>
            </a:r>
            <a:r>
              <a:rPr lang="en-US" dirty="0">
                <a:sym typeface="Wingdings"/>
              </a:rPr>
              <a:t> } U { S</a:t>
            </a:r>
            <a:r>
              <a:rPr lang="en-US" baseline="-25000" dirty="0">
                <a:sym typeface="Wingdings"/>
              </a:rPr>
              <a:t>i</a:t>
            </a:r>
            <a:r>
              <a:rPr lang="en-US" dirty="0">
                <a:sym typeface="Wingdings"/>
              </a:rPr>
              <a:t>  ε | q</a:t>
            </a:r>
            <a:r>
              <a:rPr lang="en-US" baseline="-25000" dirty="0">
                <a:sym typeface="Wingdings"/>
              </a:rPr>
              <a:t>i</a:t>
            </a:r>
            <a:r>
              <a:rPr lang="en-US" dirty="0">
                <a:sym typeface="Wingdings"/>
              </a:rPr>
              <a:t> is in F}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S</a:t>
            </a:r>
            <a:r>
              <a:rPr lang="en-US" dirty="0"/>
              <a:t> = S</a:t>
            </a:r>
            <a:r>
              <a:rPr lang="en-US" baseline="-25000" dirty="0"/>
              <a:t>0								</a:t>
            </a:r>
          </a:p>
          <a:p>
            <a:pPr marL="0" indent="0">
              <a:buNone/>
            </a:pPr>
            <a:r>
              <a:rPr lang="en-US" i="1" dirty="0">
                <a:solidFill>
                  <a:srgbClr val="4128D2"/>
                </a:solidFill>
              </a:rPr>
              <a:t>Then prove correctness…</a:t>
            </a:r>
            <a:endParaRPr lang="en-US" dirty="0">
              <a:solidFill>
                <a:srgbClr val="4128D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476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FC8A-91B6-2929-8A0B-8FFF45AF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Approach 1 (Converting regular languages into CFL)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A41DC0-9DB6-2D19-ECB5-DEA7408AA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1308100"/>
            <a:ext cx="6388100" cy="289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78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1226-486D-46C4-B493-CAE1DF40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E1E2-052B-90B1-636F-EBD66B5E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Approach 1 (Converting regular languages into CFL)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8434C-106B-328A-3D78-E7C10A78E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{w | w start and end with different symbols}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chemeClr val="accent2"/>
                </a:solidFill>
              </a:rPr>
              <a:t>Hint: write the regular expression first then convert the regular expression to CFG</a:t>
            </a:r>
          </a:p>
          <a:p>
            <a:pPr marL="0" indent="0">
              <a:buNone/>
            </a:pPr>
            <a:endParaRPr lang="en-US" i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/>
              <a:t>Regular expression: a(</a:t>
            </a:r>
            <a:r>
              <a:rPr lang="en-US" dirty="0" err="1"/>
              <a:t>a+b</a:t>
            </a:r>
            <a:r>
              <a:rPr lang="en-US" dirty="0"/>
              <a:t>)*b + b(</a:t>
            </a:r>
            <a:r>
              <a:rPr lang="en-US" dirty="0" err="1"/>
              <a:t>a+b</a:t>
            </a:r>
            <a:r>
              <a:rPr lang="en-US" dirty="0"/>
              <a:t>)*a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89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2B88-027B-5045-D0EC-C3D42AFB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401A-1F37-DA86-C78C-C6A06584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Approach 1 (Converting regular languages into CFL)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9808-E771-3FE8-5DE0-5E06120D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{w | w start and end with different symbols}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 = { S, A, B }</a:t>
            </a:r>
          </a:p>
          <a:p>
            <a:pPr marL="0" indent="0">
              <a:buNone/>
            </a:pPr>
            <a:r>
              <a:rPr lang="en-US" dirty="0"/>
              <a:t>Σ = { </a:t>
            </a:r>
            <a:r>
              <a:rPr lang="en-US" dirty="0" err="1"/>
              <a:t>a,b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R = { S </a:t>
            </a:r>
            <a:r>
              <a:rPr lang="en-US" dirty="0">
                <a:sym typeface="Wingdings"/>
              </a:rPr>
              <a:t> </a:t>
            </a:r>
            <a:r>
              <a:rPr lang="en-US" dirty="0" err="1">
                <a:sym typeface="Wingdings"/>
              </a:rPr>
              <a:t>aPb</a:t>
            </a:r>
            <a:r>
              <a:rPr lang="en-US" dirty="0">
                <a:sym typeface="Wingdings"/>
              </a:rPr>
              <a:t> | </a:t>
            </a:r>
            <a:r>
              <a:rPr lang="en-US" dirty="0" err="1">
                <a:sym typeface="Wingdings"/>
              </a:rPr>
              <a:t>bPa</a:t>
            </a:r>
            <a:r>
              <a:rPr lang="en-US" dirty="0">
                <a:sym typeface="Wingdings"/>
              </a:rPr>
              <a:t> , P  </a:t>
            </a:r>
            <a:r>
              <a:rPr lang="en-US" dirty="0" err="1">
                <a:sym typeface="Wingdings"/>
              </a:rPr>
              <a:t>aP</a:t>
            </a:r>
            <a:r>
              <a:rPr lang="en-US" dirty="0">
                <a:sym typeface="Wingdings"/>
              </a:rPr>
              <a:t> | </a:t>
            </a:r>
            <a:r>
              <a:rPr lang="en-US" dirty="0" err="1">
                <a:sym typeface="Wingdings"/>
              </a:rPr>
              <a:t>bP</a:t>
            </a:r>
            <a:r>
              <a:rPr lang="en-US" dirty="0">
                <a:sym typeface="Wingdings"/>
              </a:rPr>
              <a:t> | ε	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 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780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Build CFGs for {a}, {ε}, {}; then show that the class of CFL is closed under the regular operations (union, concatenation, Kleene star).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35156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7E047-F9E4-3622-7153-0B7378B0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88A5-D791-2A2B-86FC-D50B9092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6224F-8289-34D4-6B43-ACEC77C34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G</a:t>
            </a:r>
            <a:r>
              <a:rPr lang="en-US" baseline="-25000" dirty="0"/>
              <a:t>1</a:t>
            </a:r>
            <a:r>
              <a:rPr lang="en-US" dirty="0"/>
              <a:t> = (V</a:t>
            </a:r>
            <a:r>
              <a:rPr lang="en-US" baseline="-25000" dirty="0"/>
              <a:t>1</a:t>
            </a:r>
            <a:r>
              <a:rPr lang="en-US" dirty="0"/>
              <a:t>, Σ, R</a:t>
            </a:r>
            <a:r>
              <a:rPr lang="en-US" baseline="-25000" dirty="0"/>
              <a:t>1</a:t>
            </a:r>
            <a:r>
              <a:rPr lang="en-US" dirty="0"/>
              <a:t>, S</a:t>
            </a:r>
            <a:r>
              <a:rPr lang="en-US" baseline="-25000" dirty="0"/>
              <a:t>1</a:t>
            </a:r>
            <a:r>
              <a:rPr lang="en-US" dirty="0"/>
              <a:t>) and G</a:t>
            </a:r>
            <a:r>
              <a:rPr lang="en-US" baseline="-25000" dirty="0"/>
              <a:t>2</a:t>
            </a:r>
            <a:r>
              <a:rPr lang="en-US" dirty="0"/>
              <a:t> = (V</a:t>
            </a:r>
            <a:r>
              <a:rPr lang="en-US" baseline="-25000" dirty="0"/>
              <a:t>2</a:t>
            </a:r>
            <a:r>
              <a:rPr lang="en-US" dirty="0"/>
              <a:t>, Σ, R</a:t>
            </a:r>
            <a:r>
              <a:rPr lang="en-US" baseline="-25000" dirty="0"/>
              <a:t>2</a:t>
            </a:r>
            <a:r>
              <a:rPr lang="en-US" dirty="0"/>
              <a:t>, S</a:t>
            </a:r>
            <a:r>
              <a:rPr lang="en-US" baseline="-25000" dirty="0"/>
              <a:t>2</a:t>
            </a:r>
            <a:r>
              <a:rPr lang="en-US" dirty="0"/>
              <a:t>) are CFGs</a:t>
            </a:r>
          </a:p>
          <a:p>
            <a:pPr marL="0" indent="0">
              <a:buNone/>
            </a:pPr>
            <a:r>
              <a:rPr lang="en-US" dirty="0"/>
              <a:t>and  G</a:t>
            </a:r>
            <a:r>
              <a:rPr lang="en-US" baseline="-25000" dirty="0"/>
              <a:t>1</a:t>
            </a:r>
            <a:r>
              <a:rPr lang="en-US" dirty="0"/>
              <a:t> describes L</a:t>
            </a:r>
            <a:r>
              <a:rPr lang="en-US" baseline="-25000" dirty="0"/>
              <a:t>1</a:t>
            </a:r>
            <a:r>
              <a:rPr lang="en-US" dirty="0"/>
              <a:t>, G</a:t>
            </a:r>
            <a:r>
              <a:rPr lang="en-US" baseline="-25000" dirty="0"/>
              <a:t>2</a:t>
            </a:r>
            <a:r>
              <a:rPr lang="en-US" dirty="0"/>
              <a:t> describes L</a:t>
            </a:r>
            <a:r>
              <a:rPr lang="en-US" baseline="-25000" dirty="0"/>
              <a:t>2,</a:t>
            </a:r>
            <a:r>
              <a:rPr lang="en-US" dirty="0"/>
              <a:t> how can we combine the grammars so we describe L</a:t>
            </a:r>
            <a:r>
              <a:rPr lang="en-US" baseline="-25000" dirty="0"/>
              <a:t>1</a:t>
            </a:r>
            <a:r>
              <a:rPr lang="en-US" dirty="0"/>
              <a:t> U L</a:t>
            </a:r>
            <a:r>
              <a:rPr lang="en-US" baseline="-25000" dirty="0"/>
              <a:t>2</a:t>
            </a:r>
            <a:r>
              <a:rPr lang="en-US" dirty="0"/>
              <a:t> 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 = V</a:t>
            </a:r>
            <a:r>
              <a:rPr lang="en-US" baseline="-25000" dirty="0"/>
              <a:t>1</a:t>
            </a:r>
            <a:r>
              <a:rPr lang="en-US" dirty="0"/>
              <a:t> U V</a:t>
            </a:r>
            <a:r>
              <a:rPr lang="en-US" baseline="-25000" dirty="0"/>
              <a:t>2 </a:t>
            </a:r>
            <a:r>
              <a:rPr lang="en-US" dirty="0"/>
              <a:t>U {S}</a:t>
            </a:r>
          </a:p>
          <a:p>
            <a:pPr marL="0" indent="0">
              <a:buNone/>
            </a:pPr>
            <a:r>
              <a:rPr lang="en-US" dirty="0"/>
              <a:t>Σ</a:t>
            </a:r>
          </a:p>
          <a:p>
            <a:pPr marL="0" indent="0">
              <a:buNone/>
            </a:pPr>
            <a:r>
              <a:rPr lang="en-US" dirty="0"/>
              <a:t>R = R</a:t>
            </a:r>
            <a:r>
              <a:rPr lang="en-US" baseline="-25000" dirty="0"/>
              <a:t>1</a:t>
            </a:r>
            <a:r>
              <a:rPr lang="en-US" dirty="0"/>
              <a:t> U</a:t>
            </a:r>
            <a:r>
              <a:rPr lang="en-US" b="1" dirty="0"/>
              <a:t> </a:t>
            </a:r>
            <a:r>
              <a:rPr lang="en-US" dirty="0"/>
              <a:t>R</a:t>
            </a:r>
            <a:r>
              <a:rPr lang="en-US" baseline="-25000" dirty="0"/>
              <a:t>2 </a:t>
            </a:r>
            <a:r>
              <a:rPr lang="en-US" dirty="0"/>
              <a:t>U {S → S</a:t>
            </a:r>
            <a:r>
              <a:rPr lang="en-US" baseline="-25000" dirty="0"/>
              <a:t>1</a:t>
            </a:r>
            <a:r>
              <a:rPr lang="en-US" dirty="0"/>
              <a:t> | S</a:t>
            </a:r>
            <a:r>
              <a:rPr lang="en-US" baseline="-25000" dirty="0"/>
              <a:t>2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699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a 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 </a:t>
            </a:r>
            <a:r>
              <a:rPr lang="en-US" dirty="0" err="1"/>
              <a:t>ww</a:t>
            </a:r>
            <a:r>
              <a:rPr lang="en-US" baseline="30000" dirty="0" err="1"/>
              <a:t>R</a:t>
            </a:r>
            <a:r>
              <a:rPr lang="en-US" dirty="0"/>
              <a:t> | w in Σ*}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 = { S }</a:t>
            </a:r>
          </a:p>
          <a:p>
            <a:pPr marL="0" indent="0">
              <a:buNone/>
            </a:pPr>
            <a:r>
              <a:rPr lang="en-US" dirty="0"/>
              <a:t>Σ = { </a:t>
            </a:r>
            <a:r>
              <a:rPr lang="en-US" dirty="0" err="1"/>
              <a:t>a,b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R = </a:t>
            </a:r>
          </a:p>
          <a:p>
            <a:pPr marL="0" indent="0">
              <a:buNone/>
            </a:pPr>
            <a:r>
              <a:rPr lang="en-US" dirty="0"/>
              <a:t>S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82128" y="2603112"/>
            <a:ext cx="4861448" cy="1972372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292934"/>
                </a:solidFill>
              </a:rPr>
              <a:t>Which rules would complete this CFG?</a:t>
            </a:r>
          </a:p>
          <a:p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ab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FF0000"/>
                </a:solidFill>
              </a:rPr>
              <a:t>S 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FF0000"/>
                </a:solidFill>
                <a:sym typeface="Wingdings"/>
              </a:rPr>
              <a:t>aSa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 | </a:t>
            </a:r>
            <a:r>
              <a:rPr lang="en-US" dirty="0" err="1">
                <a:solidFill>
                  <a:srgbClr val="FF0000"/>
                </a:solidFill>
                <a:sym typeface="Wingdings"/>
              </a:rPr>
              <a:t>bSb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aSb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We need another variable other than S.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I don't know.</a:t>
            </a:r>
          </a:p>
          <a:p>
            <a:pPr marL="342900" indent="-342900">
              <a:buAutoNum type="alphaUcPeriod"/>
            </a:pPr>
            <a:endParaRPr lang="en-US" dirty="0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41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221F-2D86-99F0-0380-B341044E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34A6-6C97-5BE1-4EF3-BC54200B8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CFG – challenge!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7FB8C-F408-88CB-F02E-6A8B474D1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 ww | w in Σ*}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 = { S }</a:t>
            </a:r>
          </a:p>
          <a:p>
            <a:pPr marL="0" indent="0">
              <a:buNone/>
            </a:pPr>
            <a:r>
              <a:rPr lang="en-US" dirty="0"/>
              <a:t>Σ = { </a:t>
            </a:r>
            <a:r>
              <a:rPr lang="en-US" dirty="0" err="1"/>
              <a:t>a,b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R = </a:t>
            </a:r>
          </a:p>
          <a:p>
            <a:pPr marL="0" indent="0">
              <a:buNone/>
            </a:pPr>
            <a:r>
              <a:rPr lang="en-US" dirty="0"/>
              <a:t>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F5051-E56A-D247-2B3B-E7DD289BFD03}"/>
              </a:ext>
            </a:extLst>
          </p:cNvPr>
          <p:cNvSpPr/>
          <p:nvPr/>
        </p:nvSpPr>
        <p:spPr>
          <a:xfrm>
            <a:off x="3982128" y="2603112"/>
            <a:ext cx="4861448" cy="1972372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292934"/>
                </a:solidFill>
              </a:rPr>
              <a:t>Which rules would complete this CFG?</a:t>
            </a:r>
          </a:p>
          <a:p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aS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bS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 | SS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aSb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bSa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S 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 ε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aSa</a:t>
            </a:r>
            <a:r>
              <a:rPr lang="en-US" dirty="0">
                <a:solidFill>
                  <a:srgbClr val="292934"/>
                </a:solidFill>
                <a:sym typeface="Wingdings"/>
              </a:rPr>
              <a:t> | </a:t>
            </a:r>
            <a:r>
              <a:rPr lang="en-US" dirty="0" err="1">
                <a:solidFill>
                  <a:srgbClr val="292934"/>
                </a:solidFill>
                <a:sym typeface="Wingdings"/>
              </a:rPr>
              <a:t>bSb</a:t>
            </a:r>
            <a:endParaRPr lang="en-US" dirty="0">
              <a:solidFill>
                <a:srgbClr val="292934"/>
              </a:solidFill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None of these work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292934"/>
                </a:solidFill>
              </a:rPr>
              <a:t>I don't know.</a:t>
            </a:r>
          </a:p>
          <a:p>
            <a:pPr marL="342900" indent="-342900">
              <a:buAutoNum type="alphaUcPeriod"/>
            </a:pPr>
            <a:endParaRPr lang="en-US" dirty="0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890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3A481-6AA7-4B8C-8A51-007A7FBA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FD76-EF62-5C2A-5C38-B5B7EFDC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CFG – challenge!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E113-D76D-C2EF-9467-E18C73D19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CFG to describe the language</a:t>
            </a:r>
          </a:p>
          <a:p>
            <a:pPr marL="0" indent="0" algn="ctr">
              <a:buNone/>
            </a:pPr>
            <a:r>
              <a:rPr lang="en-US" dirty="0"/>
              <a:t>{ ww | w in Σ*}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 = { S }</a:t>
            </a:r>
          </a:p>
          <a:p>
            <a:pPr marL="0" indent="0">
              <a:buNone/>
            </a:pPr>
            <a:r>
              <a:rPr lang="en-US" dirty="0"/>
              <a:t>Σ = { </a:t>
            </a:r>
            <a:r>
              <a:rPr lang="en-US" dirty="0" err="1"/>
              <a:t>a,b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R = ?</a:t>
            </a:r>
          </a:p>
          <a:p>
            <a:pPr marL="0" indent="0">
              <a:buNone/>
            </a:pPr>
            <a:r>
              <a:rPr lang="en-US" dirty="0"/>
              <a:t>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7C04E-E37E-48D9-C0FD-FF670E0BCAC5}"/>
              </a:ext>
            </a:extLst>
          </p:cNvPr>
          <p:cNvSpPr txBox="1"/>
          <p:nvPr/>
        </p:nvSpPr>
        <p:spPr>
          <a:xfrm>
            <a:off x="3460750" y="2654300"/>
            <a:ext cx="4743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language is not context free!</a:t>
            </a:r>
          </a:p>
          <a:p>
            <a:r>
              <a:rPr lang="en-US" dirty="0">
                <a:solidFill>
                  <a:srgbClr val="FF0000"/>
                </a:solidFill>
              </a:rPr>
              <a:t>This can be proved using a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“pumping lemma” for context free languages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481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24DF-A4BF-2695-D542-3856AD3A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3892-A555-E04B-3B52-A0383BC4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 properties of CFLs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EC869C-0415-104E-155D-7936B4290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8321040" cy="344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38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C658-CE04-5A45-76C3-B17EA2A3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887A-4A9A-5C30-E54C-D84291E9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More bad news: CFL not closed under intersection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84965-8CC7-F981-CBB8-4815D27E2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2499"/>
            <a:ext cx="8229600" cy="7321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BFFCF9-8AFD-9C98-64EA-E687AF8F9A7F}"/>
              </a:ext>
            </a:extLst>
          </p:cNvPr>
          <p:cNvSpPr txBox="1"/>
          <p:nvPr/>
        </p:nvSpPr>
        <p:spPr>
          <a:xfrm>
            <a:off x="457200" y="2228612"/>
            <a:ext cx="542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CFLs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are</a:t>
            </a:r>
            <a:r>
              <a:rPr lang="en-US" dirty="0">
                <a:solidFill>
                  <a:srgbClr val="FF0000"/>
                </a:solidFill>
              </a:rPr>
              <a:t> not </a:t>
            </a:r>
            <a:r>
              <a:rPr lang="en-US" dirty="0"/>
              <a:t>close under complementation as well.</a:t>
            </a:r>
          </a:p>
        </p:txBody>
      </p:sp>
    </p:spTree>
    <p:extLst>
      <p:ext uri="{BB962C8B-B14F-4D97-AF65-F5344CB8AC3E}">
        <p14:creationId xmlns:p14="http://schemas.microsoft.com/office/powerpoint/2010/main" val="1989277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CFGs in the wild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>
                <a:solidFill>
                  <a:schemeClr val="accent5"/>
                </a:solidFill>
              </a:rPr>
              <a:t>V = {E}, Σ = {1,+,x,(,)}, R = { </a:t>
            </a:r>
            <a:r>
              <a:rPr lang="en-US" b="1"/>
              <a:t>E </a:t>
            </a:r>
            <a:r>
              <a:rPr lang="en-US" b="1">
                <a:sym typeface="Wingdings"/>
              </a:rPr>
              <a:t> E+E | ExE | (E) | 1 </a:t>
            </a:r>
            <a:r>
              <a:rPr lang="en-US">
                <a:solidFill>
                  <a:srgbClr val="808DA0"/>
                </a:solidFill>
                <a:sym typeface="Wingdings"/>
              </a:rPr>
              <a:t>}, S=E</a:t>
            </a:r>
          </a:p>
          <a:p>
            <a:pPr marL="0" indent="0" algn="ctr">
              <a:buNone/>
            </a:pPr>
            <a:r>
              <a:rPr lang="en-US">
                <a:solidFill>
                  <a:schemeClr val="accent1"/>
                </a:solidFill>
                <a:sym typeface="Wingdings"/>
              </a:rPr>
              <a:t>Describing well-formed arithmetic expressions</a:t>
            </a:r>
          </a:p>
          <a:p>
            <a:pPr marL="0" indent="0">
              <a:buNone/>
            </a:pPr>
            <a:endParaRPr lang="en-US">
              <a:sym typeface="Wingdings"/>
            </a:endParaRPr>
          </a:p>
          <a:p>
            <a:pPr marL="0" indent="0">
              <a:buNone/>
            </a:pPr>
            <a:r>
              <a:rPr lang="en-US">
                <a:sym typeface="Wingdings"/>
              </a:rPr>
              <a:t>Which of the followings strings is generated by this CFG?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E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11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1+1x1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ε</a:t>
            </a:r>
          </a:p>
          <a:p>
            <a:pPr marL="457200" indent="-457200">
              <a:buAutoNum type="alphaUcPeriod"/>
            </a:pPr>
            <a:r>
              <a:rPr lang="en-US">
                <a:sym typeface="Wingdings"/>
              </a:rPr>
              <a:t>I don't know.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65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Derivations and parsing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82C47-A1B6-797B-A76E-F267ED830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107" y="1200150"/>
            <a:ext cx="590578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49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7DB1-4446-7045-84F1-88604A8E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A2494-4565-FB45-777A-7BAD0497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 in CFLs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E1282E0-64DD-49EE-CC87-A48B8687D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676" y="1142999"/>
            <a:ext cx="7976483" cy="383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61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B0C8-6718-9343-FC54-D27F0CCD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954C-B8F9-1167-EB5B-5A21235E9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 in CFLs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4AEFD-52C4-F84D-EBFE-C70799257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1200150"/>
            <a:ext cx="709178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99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8061-9B89-25CE-EE85-4FFDEB72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78EF-E048-173F-6385-79D57C16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Derivations and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24A1-9078-D989-182B-F69DAEC14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/>
              <a:t>E </a:t>
            </a:r>
            <a:r>
              <a:rPr lang="en-US" b="1">
                <a:sym typeface="Wingdings"/>
              </a:rPr>
              <a:t> E+E | ExE | (E) | 1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2AF0D"/>
                </a:solidFill>
              </a:rPr>
              <a:t>Lots of derivations for 1+1x1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7" name="Picture 6" descr="latex-image-1.png">
            <a:extLst>
              <a:ext uri="{FF2B5EF4-FFF2-40B4-BE49-F238E27FC236}">
                <a16:creationId xmlns:a16="http://schemas.microsoft.com/office/drawing/2014/main" id="{D75AF2AB-17B3-1FA1-2FB2-F897518D95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2685159"/>
            <a:ext cx="8775700" cy="215900"/>
          </a:xfrm>
          <a:prstGeom prst="rect">
            <a:avLst/>
          </a:prstGeom>
        </p:spPr>
      </p:pic>
      <p:pic>
        <p:nvPicPr>
          <p:cNvPr id="8" name="Picture 7" descr="latex-image-1.png">
            <a:extLst>
              <a:ext uri="{FF2B5EF4-FFF2-40B4-BE49-F238E27FC236}">
                <a16:creationId xmlns:a16="http://schemas.microsoft.com/office/drawing/2014/main" id="{F82F84E6-8427-91E0-7BCB-9874DBBE48E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3486730"/>
            <a:ext cx="8775700" cy="215900"/>
          </a:xfrm>
          <a:prstGeom prst="rect">
            <a:avLst/>
          </a:prstGeom>
        </p:spPr>
      </p:pic>
      <p:pic>
        <p:nvPicPr>
          <p:cNvPr id="9" name="Picture 8" descr="latex-image-1.png">
            <a:extLst>
              <a:ext uri="{FF2B5EF4-FFF2-40B4-BE49-F238E27FC236}">
                <a16:creationId xmlns:a16="http://schemas.microsoft.com/office/drawing/2014/main" id="{2D7D04C2-57CD-5747-9BC3-A524EC0A81E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4326247"/>
            <a:ext cx="81915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03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345279" y="4211481"/>
            <a:ext cx="335601" cy="3763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015748" y="4120685"/>
            <a:ext cx="266520" cy="51748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1196042" y="4556472"/>
            <a:ext cx="1337370" cy="301278"/>
          </a:xfrm>
          <a:custGeom>
            <a:avLst/>
            <a:gdLst>
              <a:gd name="connsiteX0" fmla="*/ 0 w 1337370"/>
              <a:gd name="connsiteY0" fmla="*/ 50336 h 301278"/>
              <a:gd name="connsiteX1" fmla="*/ 517363 w 1337370"/>
              <a:gd name="connsiteY1" fmla="*/ 301239 h 301278"/>
              <a:gd name="connsiteX2" fmla="*/ 1269891 w 1337370"/>
              <a:gd name="connsiteY2" fmla="*/ 34655 h 301278"/>
              <a:gd name="connsiteX3" fmla="*/ 1301246 w 1337370"/>
              <a:gd name="connsiteY3" fmla="*/ 3292 h 301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70" h="301278">
                <a:moveTo>
                  <a:pt x="0" y="50336"/>
                </a:moveTo>
                <a:cubicBezTo>
                  <a:pt x="152857" y="177094"/>
                  <a:pt x="305715" y="303853"/>
                  <a:pt x="517363" y="301239"/>
                </a:cubicBezTo>
                <a:cubicBezTo>
                  <a:pt x="729012" y="298626"/>
                  <a:pt x="1139244" y="84313"/>
                  <a:pt x="1269891" y="34655"/>
                </a:cubicBezTo>
                <a:cubicBezTo>
                  <a:pt x="1400538" y="-15003"/>
                  <a:pt x="1301246" y="3292"/>
                  <a:pt x="1301246" y="3292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420207" y="3326277"/>
            <a:ext cx="716405" cy="3763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043642" y="3266843"/>
            <a:ext cx="266520" cy="51748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1223936" y="3702630"/>
            <a:ext cx="1337370" cy="301278"/>
          </a:xfrm>
          <a:custGeom>
            <a:avLst/>
            <a:gdLst>
              <a:gd name="connsiteX0" fmla="*/ 0 w 1337370"/>
              <a:gd name="connsiteY0" fmla="*/ 50336 h 301278"/>
              <a:gd name="connsiteX1" fmla="*/ 517363 w 1337370"/>
              <a:gd name="connsiteY1" fmla="*/ 301239 h 301278"/>
              <a:gd name="connsiteX2" fmla="*/ 1269891 w 1337370"/>
              <a:gd name="connsiteY2" fmla="*/ 34655 h 301278"/>
              <a:gd name="connsiteX3" fmla="*/ 1301246 w 1337370"/>
              <a:gd name="connsiteY3" fmla="*/ 3292 h 301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70" h="301278">
                <a:moveTo>
                  <a:pt x="0" y="50336"/>
                </a:moveTo>
                <a:cubicBezTo>
                  <a:pt x="152857" y="177094"/>
                  <a:pt x="305715" y="303853"/>
                  <a:pt x="517363" y="301239"/>
                </a:cubicBezTo>
                <a:cubicBezTo>
                  <a:pt x="729012" y="298626"/>
                  <a:pt x="1139244" y="84313"/>
                  <a:pt x="1269891" y="34655"/>
                </a:cubicBezTo>
                <a:cubicBezTo>
                  <a:pt x="1400538" y="-15003"/>
                  <a:pt x="1301246" y="3292"/>
                  <a:pt x="1301246" y="3292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/>
              <a:t>E </a:t>
            </a:r>
            <a:r>
              <a:rPr lang="en-US" b="1">
                <a:sym typeface="Wingdings"/>
              </a:rPr>
              <a:t> E+E | ExE | (E) | 1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2AF0D"/>
                </a:solidFill>
              </a:rPr>
              <a:t>Lots of derivations for 1+1x1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936492" y="2584140"/>
            <a:ext cx="716405" cy="3763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559927" y="2524706"/>
            <a:ext cx="266520" cy="51748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Derivations and parsing</a:t>
            </a:r>
          </a:p>
        </p:txBody>
      </p:sp>
      <p:pic>
        <p:nvPicPr>
          <p:cNvPr id="7" name="Picture 6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2685159"/>
            <a:ext cx="8775700" cy="215900"/>
          </a:xfrm>
          <a:prstGeom prst="rect">
            <a:avLst/>
          </a:prstGeom>
        </p:spPr>
      </p:pic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3486730"/>
            <a:ext cx="8775700" cy="215900"/>
          </a:xfrm>
          <a:prstGeom prst="rect">
            <a:avLst/>
          </a:prstGeom>
        </p:spPr>
      </p:pic>
      <p:pic>
        <p:nvPicPr>
          <p:cNvPr id="9" name="Picture 8" descr="latex-image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4326247"/>
            <a:ext cx="8191500" cy="215900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>
            <a:off x="1740221" y="2960493"/>
            <a:ext cx="1337370" cy="301278"/>
          </a:xfrm>
          <a:custGeom>
            <a:avLst/>
            <a:gdLst>
              <a:gd name="connsiteX0" fmla="*/ 0 w 1337370"/>
              <a:gd name="connsiteY0" fmla="*/ 50336 h 301278"/>
              <a:gd name="connsiteX1" fmla="*/ 517363 w 1337370"/>
              <a:gd name="connsiteY1" fmla="*/ 301239 h 301278"/>
              <a:gd name="connsiteX2" fmla="*/ 1269891 w 1337370"/>
              <a:gd name="connsiteY2" fmla="*/ 34655 h 301278"/>
              <a:gd name="connsiteX3" fmla="*/ 1301246 w 1337370"/>
              <a:gd name="connsiteY3" fmla="*/ 3292 h 301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70" h="301278">
                <a:moveTo>
                  <a:pt x="0" y="50336"/>
                </a:moveTo>
                <a:cubicBezTo>
                  <a:pt x="152857" y="177094"/>
                  <a:pt x="305715" y="303853"/>
                  <a:pt x="517363" y="301239"/>
                </a:cubicBezTo>
                <a:cubicBezTo>
                  <a:pt x="729012" y="298626"/>
                  <a:pt x="1139244" y="84313"/>
                  <a:pt x="1269891" y="34655"/>
                </a:cubicBezTo>
                <a:cubicBezTo>
                  <a:pt x="1400538" y="-15003"/>
                  <a:pt x="1301246" y="3292"/>
                  <a:pt x="1301246" y="3292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3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/>
              <a:t>E </a:t>
            </a:r>
            <a:r>
              <a:rPr lang="en-US" b="1">
                <a:sym typeface="Wingdings"/>
              </a:rPr>
              <a:t> E+E | ExE | (E) | 1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F2AF0D"/>
                </a:solidFill>
              </a:rPr>
              <a:t>Lots of derivations for 1+1x1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Derivations and parsing</a:t>
            </a:r>
          </a:p>
        </p:txBody>
      </p:sp>
      <p:pic>
        <p:nvPicPr>
          <p:cNvPr id="7" name="Picture 6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2685159"/>
            <a:ext cx="8775700" cy="215900"/>
          </a:xfrm>
          <a:prstGeom prst="rect">
            <a:avLst/>
          </a:prstGeom>
        </p:spPr>
      </p:pic>
      <p:pic>
        <p:nvPicPr>
          <p:cNvPr id="8" name="Picture 7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3486730"/>
            <a:ext cx="8775700" cy="215900"/>
          </a:xfrm>
          <a:prstGeom prst="rect">
            <a:avLst/>
          </a:prstGeom>
        </p:spPr>
      </p:pic>
      <p:pic>
        <p:nvPicPr>
          <p:cNvPr id="9" name="Picture 8" descr="latex-image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91" y="4326247"/>
            <a:ext cx="8191500" cy="215900"/>
          </a:xfrm>
          <a:prstGeom prst="rect">
            <a:avLst/>
          </a:prstGeom>
        </p:spPr>
      </p:pic>
      <p:sp>
        <p:nvSpPr>
          <p:cNvPr id="5" name="Cloud Callout 4"/>
          <p:cNvSpPr/>
          <p:nvPr/>
        </p:nvSpPr>
        <p:spPr>
          <a:xfrm>
            <a:off x="1599123" y="1928813"/>
            <a:ext cx="7544878" cy="2191872"/>
          </a:xfrm>
          <a:prstGeom prst="cloudCallout">
            <a:avLst>
              <a:gd name="adj1" fmla="val -40280"/>
              <a:gd name="adj2" fmla="val 5248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A string is </a:t>
            </a:r>
            <a:r>
              <a:rPr lang="en-US" b="1">
                <a:solidFill>
                  <a:schemeClr val="tx2"/>
                </a:solidFill>
              </a:rPr>
              <a:t>ambiguously derived </a:t>
            </a:r>
            <a:r>
              <a:rPr lang="en-US">
                <a:solidFill>
                  <a:schemeClr val="tx2"/>
                </a:solidFill>
              </a:rPr>
              <a:t>in a CFG if it has more than one leftmost derivation i.e. more than one parsing tree</a:t>
            </a:r>
          </a:p>
        </p:txBody>
      </p:sp>
    </p:spTree>
    <p:extLst>
      <p:ext uri="{BB962C8B-B14F-4D97-AF65-F5344CB8AC3E}">
        <p14:creationId xmlns:p14="http://schemas.microsoft.com/office/powerpoint/2010/main" val="577683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7747-1662-039F-F5BA-ED6B6003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Derivation, Parse Tree and Ambiguity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4E7CE-6A33-6EC9-37DC-E8E75B722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24165"/>
            <a:ext cx="8229600" cy="260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87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Context-free languages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Context-free grammar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rgbClr val="F2AF0D"/>
                </a:solidFill>
              </a:rPr>
              <a:t>One-step derivation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rgbClr val="F2AF0D"/>
                </a:solidFill>
              </a:rPr>
              <a:t>Derivation</a:t>
            </a:r>
          </a:p>
          <a:p>
            <a:pPr marL="0" indent="0">
              <a:buNone/>
            </a:pPr>
            <a:endParaRPr lang="en-US" b="1">
              <a:solidFill>
                <a:srgbClr val="F2AF0D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rgbClr val="F2AF0D"/>
                </a:solidFill>
              </a:rPr>
              <a:t>Language generated by grammar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" name="Picture 2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01" y="1721082"/>
            <a:ext cx="8813800" cy="317500"/>
          </a:xfrm>
          <a:prstGeom prst="rect">
            <a:avLst/>
          </a:prstGeom>
        </p:spPr>
      </p:pic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01" y="2616857"/>
            <a:ext cx="8242300" cy="317500"/>
          </a:xfrm>
          <a:prstGeom prst="rect">
            <a:avLst/>
          </a:prstGeom>
        </p:spPr>
      </p:pic>
      <p:pic>
        <p:nvPicPr>
          <p:cNvPr id="6" name="Picture 5" descr="latex-image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489450"/>
            <a:ext cx="3657600" cy="368300"/>
          </a:xfrm>
          <a:prstGeom prst="rect">
            <a:avLst/>
          </a:prstGeom>
        </p:spPr>
      </p:pic>
      <p:pic>
        <p:nvPicPr>
          <p:cNvPr id="7" name="Picture 6" descr="latex-image-1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01" y="3419591"/>
            <a:ext cx="81915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94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7479</TotalTime>
  <Words>1768</Words>
  <Application>Microsoft Office PowerPoint</Application>
  <PresentationFormat>On-screen Show (16:9)</PresentationFormat>
  <Paragraphs>267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Wingdings</vt:lpstr>
      <vt:lpstr>Clarity</vt:lpstr>
      <vt:lpstr>CSE 331  Automata and computability</vt:lpstr>
      <vt:lpstr>Today's learning goals Sipser Ch 1.4, 2.1</vt:lpstr>
      <vt:lpstr>The next model of computation</vt:lpstr>
      <vt:lpstr>Birds' eye view</vt:lpstr>
      <vt:lpstr>Context-free grammar Sipser Def 2.2, page 102</vt:lpstr>
      <vt:lpstr>Context-free language Sipser p. 104</vt:lpstr>
      <vt:lpstr>An example?</vt:lpstr>
      <vt:lpstr>Context-free language Sipser p. 104</vt:lpstr>
      <vt:lpstr>Context-free language Sipser p. 104</vt:lpstr>
      <vt:lpstr>Designing a CFG</vt:lpstr>
      <vt:lpstr>Designing a CFG</vt:lpstr>
      <vt:lpstr>Designing a CFG</vt:lpstr>
      <vt:lpstr>Designing a CFG</vt:lpstr>
      <vt:lpstr>Designing a CFG</vt:lpstr>
      <vt:lpstr>Designing a CFG</vt:lpstr>
      <vt:lpstr>Designing a CFG</vt:lpstr>
      <vt:lpstr>Designing a CFG</vt:lpstr>
      <vt:lpstr>Is every regular language a CFL?</vt:lpstr>
      <vt:lpstr>Approach 1 (Converting regular languages into CFL)</vt:lpstr>
      <vt:lpstr>Approach 1 (Converting regular languages into CFL)</vt:lpstr>
      <vt:lpstr>Approach 1 (Converting regular languages into CFL)</vt:lpstr>
      <vt:lpstr>Approach 1 (Converting regular languages into CFL)</vt:lpstr>
      <vt:lpstr>Approach 2</vt:lpstr>
      <vt:lpstr>Approach 2</vt:lpstr>
      <vt:lpstr>Designing a CFG</vt:lpstr>
      <vt:lpstr>Designing a CFG – challenge!</vt:lpstr>
      <vt:lpstr>Designing a CFG – challenge!</vt:lpstr>
      <vt:lpstr>Closure properties of CFLs </vt:lpstr>
      <vt:lpstr>More bad news: CFL not closed under intersection </vt:lpstr>
      <vt:lpstr>CFGs in the wild</vt:lpstr>
      <vt:lpstr>Derivations and parsing</vt:lpstr>
      <vt:lpstr>Ambiguity in CFLs </vt:lpstr>
      <vt:lpstr>Ambiguity in CFLs </vt:lpstr>
      <vt:lpstr>Derivations and parsing</vt:lpstr>
      <vt:lpstr>Derivations and parsing</vt:lpstr>
      <vt:lpstr>Derivations and parsing</vt:lpstr>
      <vt:lpstr>Derivation, Parse Tree and Ambiguity</vt:lpstr>
      <vt:lpstr>Recap: Context-free languages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630</cp:revision>
  <dcterms:created xsi:type="dcterms:W3CDTF">2014-10-03T04:30:04Z</dcterms:created>
  <dcterms:modified xsi:type="dcterms:W3CDTF">2026-04-23T08:53:19Z</dcterms:modified>
  <cp:category/>
</cp:coreProperties>
</file>