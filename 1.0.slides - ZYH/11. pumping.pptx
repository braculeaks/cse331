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449" r:id="rId4"/>
    <p:sldId id="476" r:id="rId5"/>
    <p:sldId id="492" r:id="rId6"/>
    <p:sldId id="493" r:id="rId7"/>
    <p:sldId id="494" r:id="rId8"/>
    <p:sldId id="455" r:id="rId9"/>
    <p:sldId id="456" r:id="rId10"/>
    <p:sldId id="457" r:id="rId11"/>
    <p:sldId id="458" r:id="rId12"/>
    <p:sldId id="459" r:id="rId13"/>
    <p:sldId id="460" r:id="rId14"/>
    <p:sldId id="461" r:id="rId15"/>
    <p:sldId id="462" r:id="rId16"/>
    <p:sldId id="478" r:id="rId17"/>
    <p:sldId id="463" r:id="rId18"/>
    <p:sldId id="464" r:id="rId19"/>
    <p:sldId id="480" r:id="rId20"/>
    <p:sldId id="466" r:id="rId21"/>
    <p:sldId id="467" r:id="rId22"/>
    <p:sldId id="468" r:id="rId23"/>
    <p:sldId id="469" r:id="rId24"/>
    <p:sldId id="470" r:id="rId25"/>
    <p:sldId id="471" r:id="rId26"/>
    <p:sldId id="497" r:id="rId27"/>
    <p:sldId id="495" r:id="rId28"/>
    <p:sldId id="496" r:id="rId29"/>
    <p:sldId id="481" r:id="rId30"/>
    <p:sldId id="482" r:id="rId31"/>
    <p:sldId id="483" r:id="rId32"/>
    <p:sldId id="484" r:id="rId33"/>
    <p:sldId id="485" r:id="rId34"/>
    <p:sldId id="486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7A253-F365-4DDD-B4A7-F4C4DB9E97E0}" v="279" dt="2025-10-20T23:19:54.6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6D7D1386-3ACD-4633-BE81-7A7ABE1DF071}"/>
    <pc:docChg chg="modSld">
      <pc:chgData name="Shachar Lovett" userId="0c6d1e87c56e93c6" providerId="LiveId" clId="{6D7D1386-3ACD-4633-BE81-7A7ABE1DF071}" dt="2019-04-01T12:19:47.390" v="0"/>
      <pc:docMkLst>
        <pc:docMk/>
      </pc:docMkLst>
      <pc:sldChg chg="modSp">
        <pc:chgData name="Shachar Lovett" userId="0c6d1e87c56e93c6" providerId="LiveId" clId="{6D7D1386-3ACD-4633-BE81-7A7ABE1DF071}" dt="2019-04-01T12:19:47.390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7FC25623-E271-4EEC-A49B-FFACF9B3D7DB}"/>
    <pc:docChg chg="modSld">
      <pc:chgData name="Shachar Lovett" userId="0c6d1e87c56e93c6" providerId="LiveId" clId="{7FC25623-E271-4EEC-A49B-FFACF9B3D7DB}" dt="2019-09-06T15:16:36.601" v="0"/>
      <pc:docMkLst>
        <pc:docMk/>
      </pc:docMkLst>
      <pc:sldChg chg="modSp">
        <pc:chgData name="Shachar Lovett" userId="0c6d1e87c56e93c6" providerId="LiveId" clId="{7FC25623-E271-4EEC-A49B-FFACF9B3D7DB}" dt="2019-09-06T15:16:36.60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41064877-C806-4AB4-9CDD-1F501398BFFD}"/>
    <pc:docChg chg="undo custSel addSld delSld modSld sldOrd">
      <pc:chgData name="Shachar Lovett" userId="0c6d1e87c56e93c6" providerId="LiveId" clId="{41064877-C806-4AB4-9CDD-1F501398BFFD}" dt="2025-10-20T23:20:29.528" v="737" actId="207"/>
      <pc:docMkLst>
        <pc:docMk/>
      </pc:docMkLst>
      <pc:sldChg chg="modSp mod">
        <pc:chgData name="Shachar Lovett" userId="0c6d1e87c56e93c6" providerId="LiveId" clId="{41064877-C806-4AB4-9CDD-1F501398BFFD}" dt="2025-10-20T20:37:04.629" v="9" actId="20577"/>
        <pc:sldMkLst>
          <pc:docMk/>
          <pc:sldMk cId="2063963681" sldId="376"/>
        </pc:sldMkLst>
        <pc:spChg chg="mod">
          <ac:chgData name="Shachar Lovett" userId="0c6d1e87c56e93c6" providerId="LiveId" clId="{41064877-C806-4AB4-9CDD-1F501398BFFD}" dt="2025-10-20T20:37:04.629" v="9" actId="20577"/>
          <ac:spMkLst>
            <pc:docMk/>
            <pc:sldMk cId="2063963681" sldId="376"/>
            <ac:spMk id="3" creationId="{00000000-0000-0000-0000-000000000000}"/>
          </ac:spMkLst>
        </pc:spChg>
      </pc:sldChg>
      <pc:sldChg chg="del">
        <pc:chgData name="Shachar Lovett" userId="0c6d1e87c56e93c6" providerId="LiveId" clId="{41064877-C806-4AB4-9CDD-1F501398BFFD}" dt="2025-10-20T20:40:03.087" v="142" actId="47"/>
        <pc:sldMkLst>
          <pc:docMk/>
          <pc:sldMk cId="2023144184" sldId="451"/>
        </pc:sldMkLst>
      </pc:sldChg>
      <pc:sldChg chg="del">
        <pc:chgData name="Shachar Lovett" userId="0c6d1e87c56e93c6" providerId="LiveId" clId="{41064877-C806-4AB4-9CDD-1F501398BFFD}" dt="2025-10-20T20:40:04.276" v="143" actId="47"/>
        <pc:sldMkLst>
          <pc:docMk/>
          <pc:sldMk cId="3165674693" sldId="452"/>
        </pc:sldMkLst>
      </pc:sldChg>
      <pc:sldChg chg="del">
        <pc:chgData name="Shachar Lovett" userId="0c6d1e87c56e93c6" providerId="LiveId" clId="{41064877-C806-4AB4-9CDD-1F501398BFFD}" dt="2025-10-20T20:40:17.275" v="144" actId="47"/>
        <pc:sldMkLst>
          <pc:docMk/>
          <pc:sldMk cId="3039444008" sldId="453"/>
        </pc:sldMkLst>
      </pc:sldChg>
      <pc:sldChg chg="del">
        <pc:chgData name="Shachar Lovett" userId="0c6d1e87c56e93c6" providerId="LiveId" clId="{41064877-C806-4AB4-9CDD-1F501398BFFD}" dt="2025-10-20T20:40:17.275" v="144" actId="47"/>
        <pc:sldMkLst>
          <pc:docMk/>
          <pc:sldMk cId="3029582634" sldId="454"/>
        </pc:sldMkLst>
      </pc:sldChg>
      <pc:sldChg chg="modAnim">
        <pc:chgData name="Shachar Lovett" userId="0c6d1e87c56e93c6" providerId="LiveId" clId="{41064877-C806-4AB4-9CDD-1F501398BFFD}" dt="2025-10-20T20:41:59.359" v="151"/>
        <pc:sldMkLst>
          <pc:docMk/>
          <pc:sldMk cId="2874048756" sldId="477"/>
        </pc:sldMkLst>
      </pc:sldChg>
      <pc:sldChg chg="ord">
        <pc:chgData name="Shachar Lovett" userId="0c6d1e87c56e93c6" providerId="LiveId" clId="{41064877-C806-4AB4-9CDD-1F501398BFFD}" dt="2025-10-20T20:42:49.236" v="153"/>
        <pc:sldMkLst>
          <pc:docMk/>
          <pc:sldMk cId="1556283484" sldId="478"/>
        </pc:sldMkLst>
      </pc:sldChg>
      <pc:sldChg chg="del">
        <pc:chgData name="Shachar Lovett" userId="0c6d1e87c56e93c6" providerId="LiveId" clId="{41064877-C806-4AB4-9CDD-1F501398BFFD}" dt="2025-10-20T20:40:17.275" v="144" actId="47"/>
        <pc:sldMkLst>
          <pc:docMk/>
          <pc:sldMk cId="3618723822" sldId="479"/>
        </pc:sldMkLst>
      </pc:sldChg>
      <pc:sldChg chg="add del">
        <pc:chgData name="Shachar Lovett" userId="0c6d1e87c56e93c6" providerId="LiveId" clId="{41064877-C806-4AB4-9CDD-1F501398BFFD}" dt="2025-10-20T20:37:56.680" v="11" actId="47"/>
        <pc:sldMkLst>
          <pc:docMk/>
          <pc:sldMk cId="185353278" sldId="487"/>
        </pc:sldMkLst>
      </pc:sldChg>
      <pc:sldChg chg="modSp add del mod modAnim">
        <pc:chgData name="Shachar Lovett" userId="0c6d1e87c56e93c6" providerId="LiveId" clId="{41064877-C806-4AB4-9CDD-1F501398BFFD}" dt="2025-10-20T20:39:21.567" v="141" actId="47"/>
        <pc:sldMkLst>
          <pc:docMk/>
          <pc:sldMk cId="4113768041" sldId="488"/>
        </pc:sldMkLst>
        <pc:spChg chg="mod">
          <ac:chgData name="Shachar Lovett" userId="0c6d1e87c56e93c6" providerId="LiveId" clId="{41064877-C806-4AB4-9CDD-1F501398BFFD}" dt="2025-10-20T20:39:04.595" v="137" actId="207"/>
          <ac:spMkLst>
            <pc:docMk/>
            <pc:sldMk cId="4113768041" sldId="488"/>
            <ac:spMk id="3" creationId="{1138E4DA-F294-22E3-F9AB-77A8FE37E3BE}"/>
          </ac:spMkLst>
        </pc:spChg>
      </pc:sldChg>
      <pc:sldChg chg="add del">
        <pc:chgData name="Shachar Lovett" userId="0c6d1e87c56e93c6" providerId="LiveId" clId="{41064877-C806-4AB4-9CDD-1F501398BFFD}" dt="2025-10-20T20:39:07.974" v="138" actId="47"/>
        <pc:sldMkLst>
          <pc:docMk/>
          <pc:sldMk cId="1024945052" sldId="489"/>
        </pc:sldMkLst>
      </pc:sldChg>
      <pc:sldChg chg="add del">
        <pc:chgData name="Shachar Lovett" userId="0c6d1e87c56e93c6" providerId="LiveId" clId="{41064877-C806-4AB4-9CDD-1F501398BFFD}" dt="2025-10-20T20:39:08.860" v="139" actId="47"/>
        <pc:sldMkLst>
          <pc:docMk/>
          <pc:sldMk cId="571697830" sldId="490"/>
        </pc:sldMkLst>
      </pc:sldChg>
      <pc:sldChg chg="add del">
        <pc:chgData name="Shachar Lovett" userId="0c6d1e87c56e93c6" providerId="LiveId" clId="{41064877-C806-4AB4-9CDD-1F501398BFFD}" dt="2025-10-20T20:39:09.661" v="140" actId="47"/>
        <pc:sldMkLst>
          <pc:docMk/>
          <pc:sldMk cId="1074385825" sldId="491"/>
        </pc:sldMkLst>
      </pc:sldChg>
      <pc:sldChg chg="add">
        <pc:chgData name="Shachar Lovett" userId="0c6d1e87c56e93c6" providerId="LiveId" clId="{41064877-C806-4AB4-9CDD-1F501398BFFD}" dt="2025-10-20T20:37:53.654" v="10"/>
        <pc:sldMkLst>
          <pc:docMk/>
          <pc:sldMk cId="2170197512" sldId="492"/>
        </pc:sldMkLst>
      </pc:sldChg>
      <pc:sldChg chg="add">
        <pc:chgData name="Shachar Lovett" userId="0c6d1e87c56e93c6" providerId="LiveId" clId="{41064877-C806-4AB4-9CDD-1F501398BFFD}" dt="2025-10-20T20:37:53.654" v="10"/>
        <pc:sldMkLst>
          <pc:docMk/>
          <pc:sldMk cId="2064658917" sldId="493"/>
        </pc:sldMkLst>
      </pc:sldChg>
      <pc:sldChg chg="add">
        <pc:chgData name="Shachar Lovett" userId="0c6d1e87c56e93c6" providerId="LiveId" clId="{41064877-C806-4AB4-9CDD-1F501398BFFD}" dt="2025-10-20T20:37:53.654" v="10"/>
        <pc:sldMkLst>
          <pc:docMk/>
          <pc:sldMk cId="251371450" sldId="494"/>
        </pc:sldMkLst>
      </pc:sldChg>
      <pc:sldChg chg="add del">
        <pc:chgData name="Shachar Lovett" userId="0c6d1e87c56e93c6" providerId="LiveId" clId="{41064877-C806-4AB4-9CDD-1F501398BFFD}" dt="2025-10-20T20:40:17.275" v="144" actId="47"/>
        <pc:sldMkLst>
          <pc:docMk/>
          <pc:sldMk cId="1440430269" sldId="495"/>
        </pc:sldMkLst>
      </pc:sldChg>
      <pc:sldChg chg="addSp delSp modSp new mod modClrScheme modAnim chgLayout">
        <pc:chgData name="Shachar Lovett" userId="0c6d1e87c56e93c6" providerId="LiveId" clId="{41064877-C806-4AB4-9CDD-1F501398BFFD}" dt="2025-10-20T20:50:09.568" v="382"/>
        <pc:sldMkLst>
          <pc:docMk/>
          <pc:sldMk cId="2321665529" sldId="495"/>
        </pc:sldMkLst>
        <pc:spChg chg="add mod">
          <ac:chgData name="Shachar Lovett" userId="0c6d1e87c56e93c6" providerId="LiveId" clId="{41064877-C806-4AB4-9CDD-1F501398BFFD}" dt="2025-10-20T20:45:09.059" v="196" actId="27636"/>
          <ac:spMkLst>
            <pc:docMk/>
            <pc:sldMk cId="2321665529" sldId="495"/>
            <ac:spMk id="2" creationId="{997DACFD-3652-E465-0C59-F34FEFABA04A}"/>
          </ac:spMkLst>
        </pc:spChg>
        <pc:spChg chg="add mod">
          <ac:chgData name="Shachar Lovett" userId="0c6d1e87c56e93c6" providerId="LiveId" clId="{41064877-C806-4AB4-9CDD-1F501398BFFD}" dt="2025-10-20T20:48:16.941" v="330" actId="1076"/>
          <ac:spMkLst>
            <pc:docMk/>
            <pc:sldMk cId="2321665529" sldId="495"/>
            <ac:spMk id="3" creationId="{5F37825C-19EA-7D88-2D08-F4CBDE067200}"/>
          </ac:spMkLst>
        </pc:spChg>
        <pc:spChg chg="add mod">
          <ac:chgData name="Shachar Lovett" userId="0c6d1e87c56e93c6" providerId="LiveId" clId="{41064877-C806-4AB4-9CDD-1F501398BFFD}" dt="2025-10-20T20:47:08.855" v="270" actId="164"/>
          <ac:spMkLst>
            <pc:docMk/>
            <pc:sldMk cId="2321665529" sldId="495"/>
            <ac:spMk id="8" creationId="{7E34AF58-B76D-6E66-B818-56D4F3BC133C}"/>
          </ac:spMkLst>
        </pc:spChg>
        <pc:spChg chg="add del mod">
          <ac:chgData name="Shachar Lovett" userId="0c6d1e87c56e93c6" providerId="LiveId" clId="{41064877-C806-4AB4-9CDD-1F501398BFFD}" dt="2025-10-20T20:46:38.619" v="247" actId="478"/>
          <ac:spMkLst>
            <pc:docMk/>
            <pc:sldMk cId="2321665529" sldId="495"/>
            <ac:spMk id="9" creationId="{6B0C9777-E85B-D015-7CBE-8D2423C7430D}"/>
          </ac:spMkLst>
        </pc:spChg>
        <pc:spChg chg="add mod">
          <ac:chgData name="Shachar Lovett" userId="0c6d1e87c56e93c6" providerId="LiveId" clId="{41064877-C806-4AB4-9CDD-1F501398BFFD}" dt="2025-10-20T20:47:08.855" v="270" actId="164"/>
          <ac:spMkLst>
            <pc:docMk/>
            <pc:sldMk cId="2321665529" sldId="495"/>
            <ac:spMk id="10" creationId="{A4F56EEA-BB19-F309-2F06-A3D043BC60DB}"/>
          </ac:spMkLst>
        </pc:spChg>
        <pc:spChg chg="add mod">
          <ac:chgData name="Shachar Lovett" userId="0c6d1e87c56e93c6" providerId="LiveId" clId="{41064877-C806-4AB4-9CDD-1F501398BFFD}" dt="2025-10-20T20:47:03.944" v="269"/>
          <ac:spMkLst>
            <pc:docMk/>
            <pc:sldMk cId="2321665529" sldId="495"/>
            <ac:spMk id="11" creationId="{EE7CBC41-9DE7-5A56-E9E7-FFADB8C52085}"/>
          </ac:spMkLst>
        </pc:spChg>
        <pc:spChg chg="add mod">
          <ac:chgData name="Shachar Lovett" userId="0c6d1e87c56e93c6" providerId="LiveId" clId="{41064877-C806-4AB4-9CDD-1F501398BFFD}" dt="2025-10-20T20:47:03.944" v="269"/>
          <ac:spMkLst>
            <pc:docMk/>
            <pc:sldMk cId="2321665529" sldId="495"/>
            <ac:spMk id="12" creationId="{B0A039CA-04D1-FD10-3EEF-CF4E96DBAFAB}"/>
          </ac:spMkLst>
        </pc:spChg>
        <pc:spChg chg="mod">
          <ac:chgData name="Shachar Lovett" userId="0c6d1e87c56e93c6" providerId="LiveId" clId="{41064877-C806-4AB4-9CDD-1F501398BFFD}" dt="2025-10-20T20:49:21.675" v="375"/>
          <ac:spMkLst>
            <pc:docMk/>
            <pc:sldMk cId="2321665529" sldId="495"/>
            <ac:spMk id="15" creationId="{B4B2C7AB-7C02-0654-3740-D11642A4B27E}"/>
          </ac:spMkLst>
        </pc:spChg>
        <pc:spChg chg="mod">
          <ac:chgData name="Shachar Lovett" userId="0c6d1e87c56e93c6" providerId="LiveId" clId="{41064877-C806-4AB4-9CDD-1F501398BFFD}" dt="2025-10-20T20:49:21.675" v="375"/>
          <ac:spMkLst>
            <pc:docMk/>
            <pc:sldMk cId="2321665529" sldId="495"/>
            <ac:spMk id="16" creationId="{1389B245-5E79-DFEE-4D74-0B7F65606599}"/>
          </ac:spMkLst>
        </pc:spChg>
        <pc:spChg chg="mod">
          <ac:chgData name="Shachar Lovett" userId="0c6d1e87c56e93c6" providerId="LiveId" clId="{41064877-C806-4AB4-9CDD-1F501398BFFD}" dt="2025-10-20T20:48:07.065" v="327" actId="20577"/>
          <ac:spMkLst>
            <pc:docMk/>
            <pc:sldMk cId="2321665529" sldId="495"/>
            <ac:spMk id="18" creationId="{8ADA01CC-ABD6-6685-425F-E35AF77E162E}"/>
          </ac:spMkLst>
        </pc:spChg>
        <pc:spChg chg="mod">
          <ac:chgData name="Shachar Lovett" userId="0c6d1e87c56e93c6" providerId="LiveId" clId="{41064877-C806-4AB4-9CDD-1F501398BFFD}" dt="2025-10-20T20:48:13.078" v="328" actId="1076"/>
          <ac:spMkLst>
            <pc:docMk/>
            <pc:sldMk cId="2321665529" sldId="495"/>
            <ac:spMk id="19" creationId="{57AE26BB-CDE6-DC6C-6B24-B483E1BAE2E7}"/>
          </ac:spMkLst>
        </pc:spChg>
        <pc:spChg chg="mod">
          <ac:chgData name="Shachar Lovett" userId="0c6d1e87c56e93c6" providerId="LiveId" clId="{41064877-C806-4AB4-9CDD-1F501398BFFD}" dt="2025-10-20T20:49:12.143" v="373" actId="20577"/>
          <ac:spMkLst>
            <pc:docMk/>
            <pc:sldMk cId="2321665529" sldId="495"/>
            <ac:spMk id="21" creationId="{1F235B0C-12C6-8121-BD48-4306EF4A5CF3}"/>
          </ac:spMkLst>
        </pc:spChg>
        <pc:spChg chg="mod">
          <ac:chgData name="Shachar Lovett" userId="0c6d1e87c56e93c6" providerId="LiveId" clId="{41064877-C806-4AB4-9CDD-1F501398BFFD}" dt="2025-10-20T20:49:33.376" v="377" actId="1076"/>
          <ac:spMkLst>
            <pc:docMk/>
            <pc:sldMk cId="2321665529" sldId="495"/>
            <ac:spMk id="22" creationId="{1D8CFBEB-C57E-2E85-ABB9-21FB0F950933}"/>
          </ac:spMkLst>
        </pc:spChg>
        <pc:grpChg chg="add mod">
          <ac:chgData name="Shachar Lovett" userId="0c6d1e87c56e93c6" providerId="LiveId" clId="{41064877-C806-4AB4-9CDD-1F501398BFFD}" dt="2025-10-20T20:47:08.855" v="270" actId="164"/>
          <ac:grpSpMkLst>
            <pc:docMk/>
            <pc:sldMk cId="2321665529" sldId="495"/>
            <ac:grpSpMk id="13" creationId="{97B37DED-BB46-6AB7-BA4F-69D0E8FC009D}"/>
          </ac:grpSpMkLst>
        </pc:grpChg>
        <pc:grpChg chg="add mod">
          <ac:chgData name="Shachar Lovett" userId="0c6d1e87c56e93c6" providerId="LiveId" clId="{41064877-C806-4AB4-9CDD-1F501398BFFD}" dt="2025-10-20T20:49:21.675" v="375"/>
          <ac:grpSpMkLst>
            <pc:docMk/>
            <pc:sldMk cId="2321665529" sldId="495"/>
            <ac:grpSpMk id="14" creationId="{11821E70-AE85-6874-4974-95186C437A41}"/>
          </ac:grpSpMkLst>
        </pc:grpChg>
        <pc:grpChg chg="add mod">
          <ac:chgData name="Shachar Lovett" userId="0c6d1e87c56e93c6" providerId="LiveId" clId="{41064877-C806-4AB4-9CDD-1F501398BFFD}" dt="2025-10-20T20:48:19.707" v="331" actId="1076"/>
          <ac:grpSpMkLst>
            <pc:docMk/>
            <pc:sldMk cId="2321665529" sldId="495"/>
            <ac:grpSpMk id="17" creationId="{655FFB7D-3B4B-FF31-18C3-83EAD39DE806}"/>
          </ac:grpSpMkLst>
        </pc:grpChg>
        <pc:grpChg chg="add mod">
          <ac:chgData name="Shachar Lovett" userId="0c6d1e87c56e93c6" providerId="LiveId" clId="{41064877-C806-4AB4-9CDD-1F501398BFFD}" dt="2025-10-20T20:49:12.143" v="373" actId="20577"/>
          <ac:grpSpMkLst>
            <pc:docMk/>
            <pc:sldMk cId="2321665529" sldId="495"/>
            <ac:grpSpMk id="20" creationId="{DA23D9BA-0C63-B479-4450-71607B242219}"/>
          </ac:grpSpMkLst>
        </pc:grpChg>
        <pc:picChg chg="add mod">
          <ac:chgData name="Shachar Lovett" userId="0c6d1e87c56e93c6" providerId="LiveId" clId="{41064877-C806-4AB4-9CDD-1F501398BFFD}" dt="2025-10-20T20:45:57.898" v="239" actId="14100"/>
          <ac:picMkLst>
            <pc:docMk/>
            <pc:sldMk cId="2321665529" sldId="495"/>
            <ac:picMk id="5" creationId="{50E2C481-987D-836D-768E-20EE50F67E80}"/>
          </ac:picMkLst>
        </pc:picChg>
        <pc:picChg chg="add mod">
          <ac:chgData name="Shachar Lovett" userId="0c6d1e87c56e93c6" providerId="LiveId" clId="{41064877-C806-4AB4-9CDD-1F501398BFFD}" dt="2025-10-20T20:46:17.281" v="241" actId="1076"/>
          <ac:picMkLst>
            <pc:docMk/>
            <pc:sldMk cId="2321665529" sldId="495"/>
            <ac:picMk id="7" creationId="{3BFED25A-7E34-7F6F-98AD-EE178015557B}"/>
          </ac:picMkLst>
        </pc:picChg>
      </pc:sldChg>
      <pc:sldChg chg="addSp delSp modSp add mod modAnim">
        <pc:chgData name="Shachar Lovett" userId="0c6d1e87c56e93c6" providerId="LiveId" clId="{41064877-C806-4AB4-9CDD-1F501398BFFD}" dt="2025-10-20T23:20:29.528" v="737" actId="207"/>
        <pc:sldMkLst>
          <pc:docMk/>
          <pc:sldMk cId="129618704" sldId="496"/>
        </pc:sldMkLst>
        <pc:spChg chg="add del mod">
          <ac:chgData name="Shachar Lovett" userId="0c6d1e87c56e93c6" providerId="LiveId" clId="{41064877-C806-4AB4-9CDD-1F501398BFFD}" dt="2025-10-20T23:19:47.718" v="732" actId="21"/>
          <ac:spMkLst>
            <pc:docMk/>
            <pc:sldMk cId="129618704" sldId="496"/>
            <ac:spMk id="4" creationId="{2CEBCB34-C174-F830-CF2B-B9FE1F7F1338}"/>
          </ac:spMkLst>
        </pc:spChg>
        <pc:spChg chg="add mod">
          <ac:chgData name="Shachar Lovett" userId="0c6d1e87c56e93c6" providerId="LiveId" clId="{41064877-C806-4AB4-9CDD-1F501398BFFD}" dt="2025-10-20T23:20:19.224" v="736" actId="208"/>
          <ac:spMkLst>
            <pc:docMk/>
            <pc:sldMk cId="129618704" sldId="496"/>
            <ac:spMk id="6" creationId="{1CA2E878-12E4-7D10-472C-A12D0826EA03}"/>
          </ac:spMkLst>
        </pc:spChg>
        <pc:spChg chg="add mod">
          <ac:chgData name="Shachar Lovett" userId="0c6d1e87c56e93c6" providerId="LiveId" clId="{41064877-C806-4AB4-9CDD-1F501398BFFD}" dt="2025-10-20T23:20:29.528" v="737" actId="207"/>
          <ac:spMkLst>
            <pc:docMk/>
            <pc:sldMk cId="129618704" sldId="496"/>
            <ac:spMk id="9" creationId="{310B0AB9-1F8C-8DB7-44F5-0B11EA882A0F}"/>
          </ac:spMkLst>
        </pc:spChg>
        <pc:spChg chg="add mod">
          <ac:chgData name="Shachar Lovett" userId="0c6d1e87c56e93c6" providerId="LiveId" clId="{41064877-C806-4AB4-9CDD-1F501398BFFD}" dt="2025-10-20T23:19:21.339" v="725" actId="1076"/>
          <ac:spMkLst>
            <pc:docMk/>
            <pc:sldMk cId="129618704" sldId="496"/>
            <ac:spMk id="11" creationId="{6165B814-0DAE-57BD-A8A2-1CD128A17539}"/>
          </ac:spMkLst>
        </pc:spChg>
        <pc:spChg chg="add mod">
          <ac:chgData name="Shachar Lovett" userId="0c6d1e87c56e93c6" providerId="LiveId" clId="{41064877-C806-4AB4-9CDD-1F501398BFFD}" dt="2025-10-20T23:19:27.228" v="727" actId="1076"/>
          <ac:spMkLst>
            <pc:docMk/>
            <pc:sldMk cId="129618704" sldId="496"/>
            <ac:spMk id="12" creationId="{DDC5EDDC-5946-262D-4661-8DA27604DE05}"/>
          </ac:spMkLst>
        </pc:spChg>
        <pc:spChg chg="add mod">
          <ac:chgData name="Shachar Lovett" userId="0c6d1e87c56e93c6" providerId="LiveId" clId="{41064877-C806-4AB4-9CDD-1F501398BFFD}" dt="2025-10-20T23:19:34.453" v="730" actId="14100"/>
          <ac:spMkLst>
            <pc:docMk/>
            <pc:sldMk cId="129618704" sldId="496"/>
            <ac:spMk id="23" creationId="{6323D857-30AD-B435-5691-06DC5648A445}"/>
          </ac:spMkLst>
        </pc:spChg>
        <pc:spChg chg="add mod">
          <ac:chgData name="Shachar Lovett" userId="0c6d1e87c56e93c6" providerId="LiveId" clId="{41064877-C806-4AB4-9CDD-1F501398BFFD}" dt="2025-10-20T23:20:13.135" v="735" actId="208"/>
          <ac:spMkLst>
            <pc:docMk/>
            <pc:sldMk cId="129618704" sldId="496"/>
            <ac:spMk id="24" creationId="{4FC7BF2E-25D4-C419-F133-0C20DF151459}"/>
          </ac:spMkLst>
        </pc:spChg>
      </pc:sldChg>
      <pc:sldChg chg="delSp modSp add mod delAnim modAnim">
        <pc:chgData name="Shachar Lovett" userId="0c6d1e87c56e93c6" providerId="LiveId" clId="{41064877-C806-4AB4-9CDD-1F501398BFFD}" dt="2025-10-20T23:17:56.822" v="710" actId="20577"/>
        <pc:sldMkLst>
          <pc:docMk/>
          <pc:sldMk cId="179287551" sldId="497"/>
        </pc:sldMkLst>
        <pc:spChg chg="mod">
          <ac:chgData name="Shachar Lovett" userId="0c6d1e87c56e93c6" providerId="LiveId" clId="{41064877-C806-4AB4-9CDD-1F501398BFFD}" dt="2025-10-20T23:17:56.822" v="710" actId="20577"/>
          <ac:spMkLst>
            <pc:docMk/>
            <pc:sldMk cId="179287551" sldId="497"/>
            <ac:spMk id="2" creationId="{AC468195-F9C5-3A62-50EF-4FE581D825DD}"/>
          </ac:spMkLst>
        </pc:spChg>
        <pc:spChg chg="mod">
          <ac:chgData name="Shachar Lovett" userId="0c6d1e87c56e93c6" providerId="LiveId" clId="{41064877-C806-4AB4-9CDD-1F501398BFFD}" dt="2025-10-20T20:57:00.552" v="701" actId="207"/>
          <ac:spMkLst>
            <pc:docMk/>
            <pc:sldMk cId="179287551" sldId="497"/>
            <ac:spMk id="3" creationId="{2F82577C-44FE-3BA7-7155-DBA24672D5F7}"/>
          </ac:spMkLst>
        </pc:spChg>
        <pc:grpChg chg="del">
          <ac:chgData name="Shachar Lovett" userId="0c6d1e87c56e93c6" providerId="LiveId" clId="{41064877-C806-4AB4-9CDD-1F501398BFFD}" dt="2025-10-20T20:54:49.107" v="417" actId="478"/>
          <ac:grpSpMkLst>
            <pc:docMk/>
            <pc:sldMk cId="179287551" sldId="497"/>
            <ac:grpSpMk id="13" creationId="{92799061-A8BC-3CEC-380D-6C25F51DCEEB}"/>
          </ac:grpSpMkLst>
        </pc:grpChg>
        <pc:grpChg chg="del">
          <ac:chgData name="Shachar Lovett" userId="0c6d1e87c56e93c6" providerId="LiveId" clId="{41064877-C806-4AB4-9CDD-1F501398BFFD}" dt="2025-10-20T20:54:49.107" v="417" actId="478"/>
          <ac:grpSpMkLst>
            <pc:docMk/>
            <pc:sldMk cId="179287551" sldId="497"/>
            <ac:grpSpMk id="14" creationId="{F5800EC9-8FF7-F317-5668-C14EA9B18F69}"/>
          </ac:grpSpMkLst>
        </pc:grpChg>
        <pc:grpChg chg="del">
          <ac:chgData name="Shachar Lovett" userId="0c6d1e87c56e93c6" providerId="LiveId" clId="{41064877-C806-4AB4-9CDD-1F501398BFFD}" dt="2025-10-20T20:54:49.107" v="417" actId="478"/>
          <ac:grpSpMkLst>
            <pc:docMk/>
            <pc:sldMk cId="179287551" sldId="497"/>
            <ac:grpSpMk id="17" creationId="{344790CC-4457-56A3-44C3-D951FD976D41}"/>
          </ac:grpSpMkLst>
        </pc:grpChg>
        <pc:grpChg chg="del">
          <ac:chgData name="Shachar Lovett" userId="0c6d1e87c56e93c6" providerId="LiveId" clId="{41064877-C806-4AB4-9CDD-1F501398BFFD}" dt="2025-10-20T20:54:49.107" v="417" actId="478"/>
          <ac:grpSpMkLst>
            <pc:docMk/>
            <pc:sldMk cId="179287551" sldId="497"/>
            <ac:grpSpMk id="20" creationId="{4E1C4ABE-1BE3-6631-69CC-DB4D75E99996}"/>
          </ac:grpSpMkLst>
        </pc:grpChg>
        <pc:picChg chg="del">
          <ac:chgData name="Shachar Lovett" userId="0c6d1e87c56e93c6" providerId="LiveId" clId="{41064877-C806-4AB4-9CDD-1F501398BFFD}" dt="2025-10-20T20:54:49.107" v="417" actId="478"/>
          <ac:picMkLst>
            <pc:docMk/>
            <pc:sldMk cId="179287551" sldId="497"/>
            <ac:picMk id="5" creationId="{EEBE363B-8F82-E467-58B5-BA5271E73FF2}"/>
          </ac:picMkLst>
        </pc:picChg>
        <pc:picChg chg="del">
          <ac:chgData name="Shachar Lovett" userId="0c6d1e87c56e93c6" providerId="LiveId" clId="{41064877-C806-4AB4-9CDD-1F501398BFFD}" dt="2025-10-20T20:54:49.107" v="417" actId="478"/>
          <ac:picMkLst>
            <pc:docMk/>
            <pc:sldMk cId="179287551" sldId="497"/>
            <ac:picMk id="7" creationId="{9C4A3A32-D9CD-1F64-7289-561DC821E0D1}"/>
          </ac:picMkLst>
        </pc:picChg>
      </pc:sldChg>
    </pc:docChg>
  </pc:docChgLst>
  <pc:docChgLst>
    <pc:chgData name="Shachar Lovett" userId="0c6d1e87c56e93c6" providerId="LiveId" clId="{5B47564C-F48E-41D0-8391-00D37BE043E1}"/>
    <pc:docChg chg="modSld">
      <pc:chgData name="Shachar Lovett" userId="0c6d1e87c56e93c6" providerId="LiveId" clId="{5B47564C-F48E-41D0-8391-00D37BE043E1}" dt="2025-03-06T01:27:17.969" v="1" actId="20577"/>
      <pc:docMkLst>
        <pc:docMk/>
      </pc:docMkLst>
      <pc:sldChg chg="modSp mod">
        <pc:chgData name="Shachar Lovett" userId="0c6d1e87c56e93c6" providerId="LiveId" clId="{5B47564C-F48E-41D0-8391-00D37BE043E1}" dt="2025-03-06T01:22:29.912" v="0"/>
        <pc:sldMkLst>
          <pc:docMk/>
          <pc:sldMk cId="1882651833" sldId="256"/>
        </pc:sldMkLst>
      </pc:sldChg>
      <pc:sldChg chg="modSp mod">
        <pc:chgData name="Shachar Lovett" userId="0c6d1e87c56e93c6" providerId="LiveId" clId="{5B47564C-F48E-41D0-8391-00D37BE043E1}" dt="2025-03-06T01:27:17.969" v="1" actId="20577"/>
        <pc:sldMkLst>
          <pc:docMk/>
          <pc:sldMk cId="2063963681" sldId="376"/>
        </pc:sldMkLst>
      </pc:sldChg>
    </pc:docChg>
  </pc:docChgLst>
  <pc:docChgLst>
    <pc:chgData name="Shachar Lovett" userId="0c6d1e87c56e93c6" providerId="LiveId" clId="{89E864E4-9698-4839-A539-29DF61068FDD}"/>
    <pc:docChg chg="undo custSel modSld">
      <pc:chgData name="Shachar Lovett" userId="0c6d1e87c56e93c6" providerId="LiveId" clId="{89E864E4-9698-4839-A539-29DF61068FDD}" dt="2025-04-23T21:51:15.807" v="25" actId="27636"/>
      <pc:docMkLst>
        <pc:docMk/>
      </pc:docMkLst>
      <pc:sldChg chg="modSp mod">
        <pc:chgData name="Shachar Lovett" userId="0c6d1e87c56e93c6" providerId="LiveId" clId="{89E864E4-9698-4839-A539-29DF61068FDD}" dt="2025-04-23T21:51:15.807" v="25" actId="27636"/>
        <pc:sldMkLst>
          <pc:docMk/>
          <pc:sldMk cId="4106121964" sldId="449"/>
        </pc:sldMkLst>
      </pc:sldChg>
    </pc:docChg>
  </pc:docChgLst>
  <pc:docChgLst>
    <pc:chgData name="Shachar Lovett" userId="0c6d1e87c56e93c6" providerId="LiveId" clId="{D115BFFD-887E-493A-9C55-8316AABAD0E9}"/>
    <pc:docChg chg="modSld">
      <pc:chgData name="Shachar Lovett" userId="0c6d1e87c56e93c6" providerId="LiveId" clId="{D115BFFD-887E-493A-9C55-8316AABAD0E9}" dt="2025-09-11T04:28:31.578" v="43" actId="20577"/>
      <pc:docMkLst>
        <pc:docMk/>
      </pc:docMkLst>
      <pc:sldChg chg="modSp mod">
        <pc:chgData name="Shachar Lovett" userId="0c6d1e87c56e93c6" providerId="LiveId" clId="{D115BFFD-887E-493A-9C55-8316AABAD0E9}" dt="2025-09-11T04:28:31.578" v="43" actId="20577"/>
        <pc:sldMkLst>
          <pc:docMk/>
          <pc:sldMk cId="1882651833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Friday, April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Friday, April 17,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sv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sv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927464" cy="1445419"/>
          </a:xfrm>
        </p:spPr>
        <p:txBody>
          <a:bodyPr>
            <a:normAutofit fontScale="90000"/>
          </a:bodyPr>
          <a:lstStyle/>
          <a:p>
            <a:r>
              <a:rPr lang="en-US" dirty="0"/>
              <a:t>CSE331</a:t>
            </a:r>
            <a:br>
              <a:rPr lang="en-US" dirty="0"/>
            </a:br>
            <a:r>
              <a:rPr lang="en-US" sz="4400" dirty="0"/>
              <a:t>AUTAMATA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Lecture 11</a:t>
            </a:r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1.4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the limits of the class of regular languages</a:t>
            </a:r>
          </a:p>
          <a:p>
            <a:r>
              <a:rPr lang="en-US" dirty="0"/>
              <a:t>Justify why the Pumping Lemma is true</a:t>
            </a:r>
          </a:p>
          <a:p>
            <a:r>
              <a:rPr lang="en-US" dirty="0"/>
              <a:t>Apply the Pumping Lemma in proofs of non-regularity</a:t>
            </a:r>
          </a:p>
          <a:p>
            <a:r>
              <a:rPr lang="en-US" dirty="0"/>
              <a:t>Identify some nonregular languages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roads lead to … regular sets?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Are there any languages </a:t>
            </a:r>
            <a:r>
              <a:rPr lang="en-US" dirty="0">
                <a:solidFill>
                  <a:schemeClr val="accent5"/>
                </a:solidFill>
              </a:rPr>
              <a:t>over {0,1} </a:t>
            </a:r>
            <a:r>
              <a:rPr lang="en-US" dirty="0"/>
              <a:t>that are not regular?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Yes: a language that is recognized by an NFA but not any DFA.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Yes: there is some infinite language of strings over {0,1} that is not described by any regular expression.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all languages over {0,1} are regular because that's what it means to be a language.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for each set of strings over {0,1}, some DFA recognizes that set.</a:t>
            </a:r>
          </a:p>
          <a:p>
            <a:pPr marL="457200" indent="-457200">
              <a:buAutoNum type="alphaUcPeriod"/>
            </a:pPr>
            <a:endParaRPr lang="en-US"/>
          </a:p>
          <a:p>
            <a:pPr marL="457200" indent="-457200">
              <a:buAutoNum type="alphaUcPeriod"/>
            </a:pPr>
            <a:r>
              <a:rPr lang="en-US"/>
              <a:t>I </a:t>
            </a:r>
            <a:r>
              <a:rPr lang="en-US" dirty="0"/>
              <a:t>don't know.</a:t>
            </a:r>
          </a:p>
        </p:txBody>
      </p:sp>
    </p:spTree>
    <p:extLst>
      <p:ext uri="{BB962C8B-B14F-4D97-AF65-F5344CB8AC3E}">
        <p14:creationId xmlns:p14="http://schemas.microsoft.com/office/powerpoint/2010/main" val="410612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0768" y="1143000"/>
            <a:ext cx="8647447" cy="38822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All languages over Σ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Birds' eye view</a:t>
            </a:r>
          </a:p>
        </p:txBody>
      </p:sp>
      <p:sp>
        <p:nvSpPr>
          <p:cNvPr id="5" name="Oval 4"/>
          <p:cNvSpPr/>
          <p:nvPr/>
        </p:nvSpPr>
        <p:spPr>
          <a:xfrm>
            <a:off x="1607886" y="2323524"/>
            <a:ext cx="6418026" cy="2431595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Regular languages over Σ</a:t>
            </a:r>
          </a:p>
        </p:txBody>
      </p:sp>
      <p:sp>
        <p:nvSpPr>
          <p:cNvPr id="6" name="Oval 5"/>
          <p:cNvSpPr/>
          <p:nvPr/>
        </p:nvSpPr>
        <p:spPr>
          <a:xfrm>
            <a:off x="2800682" y="3201601"/>
            <a:ext cx="3847043" cy="1337377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Finite languages over Σ</a:t>
            </a:r>
          </a:p>
        </p:txBody>
      </p:sp>
    </p:spTree>
    <p:extLst>
      <p:ext uri="{BB962C8B-B14F-4D97-AF65-F5344CB8AC3E}">
        <p14:creationId xmlns:p14="http://schemas.microsoft.com/office/powerpoint/2010/main" val="171477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AD4A-9148-6EBB-C752-7823570D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ACCF-8094-830D-24D7-84144BFC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A5AA-CBC9-E35F-49A6-633B41C2F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76342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There are more </a:t>
            </a:r>
            <a:r>
              <a:rPr lang="en-US" sz="2200" b="1" dirty="0">
                <a:solidFill>
                  <a:srgbClr val="7030A0"/>
                </a:solidFill>
              </a:rPr>
              <a:t>languages</a:t>
            </a:r>
            <a:r>
              <a:rPr lang="en-US" sz="2200" dirty="0"/>
              <a:t> than </a:t>
            </a:r>
            <a:r>
              <a:rPr lang="en-US" sz="2200" b="1" dirty="0">
                <a:solidFill>
                  <a:srgbClr val="0070C0"/>
                </a:solidFill>
              </a:rPr>
              <a:t>regular languages</a:t>
            </a:r>
          </a:p>
          <a:p>
            <a:endParaRPr lang="en-US" sz="2200" dirty="0"/>
          </a:p>
          <a:p>
            <a:r>
              <a:rPr lang="en-US" sz="2200" dirty="0"/>
              <a:t>Conclusion: there must be </a:t>
            </a:r>
            <a:r>
              <a:rPr lang="en-US" sz="2200" u="sng" dirty="0"/>
              <a:t>non-regular languages</a:t>
            </a:r>
          </a:p>
          <a:p>
            <a:endParaRPr lang="en-US" sz="2200" dirty="0"/>
          </a:p>
          <a:p>
            <a:r>
              <a:rPr lang="en-US" sz="2200" dirty="0">
                <a:solidFill>
                  <a:srgbClr val="FF0000"/>
                </a:solidFill>
              </a:rPr>
              <a:t>But how can we identify them???</a:t>
            </a:r>
          </a:p>
          <a:p>
            <a:pPr marL="0" indent="0">
              <a:buNone/>
            </a:pPr>
            <a:endParaRPr lang="en-US" sz="2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74E0D-0B40-D5C5-E290-5294EAD6B1F6}"/>
              </a:ext>
            </a:extLst>
          </p:cNvPr>
          <p:cNvGrpSpPr/>
          <p:nvPr/>
        </p:nvGrpSpPr>
        <p:grpSpPr>
          <a:xfrm>
            <a:off x="2231136" y="3094330"/>
            <a:ext cx="4564685" cy="1763420"/>
            <a:chOff x="2231136" y="3094330"/>
            <a:chExt cx="4564685" cy="17634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AF37428-9321-865F-7EF8-AB69348CFCAC}"/>
                </a:ext>
              </a:extLst>
            </p:cNvPr>
            <p:cNvSpPr/>
            <p:nvPr/>
          </p:nvSpPr>
          <p:spPr>
            <a:xfrm>
              <a:off x="2231136" y="3094330"/>
              <a:ext cx="4564685" cy="176342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b="1" dirty="0"/>
                <a:t>	All languages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C4C0E5-AD09-98FB-A430-81C5F039CCB1}"/>
                </a:ext>
              </a:extLst>
            </p:cNvPr>
            <p:cNvSpPr/>
            <p:nvPr/>
          </p:nvSpPr>
          <p:spPr>
            <a:xfrm>
              <a:off x="2706623" y="3270352"/>
              <a:ext cx="2253082" cy="76809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Regular languages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019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nonregularity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can we prove that a set is non-regular?</a:t>
            </a:r>
          </a:p>
          <a:p>
            <a:pPr marL="457200" indent="-457200">
              <a:buAutoNum type="alphaUcPeriod"/>
            </a:pPr>
            <a:r>
              <a:rPr lang="en-US"/>
              <a:t>Try to design a DFA that recognizes it and, if the first few attempts don't work, conclude there is none that does.</a:t>
            </a:r>
          </a:p>
          <a:p>
            <a:pPr marL="457200" indent="-457200">
              <a:buAutoNum type="alphaUcPeriod"/>
            </a:pPr>
            <a:r>
              <a:rPr lang="en-US"/>
              <a:t>Prove that it's a strict subset of some regular set.</a:t>
            </a:r>
          </a:p>
          <a:p>
            <a:pPr marL="457200" indent="-457200">
              <a:buAutoNum type="alphaUcPeriod"/>
            </a:pPr>
            <a:r>
              <a:rPr lang="en-US"/>
              <a:t>Prove that it's the union of two regular sets.</a:t>
            </a:r>
          </a:p>
          <a:p>
            <a:pPr marL="457200" indent="-457200">
              <a:buAutoNum type="alphaUcPeriod"/>
            </a:pPr>
            <a:r>
              <a:rPr lang="en-US"/>
              <a:t>Prove that its complement is not regular.</a:t>
            </a:r>
          </a:p>
          <a:p>
            <a:pPr marL="457200" indent="-457200">
              <a:buAutoNum type="alphaUcPeriod"/>
            </a:pPr>
            <a:r>
              <a:rPr lang="en-US"/>
              <a:t>I don't know.</a:t>
            </a:r>
          </a:p>
          <a:p>
            <a:pPr marL="457200" indent="-457200">
              <a:buAutoNum type="alphaU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exist non-regular languages</a:t>
            </a:r>
          </a:p>
          <a:p>
            <a:endParaRPr lang="en-US" dirty="0"/>
          </a:p>
          <a:p>
            <a:r>
              <a:rPr lang="en-US" dirty="0"/>
              <a:t>If we know that some sets are not regular, we can conclude others are </a:t>
            </a:r>
            <a:r>
              <a:rPr lang="en-US" b="1" dirty="0">
                <a:solidFill>
                  <a:srgbClr val="4128D2"/>
                </a:solidFill>
              </a:rPr>
              <a:t>also</a:t>
            </a:r>
            <a:r>
              <a:rPr lang="en-US" dirty="0"/>
              <a:t> not regular </a:t>
            </a:r>
            <a:r>
              <a:rPr lang="en-US" dirty="0">
                <a:solidFill>
                  <a:schemeClr val="accent1"/>
                </a:solidFill>
              </a:rPr>
              <a:t>judiciously reasoning using closure properties of class of regular languages.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rgbClr val="292934"/>
                </a:solidFill>
              </a:rPr>
              <a:t>No example of a specific non-regular set </a:t>
            </a:r>
            <a:r>
              <a:rPr lang="en-US" b="1" dirty="0">
                <a:solidFill>
                  <a:schemeClr val="tx2"/>
                </a:solidFill>
              </a:rPr>
              <a:t>... yet.</a:t>
            </a:r>
          </a:p>
        </p:txBody>
      </p:sp>
    </p:spTree>
    <p:extLst>
      <p:ext uri="{BB962C8B-B14F-4D97-AF65-F5344CB8AC3E}">
        <p14:creationId xmlns:p14="http://schemas.microsoft.com/office/powerpoint/2010/main" val="25137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Bounds on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 DFA, memory = states</a:t>
            </a:r>
          </a:p>
          <a:p>
            <a:endParaRPr lang="en-US"/>
          </a:p>
          <a:p>
            <a:r>
              <a:rPr lang="en-US"/>
              <a:t>Automata can only "remember"…</a:t>
            </a:r>
          </a:p>
          <a:p>
            <a:pPr lvl="1"/>
            <a:r>
              <a:rPr lang="en-US"/>
              <a:t>…finitely far in the past</a:t>
            </a:r>
          </a:p>
          <a:p>
            <a:pPr lvl="1"/>
            <a:r>
              <a:rPr lang="en-US"/>
              <a:t>…finitely much information</a:t>
            </a:r>
          </a:p>
          <a:p>
            <a:endParaRPr lang="en-US"/>
          </a:p>
          <a:p>
            <a:r>
              <a:rPr lang="en-US"/>
              <a:t>If a computation path visits the same state more than once, the machine can't tell the difference between the first time and future times it visited that state.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{ 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 </a:t>
            </a:r>
            <a:r>
              <a:rPr lang="en-US"/>
              <a:t> | n ≥ 0}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 i="1">
                <a:solidFill>
                  <a:schemeClr val="accent1"/>
                </a:solidFill>
              </a:rPr>
              <a:t>What are some strings in this set? </a:t>
            </a:r>
          </a:p>
          <a:p>
            <a:pPr marL="0" indent="0">
              <a:buNone/>
            </a:pPr>
            <a:r>
              <a:rPr lang="en-US" i="1">
                <a:solidFill>
                  <a:schemeClr val="accent1"/>
                </a:solidFill>
              </a:rPr>
              <a:t>What are some strings not in this set?</a:t>
            </a:r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r>
              <a:rPr lang="en-US" i="1">
                <a:solidFill>
                  <a:schemeClr val="accent4"/>
                </a:solidFill>
              </a:rPr>
              <a:t>Compare to </a:t>
            </a:r>
            <a:r>
              <a:rPr lang="en-US">
                <a:solidFill>
                  <a:schemeClr val="accent4"/>
                </a:solidFill>
              </a:rPr>
              <a:t>L(0</a:t>
            </a:r>
            <a:r>
              <a:rPr lang="en-US" baseline="30000">
                <a:solidFill>
                  <a:schemeClr val="accent4"/>
                </a:solidFill>
              </a:rPr>
              <a:t>*</a:t>
            </a:r>
            <a:r>
              <a:rPr lang="en-US">
                <a:solidFill>
                  <a:schemeClr val="accent4"/>
                </a:solidFill>
              </a:rPr>
              <a:t>1</a:t>
            </a:r>
            <a:r>
              <a:rPr lang="en-US" baseline="30000">
                <a:solidFill>
                  <a:schemeClr val="accent4"/>
                </a:solidFill>
              </a:rPr>
              <a:t>*</a:t>
            </a:r>
            <a:r>
              <a:rPr lang="en-US">
                <a:solidFill>
                  <a:schemeClr val="accent4"/>
                </a:solidFill>
              </a:rPr>
              <a:t>)</a:t>
            </a:r>
          </a:p>
          <a:p>
            <a:pPr marL="0" indent="0">
              <a:buNone/>
            </a:pPr>
            <a:r>
              <a:rPr lang="en-US" i="1">
                <a:solidFill>
                  <a:schemeClr val="accent4"/>
                </a:solidFill>
              </a:rPr>
              <a:t>Design a DFA? NFA?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73201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{ 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 </a:t>
            </a:r>
            <a:r>
              <a:rPr lang="en-US"/>
              <a:t> | n ≥ 0}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 i="1">
                <a:solidFill>
                  <a:schemeClr val="accent1"/>
                </a:solidFill>
              </a:rPr>
              <a:t>What are some strings in this set? </a:t>
            </a:r>
          </a:p>
          <a:p>
            <a:pPr marL="0" indent="0">
              <a:buNone/>
            </a:pPr>
            <a:r>
              <a:rPr lang="en-US" i="1">
                <a:solidFill>
                  <a:schemeClr val="accent1"/>
                </a:solidFill>
              </a:rPr>
              <a:t>What are some strings not in this set?</a:t>
            </a:r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r>
              <a:rPr lang="en-US" i="1">
                <a:solidFill>
                  <a:schemeClr val="accent4"/>
                </a:solidFill>
              </a:rPr>
              <a:t>Compare to </a:t>
            </a:r>
            <a:r>
              <a:rPr lang="en-US">
                <a:solidFill>
                  <a:schemeClr val="accent4"/>
                </a:solidFill>
              </a:rPr>
              <a:t>L(0</a:t>
            </a:r>
            <a:r>
              <a:rPr lang="en-US" baseline="30000">
                <a:solidFill>
                  <a:schemeClr val="accent4"/>
                </a:solidFill>
              </a:rPr>
              <a:t>*</a:t>
            </a:r>
            <a:r>
              <a:rPr lang="en-US">
                <a:solidFill>
                  <a:schemeClr val="accent4"/>
                </a:solidFill>
              </a:rPr>
              <a:t>1</a:t>
            </a:r>
            <a:r>
              <a:rPr lang="en-US" baseline="30000">
                <a:solidFill>
                  <a:schemeClr val="accent4"/>
                </a:solidFill>
              </a:rPr>
              <a:t>*</a:t>
            </a:r>
            <a:r>
              <a:rPr lang="en-US">
                <a:solidFill>
                  <a:schemeClr val="accent4"/>
                </a:solidFill>
              </a:rPr>
              <a:t>)</a:t>
            </a:r>
          </a:p>
          <a:p>
            <a:pPr marL="0" indent="0">
              <a:buNone/>
            </a:pPr>
            <a:r>
              <a:rPr lang="en-US" i="1">
                <a:solidFill>
                  <a:schemeClr val="accent4"/>
                </a:solidFill>
              </a:rPr>
              <a:t>Design a DFA? NFA?</a:t>
            </a:r>
            <a:endParaRPr lang="en-US" i="1"/>
          </a:p>
        </p:txBody>
      </p:sp>
      <p:pic>
        <p:nvPicPr>
          <p:cNvPr id="5" name="Picture 4" descr="0n1n_length2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816" y="2998748"/>
            <a:ext cx="2946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8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Pumping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Focus on computation path through DFA</a:t>
            </a:r>
          </a:p>
        </p:txBody>
      </p:sp>
      <p:sp>
        <p:nvSpPr>
          <p:cNvPr id="7" name="Oval 6"/>
          <p:cNvSpPr/>
          <p:nvPr/>
        </p:nvSpPr>
        <p:spPr>
          <a:xfrm>
            <a:off x="689818" y="2595273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7" idx="2"/>
          </p:cNvCxnSpPr>
          <p:nvPr/>
        </p:nvCxnSpPr>
        <p:spPr>
          <a:xfrm>
            <a:off x="219487" y="2712884"/>
            <a:ext cx="47033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59143" y="2982894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003371" y="1935926"/>
            <a:ext cx="1513112" cy="1093488"/>
          </a:xfrm>
          <a:custGeom>
            <a:avLst/>
            <a:gdLst>
              <a:gd name="connsiteX0" fmla="*/ 0 w 1513112"/>
              <a:gd name="connsiteY0" fmla="*/ 792638 h 1093488"/>
              <a:gd name="connsiteX1" fmla="*/ 517363 w 1513112"/>
              <a:gd name="connsiteY1" fmla="*/ 39931 h 1093488"/>
              <a:gd name="connsiteX2" fmla="*/ 1081759 w 1513112"/>
              <a:gd name="connsiteY2" fmla="*/ 149701 h 1093488"/>
              <a:gd name="connsiteX3" fmla="*/ 1003371 w 1513112"/>
              <a:gd name="connsiteY3" fmla="*/ 541736 h 1093488"/>
              <a:gd name="connsiteX4" fmla="*/ 1238536 w 1513112"/>
              <a:gd name="connsiteY4" fmla="*/ 698550 h 1093488"/>
              <a:gd name="connsiteX5" fmla="*/ 1505056 w 1513112"/>
              <a:gd name="connsiteY5" fmla="*/ 824001 h 1093488"/>
              <a:gd name="connsiteX6" fmla="*/ 1442345 w 1513112"/>
              <a:gd name="connsiteY6" fmla="*/ 1074903 h 1093488"/>
              <a:gd name="connsiteX7" fmla="*/ 1426668 w 1513112"/>
              <a:gd name="connsiteY7" fmla="*/ 1074903 h 109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2" h="1093488">
                <a:moveTo>
                  <a:pt x="0" y="792638"/>
                </a:moveTo>
                <a:cubicBezTo>
                  <a:pt x="168535" y="469862"/>
                  <a:pt x="337070" y="147087"/>
                  <a:pt x="517363" y="39931"/>
                </a:cubicBezTo>
                <a:cubicBezTo>
                  <a:pt x="697656" y="-67225"/>
                  <a:pt x="1000758" y="66067"/>
                  <a:pt x="1081759" y="149701"/>
                </a:cubicBezTo>
                <a:cubicBezTo>
                  <a:pt x="1162760" y="233335"/>
                  <a:pt x="977242" y="450261"/>
                  <a:pt x="1003371" y="541736"/>
                </a:cubicBezTo>
                <a:cubicBezTo>
                  <a:pt x="1029501" y="633211"/>
                  <a:pt x="1154922" y="651506"/>
                  <a:pt x="1238536" y="698550"/>
                </a:cubicBezTo>
                <a:cubicBezTo>
                  <a:pt x="1322150" y="745594"/>
                  <a:pt x="1471088" y="761276"/>
                  <a:pt x="1505056" y="824001"/>
                </a:cubicBezTo>
                <a:cubicBezTo>
                  <a:pt x="1539024" y="886726"/>
                  <a:pt x="1455410" y="1033086"/>
                  <a:pt x="1442345" y="1074903"/>
                </a:cubicBezTo>
                <a:cubicBezTo>
                  <a:pt x="1429280" y="1116720"/>
                  <a:pt x="1426668" y="1074903"/>
                  <a:pt x="1426668" y="1074903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2445716" y="3182415"/>
            <a:ext cx="1818610" cy="503444"/>
          </a:xfrm>
          <a:custGeom>
            <a:avLst/>
            <a:gdLst>
              <a:gd name="connsiteX0" fmla="*/ 0 w 1818610"/>
              <a:gd name="connsiteY0" fmla="*/ 910 h 503444"/>
              <a:gd name="connsiteX1" fmla="*/ 580074 w 1818610"/>
              <a:gd name="connsiteY1" fmla="*/ 79317 h 503444"/>
              <a:gd name="connsiteX2" fmla="*/ 972016 w 1818610"/>
              <a:gd name="connsiteY2" fmla="*/ 502715 h 503444"/>
              <a:gd name="connsiteX3" fmla="*/ 1818610 w 1818610"/>
              <a:gd name="connsiteY3" fmla="*/ 189087 h 50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8610" h="503444">
                <a:moveTo>
                  <a:pt x="0" y="910"/>
                </a:moveTo>
                <a:cubicBezTo>
                  <a:pt x="209035" y="-1704"/>
                  <a:pt x="418071" y="-4317"/>
                  <a:pt x="580074" y="79317"/>
                </a:cubicBezTo>
                <a:cubicBezTo>
                  <a:pt x="742077" y="162951"/>
                  <a:pt x="765593" y="484420"/>
                  <a:pt x="972016" y="502715"/>
                </a:cubicBezTo>
                <a:cubicBezTo>
                  <a:pt x="1178439" y="521010"/>
                  <a:pt x="1818610" y="189087"/>
                  <a:pt x="1818610" y="189087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259951" y="3182415"/>
            <a:ext cx="297876" cy="235221"/>
          </a:xfrm>
          <a:prstGeom prst="ellipse">
            <a:avLst/>
          </a:prstGeom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12463" y="3138800"/>
            <a:ext cx="411994" cy="325882"/>
          </a:xfrm>
          <a:prstGeom prst="ellipse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689818" y="3200616"/>
            <a:ext cx="1583836" cy="1447777"/>
          </a:xfrm>
          <a:custGeom>
            <a:avLst/>
            <a:gdLst>
              <a:gd name="connsiteX0" fmla="*/ 1427059 w 1583836"/>
              <a:gd name="connsiteY0" fmla="*/ 9358 h 1660083"/>
              <a:gd name="connsiteX1" fmla="*/ 658853 w 1583836"/>
              <a:gd name="connsiteY1" fmla="*/ 72083 h 1660083"/>
              <a:gd name="connsiteX2" fmla="*/ 47424 w 1583836"/>
              <a:gd name="connsiteY2" fmla="*/ 542525 h 1660083"/>
              <a:gd name="connsiteX3" fmla="*/ 141490 w 1583836"/>
              <a:gd name="connsiteY3" fmla="*/ 1326595 h 1660083"/>
              <a:gd name="connsiteX4" fmla="*/ 941051 w 1583836"/>
              <a:gd name="connsiteY4" fmla="*/ 1624542 h 1660083"/>
              <a:gd name="connsiteX5" fmla="*/ 1458414 w 1583836"/>
              <a:gd name="connsiteY5" fmla="*/ 558207 h 1660083"/>
              <a:gd name="connsiteX6" fmla="*/ 1583836 w 1583836"/>
              <a:gd name="connsiteY6" fmla="*/ 25039 h 166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3836" h="1660083">
                <a:moveTo>
                  <a:pt x="1427059" y="9358"/>
                </a:moveTo>
                <a:cubicBezTo>
                  <a:pt x="1157925" y="-3710"/>
                  <a:pt x="888792" y="-16778"/>
                  <a:pt x="658853" y="72083"/>
                </a:cubicBezTo>
                <a:cubicBezTo>
                  <a:pt x="428914" y="160944"/>
                  <a:pt x="133651" y="333440"/>
                  <a:pt x="47424" y="542525"/>
                </a:cubicBezTo>
                <a:cubicBezTo>
                  <a:pt x="-38803" y="751610"/>
                  <a:pt x="-7448" y="1146259"/>
                  <a:pt x="141490" y="1326595"/>
                </a:cubicBezTo>
                <a:cubicBezTo>
                  <a:pt x="290428" y="1506931"/>
                  <a:pt x="721564" y="1752607"/>
                  <a:pt x="941051" y="1624542"/>
                </a:cubicBezTo>
                <a:cubicBezTo>
                  <a:pt x="1160538" y="1496477"/>
                  <a:pt x="1351283" y="824791"/>
                  <a:pt x="1458414" y="558207"/>
                </a:cubicBezTo>
                <a:cubicBezTo>
                  <a:pt x="1565545" y="291623"/>
                  <a:pt x="1583836" y="25039"/>
                  <a:pt x="1583836" y="25039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92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_14815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18" y="533659"/>
            <a:ext cx="4123227" cy="41232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Pumping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Focus on computation path through DFA</a:t>
            </a:r>
          </a:p>
        </p:txBody>
      </p:sp>
      <p:sp>
        <p:nvSpPr>
          <p:cNvPr id="7" name="Oval 6"/>
          <p:cNvSpPr/>
          <p:nvPr/>
        </p:nvSpPr>
        <p:spPr>
          <a:xfrm>
            <a:off x="689818" y="2595273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7" idx="2"/>
          </p:cNvCxnSpPr>
          <p:nvPr/>
        </p:nvCxnSpPr>
        <p:spPr>
          <a:xfrm>
            <a:off x="219487" y="2712884"/>
            <a:ext cx="47033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59143" y="2982894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003371" y="1935926"/>
            <a:ext cx="1513112" cy="1093488"/>
          </a:xfrm>
          <a:custGeom>
            <a:avLst/>
            <a:gdLst>
              <a:gd name="connsiteX0" fmla="*/ 0 w 1513112"/>
              <a:gd name="connsiteY0" fmla="*/ 792638 h 1093488"/>
              <a:gd name="connsiteX1" fmla="*/ 517363 w 1513112"/>
              <a:gd name="connsiteY1" fmla="*/ 39931 h 1093488"/>
              <a:gd name="connsiteX2" fmla="*/ 1081759 w 1513112"/>
              <a:gd name="connsiteY2" fmla="*/ 149701 h 1093488"/>
              <a:gd name="connsiteX3" fmla="*/ 1003371 w 1513112"/>
              <a:gd name="connsiteY3" fmla="*/ 541736 h 1093488"/>
              <a:gd name="connsiteX4" fmla="*/ 1238536 w 1513112"/>
              <a:gd name="connsiteY4" fmla="*/ 698550 h 1093488"/>
              <a:gd name="connsiteX5" fmla="*/ 1505056 w 1513112"/>
              <a:gd name="connsiteY5" fmla="*/ 824001 h 1093488"/>
              <a:gd name="connsiteX6" fmla="*/ 1442345 w 1513112"/>
              <a:gd name="connsiteY6" fmla="*/ 1074903 h 1093488"/>
              <a:gd name="connsiteX7" fmla="*/ 1426668 w 1513112"/>
              <a:gd name="connsiteY7" fmla="*/ 1074903 h 109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2" h="1093488">
                <a:moveTo>
                  <a:pt x="0" y="792638"/>
                </a:moveTo>
                <a:cubicBezTo>
                  <a:pt x="168535" y="469862"/>
                  <a:pt x="337070" y="147087"/>
                  <a:pt x="517363" y="39931"/>
                </a:cubicBezTo>
                <a:cubicBezTo>
                  <a:pt x="697656" y="-67225"/>
                  <a:pt x="1000758" y="66067"/>
                  <a:pt x="1081759" y="149701"/>
                </a:cubicBezTo>
                <a:cubicBezTo>
                  <a:pt x="1162760" y="233335"/>
                  <a:pt x="977242" y="450261"/>
                  <a:pt x="1003371" y="541736"/>
                </a:cubicBezTo>
                <a:cubicBezTo>
                  <a:pt x="1029501" y="633211"/>
                  <a:pt x="1154922" y="651506"/>
                  <a:pt x="1238536" y="698550"/>
                </a:cubicBezTo>
                <a:cubicBezTo>
                  <a:pt x="1322150" y="745594"/>
                  <a:pt x="1471088" y="761276"/>
                  <a:pt x="1505056" y="824001"/>
                </a:cubicBezTo>
                <a:cubicBezTo>
                  <a:pt x="1539024" y="886726"/>
                  <a:pt x="1455410" y="1033086"/>
                  <a:pt x="1442345" y="1074903"/>
                </a:cubicBezTo>
                <a:cubicBezTo>
                  <a:pt x="1429280" y="1116720"/>
                  <a:pt x="1426668" y="1074903"/>
                  <a:pt x="1426668" y="1074903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689818" y="3200616"/>
            <a:ext cx="1583836" cy="1447777"/>
          </a:xfrm>
          <a:custGeom>
            <a:avLst/>
            <a:gdLst>
              <a:gd name="connsiteX0" fmla="*/ 1427059 w 1583836"/>
              <a:gd name="connsiteY0" fmla="*/ 9358 h 1660083"/>
              <a:gd name="connsiteX1" fmla="*/ 658853 w 1583836"/>
              <a:gd name="connsiteY1" fmla="*/ 72083 h 1660083"/>
              <a:gd name="connsiteX2" fmla="*/ 47424 w 1583836"/>
              <a:gd name="connsiteY2" fmla="*/ 542525 h 1660083"/>
              <a:gd name="connsiteX3" fmla="*/ 141490 w 1583836"/>
              <a:gd name="connsiteY3" fmla="*/ 1326595 h 1660083"/>
              <a:gd name="connsiteX4" fmla="*/ 941051 w 1583836"/>
              <a:gd name="connsiteY4" fmla="*/ 1624542 h 1660083"/>
              <a:gd name="connsiteX5" fmla="*/ 1458414 w 1583836"/>
              <a:gd name="connsiteY5" fmla="*/ 558207 h 1660083"/>
              <a:gd name="connsiteX6" fmla="*/ 1583836 w 1583836"/>
              <a:gd name="connsiteY6" fmla="*/ 25039 h 166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3836" h="1660083">
                <a:moveTo>
                  <a:pt x="1427059" y="9358"/>
                </a:moveTo>
                <a:cubicBezTo>
                  <a:pt x="1157925" y="-3710"/>
                  <a:pt x="888792" y="-16778"/>
                  <a:pt x="658853" y="72083"/>
                </a:cubicBezTo>
                <a:cubicBezTo>
                  <a:pt x="428914" y="160944"/>
                  <a:pt x="133651" y="333440"/>
                  <a:pt x="47424" y="542525"/>
                </a:cubicBezTo>
                <a:cubicBezTo>
                  <a:pt x="-38803" y="751610"/>
                  <a:pt x="-7448" y="1146259"/>
                  <a:pt x="141490" y="1326595"/>
                </a:cubicBezTo>
                <a:cubicBezTo>
                  <a:pt x="290428" y="1506931"/>
                  <a:pt x="721564" y="1752607"/>
                  <a:pt x="941051" y="1624542"/>
                </a:cubicBezTo>
                <a:cubicBezTo>
                  <a:pt x="1160538" y="1496477"/>
                  <a:pt x="1351283" y="824791"/>
                  <a:pt x="1458414" y="558207"/>
                </a:cubicBezTo>
                <a:cubicBezTo>
                  <a:pt x="1565545" y="291623"/>
                  <a:pt x="1583836" y="25039"/>
                  <a:pt x="1583836" y="25039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2445716" y="3182415"/>
            <a:ext cx="1818610" cy="503444"/>
          </a:xfrm>
          <a:custGeom>
            <a:avLst/>
            <a:gdLst>
              <a:gd name="connsiteX0" fmla="*/ 0 w 1818610"/>
              <a:gd name="connsiteY0" fmla="*/ 910 h 503444"/>
              <a:gd name="connsiteX1" fmla="*/ 580074 w 1818610"/>
              <a:gd name="connsiteY1" fmla="*/ 79317 h 503444"/>
              <a:gd name="connsiteX2" fmla="*/ 972016 w 1818610"/>
              <a:gd name="connsiteY2" fmla="*/ 502715 h 503444"/>
              <a:gd name="connsiteX3" fmla="*/ 1818610 w 1818610"/>
              <a:gd name="connsiteY3" fmla="*/ 189087 h 50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8610" h="503444">
                <a:moveTo>
                  <a:pt x="0" y="910"/>
                </a:moveTo>
                <a:cubicBezTo>
                  <a:pt x="209035" y="-1704"/>
                  <a:pt x="418071" y="-4317"/>
                  <a:pt x="580074" y="79317"/>
                </a:cubicBezTo>
                <a:cubicBezTo>
                  <a:pt x="742077" y="162951"/>
                  <a:pt x="765593" y="484420"/>
                  <a:pt x="972016" y="502715"/>
                </a:cubicBezTo>
                <a:cubicBezTo>
                  <a:pt x="1178439" y="521010"/>
                  <a:pt x="1818610" y="189087"/>
                  <a:pt x="1818610" y="189087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259951" y="3182415"/>
            <a:ext cx="297876" cy="235221"/>
          </a:xfrm>
          <a:prstGeom prst="ellipse">
            <a:avLst/>
          </a:prstGeom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12463" y="3138800"/>
            <a:ext cx="411994" cy="325882"/>
          </a:xfrm>
          <a:prstGeom prst="ellipse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70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Pumping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Focus on computation path through DFA</a:t>
            </a:r>
          </a:p>
        </p:txBody>
      </p:sp>
      <p:sp>
        <p:nvSpPr>
          <p:cNvPr id="7" name="Oval 6"/>
          <p:cNvSpPr/>
          <p:nvPr/>
        </p:nvSpPr>
        <p:spPr>
          <a:xfrm>
            <a:off x="689818" y="2595273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7" idx="2"/>
          </p:cNvCxnSpPr>
          <p:nvPr/>
        </p:nvCxnSpPr>
        <p:spPr>
          <a:xfrm>
            <a:off x="219487" y="2712884"/>
            <a:ext cx="47033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59143" y="2982894"/>
            <a:ext cx="297876" cy="2352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003371" y="1935926"/>
            <a:ext cx="1513112" cy="1093488"/>
          </a:xfrm>
          <a:custGeom>
            <a:avLst/>
            <a:gdLst>
              <a:gd name="connsiteX0" fmla="*/ 0 w 1513112"/>
              <a:gd name="connsiteY0" fmla="*/ 792638 h 1093488"/>
              <a:gd name="connsiteX1" fmla="*/ 517363 w 1513112"/>
              <a:gd name="connsiteY1" fmla="*/ 39931 h 1093488"/>
              <a:gd name="connsiteX2" fmla="*/ 1081759 w 1513112"/>
              <a:gd name="connsiteY2" fmla="*/ 149701 h 1093488"/>
              <a:gd name="connsiteX3" fmla="*/ 1003371 w 1513112"/>
              <a:gd name="connsiteY3" fmla="*/ 541736 h 1093488"/>
              <a:gd name="connsiteX4" fmla="*/ 1238536 w 1513112"/>
              <a:gd name="connsiteY4" fmla="*/ 698550 h 1093488"/>
              <a:gd name="connsiteX5" fmla="*/ 1505056 w 1513112"/>
              <a:gd name="connsiteY5" fmla="*/ 824001 h 1093488"/>
              <a:gd name="connsiteX6" fmla="*/ 1442345 w 1513112"/>
              <a:gd name="connsiteY6" fmla="*/ 1074903 h 1093488"/>
              <a:gd name="connsiteX7" fmla="*/ 1426668 w 1513112"/>
              <a:gd name="connsiteY7" fmla="*/ 1074903 h 109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2" h="1093488">
                <a:moveTo>
                  <a:pt x="0" y="792638"/>
                </a:moveTo>
                <a:cubicBezTo>
                  <a:pt x="168535" y="469862"/>
                  <a:pt x="337070" y="147087"/>
                  <a:pt x="517363" y="39931"/>
                </a:cubicBezTo>
                <a:cubicBezTo>
                  <a:pt x="697656" y="-67225"/>
                  <a:pt x="1000758" y="66067"/>
                  <a:pt x="1081759" y="149701"/>
                </a:cubicBezTo>
                <a:cubicBezTo>
                  <a:pt x="1162760" y="233335"/>
                  <a:pt x="977242" y="450261"/>
                  <a:pt x="1003371" y="541736"/>
                </a:cubicBezTo>
                <a:cubicBezTo>
                  <a:pt x="1029501" y="633211"/>
                  <a:pt x="1154922" y="651506"/>
                  <a:pt x="1238536" y="698550"/>
                </a:cubicBezTo>
                <a:cubicBezTo>
                  <a:pt x="1322150" y="745594"/>
                  <a:pt x="1471088" y="761276"/>
                  <a:pt x="1505056" y="824001"/>
                </a:cubicBezTo>
                <a:cubicBezTo>
                  <a:pt x="1539024" y="886726"/>
                  <a:pt x="1455410" y="1033086"/>
                  <a:pt x="1442345" y="1074903"/>
                </a:cubicBezTo>
                <a:cubicBezTo>
                  <a:pt x="1429280" y="1116720"/>
                  <a:pt x="1426668" y="1074903"/>
                  <a:pt x="1426668" y="1074903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689818" y="3200616"/>
            <a:ext cx="1583836" cy="1447777"/>
          </a:xfrm>
          <a:custGeom>
            <a:avLst/>
            <a:gdLst>
              <a:gd name="connsiteX0" fmla="*/ 1427059 w 1583836"/>
              <a:gd name="connsiteY0" fmla="*/ 9358 h 1660083"/>
              <a:gd name="connsiteX1" fmla="*/ 658853 w 1583836"/>
              <a:gd name="connsiteY1" fmla="*/ 72083 h 1660083"/>
              <a:gd name="connsiteX2" fmla="*/ 47424 w 1583836"/>
              <a:gd name="connsiteY2" fmla="*/ 542525 h 1660083"/>
              <a:gd name="connsiteX3" fmla="*/ 141490 w 1583836"/>
              <a:gd name="connsiteY3" fmla="*/ 1326595 h 1660083"/>
              <a:gd name="connsiteX4" fmla="*/ 941051 w 1583836"/>
              <a:gd name="connsiteY4" fmla="*/ 1624542 h 1660083"/>
              <a:gd name="connsiteX5" fmla="*/ 1458414 w 1583836"/>
              <a:gd name="connsiteY5" fmla="*/ 558207 h 1660083"/>
              <a:gd name="connsiteX6" fmla="*/ 1583836 w 1583836"/>
              <a:gd name="connsiteY6" fmla="*/ 25039 h 166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3836" h="1660083">
                <a:moveTo>
                  <a:pt x="1427059" y="9358"/>
                </a:moveTo>
                <a:cubicBezTo>
                  <a:pt x="1157925" y="-3710"/>
                  <a:pt x="888792" y="-16778"/>
                  <a:pt x="658853" y="72083"/>
                </a:cubicBezTo>
                <a:cubicBezTo>
                  <a:pt x="428914" y="160944"/>
                  <a:pt x="133651" y="333440"/>
                  <a:pt x="47424" y="542525"/>
                </a:cubicBezTo>
                <a:cubicBezTo>
                  <a:pt x="-38803" y="751610"/>
                  <a:pt x="-7448" y="1146259"/>
                  <a:pt x="141490" y="1326595"/>
                </a:cubicBezTo>
                <a:cubicBezTo>
                  <a:pt x="290428" y="1506931"/>
                  <a:pt x="721564" y="1752607"/>
                  <a:pt x="941051" y="1624542"/>
                </a:cubicBezTo>
                <a:cubicBezTo>
                  <a:pt x="1160538" y="1496477"/>
                  <a:pt x="1351283" y="824791"/>
                  <a:pt x="1458414" y="558207"/>
                </a:cubicBezTo>
                <a:cubicBezTo>
                  <a:pt x="1565545" y="291623"/>
                  <a:pt x="1583836" y="25039"/>
                  <a:pt x="1583836" y="25039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2445716" y="3182415"/>
            <a:ext cx="1818610" cy="503444"/>
          </a:xfrm>
          <a:custGeom>
            <a:avLst/>
            <a:gdLst>
              <a:gd name="connsiteX0" fmla="*/ 0 w 1818610"/>
              <a:gd name="connsiteY0" fmla="*/ 910 h 503444"/>
              <a:gd name="connsiteX1" fmla="*/ 580074 w 1818610"/>
              <a:gd name="connsiteY1" fmla="*/ 79317 h 503444"/>
              <a:gd name="connsiteX2" fmla="*/ 972016 w 1818610"/>
              <a:gd name="connsiteY2" fmla="*/ 502715 h 503444"/>
              <a:gd name="connsiteX3" fmla="*/ 1818610 w 1818610"/>
              <a:gd name="connsiteY3" fmla="*/ 189087 h 50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8610" h="503444">
                <a:moveTo>
                  <a:pt x="0" y="910"/>
                </a:moveTo>
                <a:cubicBezTo>
                  <a:pt x="209035" y="-1704"/>
                  <a:pt x="418071" y="-4317"/>
                  <a:pt x="580074" y="79317"/>
                </a:cubicBezTo>
                <a:cubicBezTo>
                  <a:pt x="742077" y="162951"/>
                  <a:pt x="765593" y="484420"/>
                  <a:pt x="972016" y="502715"/>
                </a:cubicBezTo>
                <a:cubicBezTo>
                  <a:pt x="1178439" y="521010"/>
                  <a:pt x="1818610" y="189087"/>
                  <a:pt x="1818610" y="189087"/>
                </a:cubicBezTo>
              </a:path>
            </a:pathLst>
          </a:custGeom>
          <a:ln>
            <a:solidFill>
              <a:srgbClr val="412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259951" y="3182415"/>
            <a:ext cx="297876" cy="235221"/>
          </a:xfrm>
          <a:prstGeom prst="ellipse">
            <a:avLst/>
          </a:prstGeom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12463" y="3138800"/>
            <a:ext cx="411994" cy="325882"/>
          </a:xfrm>
          <a:prstGeom prst="ellipse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61779" y="2107451"/>
            <a:ext cx="5125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Idea: if one </a:t>
            </a:r>
            <a:r>
              <a:rPr lang="en-US" b="1">
                <a:solidFill>
                  <a:srgbClr val="4128D2"/>
                </a:solidFill>
              </a:rPr>
              <a:t>long</a:t>
            </a:r>
            <a:r>
              <a:rPr lang="en-US">
                <a:solidFill>
                  <a:srgbClr val="4128D2"/>
                </a:solidFill>
              </a:rPr>
              <a:t> string is accepted,</a:t>
            </a:r>
          </a:p>
          <a:p>
            <a:r>
              <a:rPr lang="en-US">
                <a:solidFill>
                  <a:srgbClr val="4128D2"/>
                </a:solidFill>
              </a:rPr>
              <a:t>then many other strings have to be accepted too</a:t>
            </a:r>
          </a:p>
        </p:txBody>
      </p:sp>
    </p:spTree>
    <p:extLst>
      <p:ext uri="{BB962C8B-B14F-4D97-AF65-F5344CB8AC3E}">
        <p14:creationId xmlns:p14="http://schemas.microsoft.com/office/powerpoint/2010/main" val="3088985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Pumping Lemma		</a:t>
            </a:r>
            <a:r>
              <a:rPr lang="en-US" sz="1600" i="1">
                <a:solidFill>
                  <a:schemeClr val="accent6"/>
                </a:solidFill>
              </a:rPr>
              <a:t>Sipser p. 78 Theorem 1.70</a:t>
            </a:r>
            <a:endParaRPr lang="en-US" i="1">
              <a:solidFill>
                <a:schemeClr val="accent6"/>
              </a:solidFill>
            </a:endParaRPr>
          </a:p>
        </p:txBody>
      </p:sp>
      <p:pic>
        <p:nvPicPr>
          <p:cNvPr id="10" name="Picture 9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00150"/>
            <a:ext cx="82042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31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28792" y="2963785"/>
            <a:ext cx="1066082" cy="3606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72015" y="1489733"/>
            <a:ext cx="4185938" cy="4704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Pumping Lemma		</a:t>
            </a:r>
            <a:r>
              <a:rPr lang="en-US" sz="1600" i="1">
                <a:solidFill>
                  <a:schemeClr val="accent6"/>
                </a:solidFill>
              </a:rPr>
              <a:t>Sipser p. 78 Theorem 1.70</a:t>
            </a:r>
            <a:endParaRPr lang="en-US" i="1">
              <a:solidFill>
                <a:schemeClr val="accent6"/>
              </a:solidFill>
            </a:endParaRPr>
          </a:p>
        </p:txBody>
      </p:sp>
      <p:pic>
        <p:nvPicPr>
          <p:cNvPr id="10" name="Picture 9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00150"/>
            <a:ext cx="8204200" cy="3276600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5910481" y="1200150"/>
            <a:ext cx="2750919" cy="760025"/>
          </a:xfrm>
          <a:prstGeom prst="cloudCallout">
            <a:avLst>
              <a:gd name="adj1" fmla="val -66995"/>
              <a:gd name="adj2" fmla="val -971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# states in DFA recognizing A</a:t>
            </a:r>
          </a:p>
        </p:txBody>
      </p:sp>
      <p:sp>
        <p:nvSpPr>
          <p:cNvPr id="5" name="Cloud Callout 4"/>
          <p:cNvSpPr/>
          <p:nvPr/>
        </p:nvSpPr>
        <p:spPr>
          <a:xfrm>
            <a:off x="5157953" y="2963785"/>
            <a:ext cx="3419103" cy="1129061"/>
          </a:xfrm>
          <a:prstGeom prst="cloudCallout">
            <a:avLst>
              <a:gd name="adj1" fmla="val -118959"/>
              <a:gd name="adj2" fmla="val -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Transition labels along loop</a:t>
            </a:r>
          </a:p>
        </p:txBody>
      </p:sp>
    </p:spTree>
    <p:extLst>
      <p:ext uri="{BB962C8B-B14F-4D97-AF65-F5344CB8AC3E}">
        <p14:creationId xmlns:p14="http://schemas.microsoft.com/office/powerpoint/2010/main" val="116561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To prove that a language L is </a:t>
            </a:r>
            <a:r>
              <a:rPr lang="en-US" b="1"/>
              <a:t>not</a:t>
            </a:r>
            <a:r>
              <a:rPr lang="en-US"/>
              <a:t> regular</a:t>
            </a:r>
          </a:p>
          <a:p>
            <a:endParaRPr lang="en-US"/>
          </a:p>
          <a:p>
            <a:r>
              <a:rPr lang="en-US"/>
              <a:t>Assume towards a contradiction that it is.</a:t>
            </a:r>
          </a:p>
          <a:p>
            <a:r>
              <a:rPr lang="en-US"/>
              <a:t>Use Pumping Lemma to </a:t>
            </a:r>
            <a:r>
              <a:rPr lang="en-US">
                <a:solidFill>
                  <a:schemeClr val="tx2"/>
                </a:solidFill>
              </a:rPr>
              <a:t>give</a:t>
            </a:r>
            <a:r>
              <a:rPr lang="en-US"/>
              <a:t> p, a pumping length for L</a:t>
            </a:r>
          </a:p>
          <a:p>
            <a:r>
              <a:rPr lang="en-US"/>
              <a:t>Show that p actually isn't a pumping length for L.</a:t>
            </a:r>
          </a:p>
          <a:p>
            <a:r>
              <a:rPr lang="en-US">
                <a:sym typeface="Wingdings"/>
              </a:rPr>
              <a:t></a:t>
            </a:r>
          </a:p>
          <a:p>
            <a:r>
              <a:rPr lang="en-US"/>
              <a:t>Conclude that L is not regular.</a:t>
            </a:r>
          </a:p>
        </p:txBody>
      </p:sp>
    </p:spTree>
    <p:extLst>
      <p:ext uri="{BB962C8B-B14F-4D97-AF65-F5344CB8AC3E}">
        <p14:creationId xmlns:p14="http://schemas.microsoft.com/office/powerpoint/2010/main" val="1556283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L = {0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</a:t>
            </a:r>
            <a:r>
              <a:rPr lang="en-US"/>
              <a:t> | n ≥ 0} is not regular.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257472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L = {0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</a:t>
            </a:r>
            <a:r>
              <a:rPr lang="en-US"/>
              <a:t> | n ≥ 0} is not regular.</a:t>
            </a:r>
          </a:p>
          <a:p>
            <a:pPr marL="0" indent="0">
              <a:buNone/>
            </a:pPr>
            <a:r>
              <a:rPr lang="en-US" b="1"/>
              <a:t>Proof: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Assume, </a:t>
            </a:r>
            <a:r>
              <a:rPr lang="en-US" b="1">
                <a:solidFill>
                  <a:schemeClr val="accent1"/>
                </a:solidFill>
              </a:rPr>
              <a:t>towards a contradiction</a:t>
            </a:r>
            <a:r>
              <a:rPr lang="en-US"/>
              <a:t>, that L is regular.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4" name="Cloud Callout 3"/>
          <p:cNvSpPr/>
          <p:nvPr/>
        </p:nvSpPr>
        <p:spPr>
          <a:xfrm>
            <a:off x="2524105" y="3117114"/>
            <a:ext cx="6365133" cy="1740636"/>
          </a:xfrm>
          <a:prstGeom prst="cloudCallout">
            <a:avLst>
              <a:gd name="adj1" fmla="val -65712"/>
              <a:gd name="adj2" fmla="val -6993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Pumping Lemma gives property of</a:t>
            </a:r>
            <a:r>
              <a:rPr lang="en-US" b="1"/>
              <a:t> all</a:t>
            </a:r>
            <a:r>
              <a:rPr lang="en-US"/>
              <a:t> regular sets.  Can we get a contradiction by assuming that the Pumping Lemma applies to this set?</a:t>
            </a:r>
          </a:p>
        </p:txBody>
      </p:sp>
    </p:spTree>
    <p:extLst>
      <p:ext uri="{BB962C8B-B14F-4D97-AF65-F5344CB8AC3E}">
        <p14:creationId xmlns:p14="http://schemas.microsoft.com/office/powerpoint/2010/main" val="4249251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49"/>
            <a:ext cx="8229600" cy="4068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L = </a:t>
            </a:r>
            <a:r>
              <a:rPr lang="en-US" b="1">
                <a:solidFill>
                  <a:schemeClr val="tx2"/>
                </a:solidFill>
              </a:rPr>
              <a:t>{0</a:t>
            </a:r>
            <a:r>
              <a:rPr lang="en-US" b="1" baseline="30000">
                <a:solidFill>
                  <a:schemeClr val="tx2"/>
                </a:solidFill>
              </a:rPr>
              <a:t>n</a:t>
            </a:r>
            <a:r>
              <a:rPr lang="en-US" b="1">
                <a:solidFill>
                  <a:schemeClr val="tx2"/>
                </a:solidFill>
              </a:rPr>
              <a:t>1</a:t>
            </a:r>
            <a:r>
              <a:rPr lang="en-US" b="1" baseline="30000">
                <a:solidFill>
                  <a:schemeClr val="tx2"/>
                </a:solidFill>
              </a:rPr>
              <a:t>n</a:t>
            </a:r>
            <a:r>
              <a:rPr lang="en-US" b="1">
                <a:solidFill>
                  <a:schemeClr val="tx2"/>
                </a:solidFill>
              </a:rPr>
              <a:t> | n ≥ 0} </a:t>
            </a:r>
            <a:r>
              <a:rPr lang="en-US"/>
              <a:t>is not regular.</a:t>
            </a:r>
          </a:p>
          <a:p>
            <a:pPr marL="0" indent="0">
              <a:buNone/>
            </a:pPr>
            <a:r>
              <a:rPr lang="en-US" b="1"/>
              <a:t>Proof:</a:t>
            </a:r>
            <a:r>
              <a:rPr lang="en-US"/>
              <a:t> 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/>
              <a:t>Assume towards a contradiction L is regular.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So by Pumping Lemma, </a:t>
            </a:r>
            <a:r>
              <a:rPr lang="en-US">
                <a:solidFill>
                  <a:srgbClr val="292934"/>
                </a:solidFill>
              </a:rPr>
              <a:t>L has a pumping length, call it p.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FACT: </a:t>
            </a:r>
            <a:r>
              <a:rPr lang="en-US">
                <a:solidFill>
                  <a:srgbClr val="292934"/>
                </a:solidFill>
              </a:rPr>
              <a:t>p is a pumping length for L (by definition).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CLAIM: </a:t>
            </a:r>
            <a:r>
              <a:rPr lang="en-US">
                <a:solidFill>
                  <a:srgbClr val="292934"/>
                </a:solidFill>
              </a:rPr>
              <a:t>p is not a pumping length for L.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Conclude: </a:t>
            </a:r>
            <a:r>
              <a:rPr lang="en-US">
                <a:solidFill>
                  <a:srgbClr val="FF0000"/>
                </a:solidFill>
              </a:rPr>
              <a:t>contradiction!</a:t>
            </a:r>
          </a:p>
        </p:txBody>
      </p:sp>
    </p:spTree>
    <p:extLst>
      <p:ext uri="{BB962C8B-B14F-4D97-AF65-F5344CB8AC3E}">
        <p14:creationId xmlns:p14="http://schemas.microsoft.com/office/powerpoint/2010/main" val="291739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675" y="120015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Claim:</a:t>
            </a:r>
            <a:r>
              <a:rPr lang="en-US" dirty="0"/>
              <a:t> The set L = </a:t>
            </a:r>
            <a:r>
              <a:rPr lang="en-US" b="1" dirty="0">
                <a:solidFill>
                  <a:schemeClr val="tx2"/>
                </a:solidFill>
              </a:rPr>
              <a:t>{0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 | n ≥ 0} </a:t>
            </a:r>
            <a:r>
              <a:rPr lang="en-US" dirty="0"/>
              <a:t>is not regular.</a:t>
            </a:r>
          </a:p>
          <a:p>
            <a:pPr marL="0" indent="0">
              <a:buNone/>
            </a:pPr>
            <a:r>
              <a:rPr lang="en-US" b="1" dirty="0"/>
              <a:t>Proof:</a:t>
            </a:r>
            <a:r>
              <a:rPr lang="en-US" dirty="0"/>
              <a:t> …In particular, this means that </a:t>
            </a:r>
            <a:r>
              <a:rPr lang="en-US" i="1" dirty="0"/>
              <a:t>every</a:t>
            </a:r>
            <a:r>
              <a:rPr lang="en-US" dirty="0"/>
              <a:t> string in L that is of length p or more can be "pumped". 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Goal: pick a string </a:t>
            </a:r>
            <a:r>
              <a:rPr lang="en-US" b="1" dirty="0">
                <a:solidFill>
                  <a:srgbClr val="4128D2"/>
                </a:solidFill>
              </a:rPr>
              <a:t>s in L </a:t>
            </a:r>
            <a:r>
              <a:rPr lang="en-US" b="1" dirty="0">
                <a:solidFill>
                  <a:schemeClr val="accent1"/>
                </a:solidFill>
              </a:rPr>
              <a:t>of length greater than or equal to p such </a:t>
            </a:r>
            <a:r>
              <a:rPr lang="en-US" b="1" dirty="0">
                <a:solidFill>
                  <a:srgbClr val="4128D2"/>
                </a:solidFill>
              </a:rPr>
              <a:t>that </a:t>
            </a:r>
            <a:r>
              <a:rPr lang="en-US" b="1" u="sng" dirty="0">
                <a:solidFill>
                  <a:srgbClr val="4128D2"/>
                </a:solidFill>
              </a:rPr>
              <a:t>any</a:t>
            </a:r>
            <a:r>
              <a:rPr lang="en-US" b="1" dirty="0">
                <a:solidFill>
                  <a:srgbClr val="4128D2"/>
                </a:solidFill>
              </a:rPr>
              <a:t> division of s as s =</a:t>
            </a:r>
            <a:r>
              <a:rPr lang="en-US" b="1" dirty="0" err="1">
                <a:solidFill>
                  <a:srgbClr val="4128D2"/>
                </a:solidFill>
              </a:rPr>
              <a:t>xyz</a:t>
            </a:r>
            <a:r>
              <a:rPr lang="en-US" b="1" dirty="0">
                <a:solidFill>
                  <a:srgbClr val="4128D2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|y|&gt;0 and |</a:t>
            </a:r>
            <a:r>
              <a:rPr lang="en-US" b="1" dirty="0" err="1">
                <a:solidFill>
                  <a:schemeClr val="accent1"/>
                </a:solidFill>
              </a:rPr>
              <a:t>xy</a:t>
            </a:r>
            <a:r>
              <a:rPr lang="en-US" b="1" dirty="0">
                <a:solidFill>
                  <a:schemeClr val="accent1"/>
                </a:solidFill>
              </a:rPr>
              <a:t>|≤ p gives </a:t>
            </a:r>
            <a:r>
              <a:rPr lang="en-US" b="1" dirty="0">
                <a:solidFill>
                  <a:srgbClr val="4128D2"/>
                </a:solidFill>
              </a:rPr>
              <a:t>some value i≥0 with </a:t>
            </a:r>
            <a:r>
              <a:rPr lang="en-US" b="1" dirty="0" err="1">
                <a:solidFill>
                  <a:srgbClr val="4128D2"/>
                </a:solidFill>
              </a:rPr>
              <a:t>xy</a:t>
            </a:r>
            <a:r>
              <a:rPr lang="en-US" b="1" baseline="30000" dirty="0" err="1">
                <a:solidFill>
                  <a:srgbClr val="4128D2"/>
                </a:solidFill>
              </a:rPr>
              <a:t>i</a:t>
            </a:r>
            <a:r>
              <a:rPr lang="en-US" b="1" dirty="0" err="1">
                <a:solidFill>
                  <a:srgbClr val="4128D2"/>
                </a:solidFill>
              </a:rPr>
              <a:t>z</a:t>
            </a:r>
            <a:r>
              <a:rPr lang="en-US" b="1" dirty="0">
                <a:solidFill>
                  <a:srgbClr val="4128D2"/>
                </a:solidFill>
              </a:rPr>
              <a:t> not in 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So we have a contradiction, and L is not regular.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9479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Claim:</a:t>
            </a:r>
            <a:r>
              <a:rPr lang="en-US" dirty="0"/>
              <a:t> The set L = </a:t>
            </a:r>
            <a:r>
              <a:rPr lang="en-US" b="1" dirty="0">
                <a:solidFill>
                  <a:schemeClr val="tx2"/>
                </a:solidFill>
              </a:rPr>
              <a:t>{0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 | n ≥ 0} </a:t>
            </a:r>
            <a:r>
              <a:rPr lang="en-US" dirty="0"/>
              <a:t>is not regular.</a:t>
            </a:r>
          </a:p>
          <a:p>
            <a:pPr marL="0" indent="0">
              <a:buNone/>
            </a:pPr>
            <a:r>
              <a:rPr lang="en-US" b="1" dirty="0"/>
              <a:t>Proof:</a:t>
            </a:r>
            <a:r>
              <a:rPr lang="en-US" dirty="0"/>
              <a:t> …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Goal: pick a string </a:t>
            </a:r>
            <a:r>
              <a:rPr lang="en-US" b="1" dirty="0">
                <a:solidFill>
                  <a:srgbClr val="4128D2"/>
                </a:solidFill>
              </a:rPr>
              <a:t>s in L </a:t>
            </a:r>
            <a:r>
              <a:rPr lang="en-US" b="1" dirty="0">
                <a:solidFill>
                  <a:schemeClr val="accent1"/>
                </a:solidFill>
              </a:rPr>
              <a:t>of length greater than or equal to p such </a:t>
            </a:r>
            <a:r>
              <a:rPr lang="en-US" b="1" dirty="0">
                <a:solidFill>
                  <a:srgbClr val="4128D2"/>
                </a:solidFill>
              </a:rPr>
              <a:t>that </a:t>
            </a:r>
            <a:r>
              <a:rPr lang="en-US" b="1" u="sng" dirty="0">
                <a:solidFill>
                  <a:srgbClr val="4128D2"/>
                </a:solidFill>
              </a:rPr>
              <a:t>any</a:t>
            </a:r>
            <a:r>
              <a:rPr lang="en-US" b="1" dirty="0">
                <a:solidFill>
                  <a:srgbClr val="4128D2"/>
                </a:solidFill>
              </a:rPr>
              <a:t> division of s as s =</a:t>
            </a:r>
            <a:r>
              <a:rPr lang="en-US" b="1" dirty="0" err="1">
                <a:solidFill>
                  <a:srgbClr val="4128D2"/>
                </a:solidFill>
              </a:rPr>
              <a:t>xyz</a:t>
            </a:r>
            <a:r>
              <a:rPr lang="en-US" b="1" dirty="0">
                <a:solidFill>
                  <a:srgbClr val="4128D2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|y|&gt;0 and |</a:t>
            </a:r>
            <a:r>
              <a:rPr lang="en-US" b="1" dirty="0" err="1">
                <a:solidFill>
                  <a:schemeClr val="accent1"/>
                </a:solidFill>
              </a:rPr>
              <a:t>xy</a:t>
            </a:r>
            <a:r>
              <a:rPr lang="en-US" b="1" dirty="0">
                <a:solidFill>
                  <a:schemeClr val="accent1"/>
                </a:solidFill>
              </a:rPr>
              <a:t>|≤ p gives </a:t>
            </a:r>
            <a:r>
              <a:rPr lang="en-US" b="1" dirty="0">
                <a:solidFill>
                  <a:srgbClr val="4128D2"/>
                </a:solidFill>
              </a:rPr>
              <a:t>some value i≥0 with </a:t>
            </a:r>
            <a:r>
              <a:rPr lang="en-US" b="1" dirty="0" err="1">
                <a:solidFill>
                  <a:srgbClr val="4128D2"/>
                </a:solidFill>
              </a:rPr>
              <a:t>xy</a:t>
            </a:r>
            <a:r>
              <a:rPr lang="en-US" b="1" baseline="30000" dirty="0" err="1">
                <a:solidFill>
                  <a:srgbClr val="4128D2"/>
                </a:solidFill>
              </a:rPr>
              <a:t>i</a:t>
            </a:r>
            <a:r>
              <a:rPr lang="en-US" b="1" dirty="0" err="1">
                <a:solidFill>
                  <a:srgbClr val="4128D2"/>
                </a:solidFill>
              </a:rPr>
              <a:t>z</a:t>
            </a:r>
            <a:r>
              <a:rPr lang="en-US" b="1" dirty="0">
                <a:solidFill>
                  <a:srgbClr val="4128D2"/>
                </a:solidFill>
              </a:rPr>
              <a:t> not in 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Choose s = 0</a:t>
            </a:r>
            <a:r>
              <a:rPr lang="en-US" baseline="30000" dirty="0"/>
              <a:t>p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.  Consider any s = </a:t>
            </a:r>
            <a:r>
              <a:rPr lang="en-US" dirty="0" err="1"/>
              <a:t>xyz</a:t>
            </a:r>
            <a:r>
              <a:rPr lang="en-US" dirty="0"/>
              <a:t> with |y|&gt;0, |</a:t>
            </a:r>
            <a:r>
              <a:rPr lang="en-US" dirty="0" err="1"/>
              <a:t>xy</a:t>
            </a:r>
            <a:r>
              <a:rPr lang="en-US" dirty="0"/>
              <a:t>|≤p.</a:t>
            </a:r>
          </a:p>
        </p:txBody>
      </p:sp>
    </p:spTree>
    <p:extLst>
      <p:ext uri="{BB962C8B-B14F-4D97-AF65-F5344CB8AC3E}">
        <p14:creationId xmlns:p14="http://schemas.microsoft.com/office/powerpoint/2010/main" val="3278891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Claim:</a:t>
            </a:r>
            <a:r>
              <a:rPr lang="en-US" dirty="0"/>
              <a:t> The set L = </a:t>
            </a:r>
            <a:r>
              <a:rPr lang="en-US" b="1" dirty="0">
                <a:solidFill>
                  <a:schemeClr val="tx2"/>
                </a:solidFill>
              </a:rPr>
              <a:t>{0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 | n ≥ 0} </a:t>
            </a:r>
            <a:r>
              <a:rPr lang="en-US" dirty="0"/>
              <a:t>is not regular.</a:t>
            </a:r>
          </a:p>
          <a:p>
            <a:pPr marL="0" indent="0">
              <a:buNone/>
            </a:pPr>
            <a:r>
              <a:rPr lang="en-US" b="1" dirty="0"/>
              <a:t>Proof:</a:t>
            </a:r>
            <a:r>
              <a:rPr lang="en-US" dirty="0"/>
              <a:t> …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Goal: pick a string </a:t>
            </a:r>
            <a:r>
              <a:rPr lang="en-US" b="1" dirty="0">
                <a:solidFill>
                  <a:srgbClr val="4128D2"/>
                </a:solidFill>
              </a:rPr>
              <a:t>s in L </a:t>
            </a:r>
            <a:r>
              <a:rPr lang="en-US" b="1" dirty="0">
                <a:solidFill>
                  <a:schemeClr val="accent1"/>
                </a:solidFill>
              </a:rPr>
              <a:t>of length greater than or equal to p such </a:t>
            </a:r>
            <a:r>
              <a:rPr lang="en-US" b="1" dirty="0">
                <a:solidFill>
                  <a:srgbClr val="4128D2"/>
                </a:solidFill>
              </a:rPr>
              <a:t>that </a:t>
            </a:r>
            <a:r>
              <a:rPr lang="en-US" b="1" u="sng" dirty="0">
                <a:solidFill>
                  <a:srgbClr val="4128D2"/>
                </a:solidFill>
              </a:rPr>
              <a:t>any</a:t>
            </a:r>
            <a:r>
              <a:rPr lang="en-US" b="1" dirty="0">
                <a:solidFill>
                  <a:srgbClr val="4128D2"/>
                </a:solidFill>
              </a:rPr>
              <a:t> division of s as s =xyz </a:t>
            </a:r>
            <a:r>
              <a:rPr lang="en-US" b="1" dirty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|y|&gt;0 and |</a:t>
            </a:r>
            <a:r>
              <a:rPr lang="en-US" b="1" dirty="0" err="1">
                <a:solidFill>
                  <a:schemeClr val="accent1"/>
                </a:solidFill>
              </a:rPr>
              <a:t>xy</a:t>
            </a:r>
            <a:r>
              <a:rPr lang="en-US" b="1" dirty="0">
                <a:solidFill>
                  <a:schemeClr val="accent1"/>
                </a:solidFill>
              </a:rPr>
              <a:t>|≤ p gives </a:t>
            </a:r>
            <a:r>
              <a:rPr lang="en-US" b="1" dirty="0">
                <a:solidFill>
                  <a:srgbClr val="4128D2"/>
                </a:solidFill>
              </a:rPr>
              <a:t>some value i≥0 with </a:t>
            </a:r>
            <a:r>
              <a:rPr lang="en-US" b="1" dirty="0" err="1">
                <a:solidFill>
                  <a:srgbClr val="4128D2"/>
                </a:solidFill>
              </a:rPr>
              <a:t>xy</a:t>
            </a:r>
            <a:r>
              <a:rPr lang="en-US" b="1" baseline="30000" dirty="0" err="1">
                <a:solidFill>
                  <a:srgbClr val="4128D2"/>
                </a:solidFill>
              </a:rPr>
              <a:t>i</a:t>
            </a:r>
            <a:r>
              <a:rPr lang="en-US" b="1" dirty="0" err="1">
                <a:solidFill>
                  <a:srgbClr val="4128D2"/>
                </a:solidFill>
              </a:rPr>
              <a:t>z</a:t>
            </a:r>
            <a:r>
              <a:rPr lang="en-US" b="1" dirty="0">
                <a:solidFill>
                  <a:srgbClr val="4128D2"/>
                </a:solidFill>
              </a:rPr>
              <a:t> not in 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Choose s = 0</a:t>
            </a:r>
            <a:r>
              <a:rPr lang="en-US" baseline="30000" dirty="0"/>
              <a:t>p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.  Consider any s = xyz with |y|&gt;0, |</a:t>
            </a:r>
            <a:r>
              <a:rPr lang="en-US" dirty="0" err="1"/>
              <a:t>xy</a:t>
            </a:r>
            <a:r>
              <a:rPr lang="en-US" dirty="0"/>
              <a:t>|≤p.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Since |</a:t>
            </a:r>
            <a:r>
              <a:rPr lang="en-US" dirty="0" err="1">
                <a:solidFill>
                  <a:schemeClr val="accent5"/>
                </a:solidFill>
              </a:rPr>
              <a:t>xy</a:t>
            </a:r>
            <a:r>
              <a:rPr lang="en-US" dirty="0">
                <a:solidFill>
                  <a:schemeClr val="accent5"/>
                </a:solidFill>
              </a:rPr>
              <a:t>|≤p</a:t>
            </a:r>
            <a:r>
              <a:rPr lang="en-US" dirty="0"/>
              <a:t>, x=0</a:t>
            </a:r>
            <a:r>
              <a:rPr lang="en-US" baseline="30000" dirty="0"/>
              <a:t>k</a:t>
            </a:r>
            <a:r>
              <a:rPr lang="en-US" dirty="0"/>
              <a:t> , y = 0</a:t>
            </a:r>
            <a:r>
              <a:rPr lang="en-US" baseline="30000" dirty="0"/>
              <a:t>m </a:t>
            </a:r>
            <a:r>
              <a:rPr lang="en-US" dirty="0"/>
              <a:t>, z = 0</a:t>
            </a:r>
            <a:r>
              <a:rPr lang="en-US" baseline="30000" dirty="0"/>
              <a:t>r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  </a:t>
            </a:r>
            <a:r>
              <a:rPr lang="en-US" dirty="0">
                <a:solidFill>
                  <a:srgbClr val="808DA0"/>
                </a:solidFill>
              </a:rPr>
              <a:t>with </a:t>
            </a:r>
            <a:r>
              <a:rPr lang="en-US" dirty="0" err="1">
                <a:solidFill>
                  <a:srgbClr val="808DA0"/>
                </a:solidFill>
              </a:rPr>
              <a:t>k+m+r</a:t>
            </a:r>
            <a:r>
              <a:rPr lang="en-US" dirty="0">
                <a:solidFill>
                  <a:srgbClr val="808DA0"/>
                </a:solidFill>
              </a:rPr>
              <a:t> = p, </a:t>
            </a:r>
            <a:r>
              <a:rPr lang="en-US" u="sng" dirty="0">
                <a:solidFill>
                  <a:srgbClr val="808DA0"/>
                </a:solidFill>
              </a:rPr>
              <a:t>m&gt;0</a:t>
            </a:r>
            <a:r>
              <a:rPr lang="en-US" dirty="0">
                <a:solidFill>
                  <a:srgbClr val="808DA0"/>
                </a:solidFill>
              </a:rPr>
              <a:t>.</a:t>
            </a:r>
            <a:endParaRPr lang="en-US" baseline="30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46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Claim:</a:t>
            </a:r>
            <a:r>
              <a:rPr lang="en-US" dirty="0"/>
              <a:t> The set L = </a:t>
            </a:r>
            <a:r>
              <a:rPr lang="en-US" b="1" dirty="0">
                <a:solidFill>
                  <a:schemeClr val="tx2"/>
                </a:solidFill>
              </a:rPr>
              <a:t>{0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 | n ≥ 0} </a:t>
            </a:r>
            <a:r>
              <a:rPr lang="en-US" dirty="0"/>
              <a:t>is not regular.</a:t>
            </a:r>
          </a:p>
          <a:p>
            <a:pPr marL="0" indent="0">
              <a:buNone/>
            </a:pPr>
            <a:r>
              <a:rPr lang="en-US" b="1" dirty="0"/>
              <a:t>Proof:</a:t>
            </a:r>
            <a:r>
              <a:rPr lang="en-US" dirty="0"/>
              <a:t> …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Goal: pick a string </a:t>
            </a:r>
            <a:r>
              <a:rPr lang="en-US" b="1" dirty="0">
                <a:solidFill>
                  <a:srgbClr val="4128D2"/>
                </a:solidFill>
              </a:rPr>
              <a:t>s in L </a:t>
            </a:r>
            <a:r>
              <a:rPr lang="en-US" b="1" dirty="0">
                <a:solidFill>
                  <a:schemeClr val="accent1"/>
                </a:solidFill>
              </a:rPr>
              <a:t>of length greater than or equal to p such </a:t>
            </a:r>
            <a:r>
              <a:rPr lang="en-US" b="1" dirty="0">
                <a:solidFill>
                  <a:srgbClr val="4128D2"/>
                </a:solidFill>
              </a:rPr>
              <a:t>that </a:t>
            </a:r>
            <a:r>
              <a:rPr lang="en-US" b="1" u="sng" dirty="0">
                <a:solidFill>
                  <a:srgbClr val="4128D2"/>
                </a:solidFill>
              </a:rPr>
              <a:t>any</a:t>
            </a:r>
            <a:r>
              <a:rPr lang="en-US" b="1" dirty="0">
                <a:solidFill>
                  <a:srgbClr val="4128D2"/>
                </a:solidFill>
              </a:rPr>
              <a:t> division of s as s =xyz </a:t>
            </a:r>
            <a:r>
              <a:rPr lang="en-US" b="1" dirty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|y|&gt;0 and |</a:t>
            </a:r>
            <a:r>
              <a:rPr lang="en-US" b="1" dirty="0" err="1">
                <a:solidFill>
                  <a:schemeClr val="accent1"/>
                </a:solidFill>
              </a:rPr>
              <a:t>xy</a:t>
            </a:r>
            <a:r>
              <a:rPr lang="en-US" b="1" dirty="0">
                <a:solidFill>
                  <a:schemeClr val="accent1"/>
                </a:solidFill>
              </a:rPr>
              <a:t>|≤ p gives </a:t>
            </a:r>
            <a:r>
              <a:rPr lang="en-US" b="1" dirty="0">
                <a:solidFill>
                  <a:srgbClr val="4128D2"/>
                </a:solidFill>
              </a:rPr>
              <a:t>some value i≥0 with </a:t>
            </a:r>
            <a:r>
              <a:rPr lang="en-US" b="1" dirty="0" err="1">
                <a:solidFill>
                  <a:srgbClr val="4128D2"/>
                </a:solidFill>
              </a:rPr>
              <a:t>xy</a:t>
            </a:r>
            <a:r>
              <a:rPr lang="en-US" b="1" baseline="30000" dirty="0" err="1">
                <a:solidFill>
                  <a:srgbClr val="4128D2"/>
                </a:solidFill>
              </a:rPr>
              <a:t>i</a:t>
            </a:r>
            <a:r>
              <a:rPr lang="en-US" b="1" dirty="0" err="1">
                <a:solidFill>
                  <a:srgbClr val="4128D2"/>
                </a:solidFill>
              </a:rPr>
              <a:t>z</a:t>
            </a:r>
            <a:r>
              <a:rPr lang="en-US" b="1" dirty="0">
                <a:solidFill>
                  <a:srgbClr val="4128D2"/>
                </a:solidFill>
              </a:rPr>
              <a:t> not in 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Choose s = 0</a:t>
            </a:r>
            <a:r>
              <a:rPr lang="en-US" baseline="30000" dirty="0"/>
              <a:t>p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.  Consider any s = xyz with |y|&gt;0, |</a:t>
            </a:r>
            <a:r>
              <a:rPr lang="en-US" dirty="0" err="1"/>
              <a:t>xy</a:t>
            </a:r>
            <a:r>
              <a:rPr lang="en-US" dirty="0"/>
              <a:t>|≤p.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Since |</a:t>
            </a:r>
            <a:r>
              <a:rPr lang="en-US" dirty="0" err="1">
                <a:solidFill>
                  <a:schemeClr val="accent5"/>
                </a:solidFill>
              </a:rPr>
              <a:t>xy</a:t>
            </a:r>
            <a:r>
              <a:rPr lang="en-US" dirty="0">
                <a:solidFill>
                  <a:schemeClr val="accent5"/>
                </a:solidFill>
              </a:rPr>
              <a:t>|≤p</a:t>
            </a:r>
            <a:r>
              <a:rPr lang="en-US" dirty="0"/>
              <a:t>, x=0</a:t>
            </a:r>
            <a:r>
              <a:rPr lang="en-US" baseline="30000" dirty="0"/>
              <a:t>k</a:t>
            </a:r>
            <a:r>
              <a:rPr lang="en-US" dirty="0"/>
              <a:t> , y = 0</a:t>
            </a:r>
            <a:r>
              <a:rPr lang="en-US" baseline="30000" dirty="0"/>
              <a:t>m </a:t>
            </a:r>
            <a:r>
              <a:rPr lang="en-US" dirty="0"/>
              <a:t>, z = 0</a:t>
            </a:r>
            <a:r>
              <a:rPr lang="en-US" baseline="30000" dirty="0"/>
              <a:t>r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  </a:t>
            </a:r>
            <a:r>
              <a:rPr lang="en-US" dirty="0">
                <a:solidFill>
                  <a:srgbClr val="808DA0"/>
                </a:solidFill>
              </a:rPr>
              <a:t>with </a:t>
            </a:r>
            <a:r>
              <a:rPr lang="en-US" dirty="0" err="1">
                <a:solidFill>
                  <a:srgbClr val="808DA0"/>
                </a:solidFill>
              </a:rPr>
              <a:t>k+m+r</a:t>
            </a:r>
            <a:r>
              <a:rPr lang="en-US" dirty="0">
                <a:solidFill>
                  <a:srgbClr val="808DA0"/>
                </a:solidFill>
              </a:rPr>
              <a:t> = p, m&gt;0.</a:t>
            </a:r>
            <a:endParaRPr lang="en-US" baseline="30000" dirty="0"/>
          </a:p>
          <a:p>
            <a:pPr marL="0" indent="0">
              <a:buNone/>
            </a:pPr>
            <a:r>
              <a:rPr lang="en-US" dirty="0"/>
              <a:t>Picking </a:t>
            </a:r>
            <a:r>
              <a:rPr lang="en-US" dirty="0" err="1"/>
              <a:t>i</a:t>
            </a:r>
            <a:r>
              <a:rPr lang="en-US" dirty="0"/>
              <a:t>=0: </a:t>
            </a:r>
            <a:r>
              <a:rPr lang="en-US" dirty="0" err="1">
                <a:solidFill>
                  <a:schemeClr val="tx2"/>
                </a:solidFill>
              </a:rPr>
              <a:t>xy</a:t>
            </a:r>
            <a:r>
              <a:rPr lang="en-US" baseline="30000" dirty="0" err="1">
                <a:solidFill>
                  <a:schemeClr val="tx2"/>
                </a:solidFill>
              </a:rPr>
              <a:t>i</a:t>
            </a:r>
            <a:r>
              <a:rPr lang="en-US" dirty="0" err="1">
                <a:solidFill>
                  <a:schemeClr val="tx2"/>
                </a:solidFill>
              </a:rPr>
              <a:t>z</a:t>
            </a:r>
            <a:r>
              <a:rPr lang="en-US" dirty="0">
                <a:solidFill>
                  <a:schemeClr val="tx2"/>
                </a:solidFill>
              </a:rPr>
              <a:t> = </a:t>
            </a:r>
            <a:r>
              <a:rPr lang="en-US" dirty="0" err="1">
                <a:solidFill>
                  <a:schemeClr val="tx2"/>
                </a:solidFill>
              </a:rPr>
              <a:t>xz</a:t>
            </a:r>
            <a:r>
              <a:rPr lang="en-US" dirty="0">
                <a:solidFill>
                  <a:schemeClr val="tx2"/>
                </a:solidFill>
              </a:rPr>
              <a:t> = 0</a:t>
            </a:r>
            <a:r>
              <a:rPr lang="en-US" baseline="30000" dirty="0">
                <a:solidFill>
                  <a:schemeClr val="tx2"/>
                </a:solidFill>
              </a:rPr>
              <a:t>k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US" baseline="30000" dirty="0">
                <a:solidFill>
                  <a:schemeClr val="tx2"/>
                </a:solidFill>
              </a:rPr>
              <a:t>r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baseline="30000" dirty="0">
                <a:solidFill>
                  <a:schemeClr val="tx2"/>
                </a:solidFill>
              </a:rPr>
              <a:t>p</a:t>
            </a:r>
            <a:r>
              <a:rPr lang="en-US" dirty="0">
                <a:solidFill>
                  <a:schemeClr val="tx2"/>
                </a:solidFill>
              </a:rPr>
              <a:t> = 0</a:t>
            </a:r>
            <a:r>
              <a:rPr lang="en-US" baseline="30000" dirty="0">
                <a:solidFill>
                  <a:schemeClr val="tx2"/>
                </a:solidFill>
              </a:rPr>
              <a:t>k+r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baseline="30000" dirty="0">
                <a:solidFill>
                  <a:schemeClr val="tx2"/>
                </a:solidFill>
              </a:rPr>
              <a:t>p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, not in L!</a:t>
            </a:r>
          </a:p>
        </p:txBody>
      </p:sp>
    </p:spTree>
    <p:extLst>
      <p:ext uri="{BB962C8B-B14F-4D97-AF65-F5344CB8AC3E}">
        <p14:creationId xmlns:p14="http://schemas.microsoft.com/office/powerpoint/2010/main" val="2099146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49"/>
            <a:ext cx="8229600" cy="40688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Claim:</a:t>
            </a:r>
            <a:r>
              <a:rPr lang="en-US" dirty="0"/>
              <a:t> The set L = </a:t>
            </a:r>
            <a:r>
              <a:rPr lang="en-US" b="1" dirty="0">
                <a:solidFill>
                  <a:schemeClr val="tx2"/>
                </a:solidFill>
              </a:rPr>
              <a:t>{0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baseline="30000" dirty="0">
                <a:solidFill>
                  <a:schemeClr val="tx2"/>
                </a:solidFill>
              </a:rPr>
              <a:t>n</a:t>
            </a:r>
            <a:r>
              <a:rPr lang="en-US" b="1" dirty="0">
                <a:solidFill>
                  <a:schemeClr val="tx2"/>
                </a:solidFill>
              </a:rPr>
              <a:t> | n ≥ 0} </a:t>
            </a:r>
            <a:r>
              <a:rPr lang="en-US" dirty="0"/>
              <a:t>is not regular.</a:t>
            </a:r>
          </a:p>
          <a:p>
            <a:pPr marL="0" indent="0">
              <a:buNone/>
            </a:pPr>
            <a:r>
              <a:rPr lang="en-US" b="1" dirty="0"/>
              <a:t>Proof:</a:t>
            </a:r>
            <a:r>
              <a:rPr lang="en-US" dirty="0"/>
              <a:t> …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Goal: pick a string </a:t>
            </a:r>
            <a:r>
              <a:rPr lang="en-US" b="1" dirty="0">
                <a:solidFill>
                  <a:srgbClr val="4128D2"/>
                </a:solidFill>
              </a:rPr>
              <a:t>s in L </a:t>
            </a:r>
            <a:r>
              <a:rPr lang="en-US" b="1" dirty="0">
                <a:solidFill>
                  <a:schemeClr val="accent1"/>
                </a:solidFill>
              </a:rPr>
              <a:t>of length greater than or equal to p such </a:t>
            </a:r>
            <a:r>
              <a:rPr lang="en-US" b="1" dirty="0">
                <a:solidFill>
                  <a:srgbClr val="4128D2"/>
                </a:solidFill>
              </a:rPr>
              <a:t>that </a:t>
            </a:r>
            <a:r>
              <a:rPr lang="en-US" b="1" u="sng" dirty="0">
                <a:solidFill>
                  <a:srgbClr val="4128D2"/>
                </a:solidFill>
              </a:rPr>
              <a:t>any</a:t>
            </a:r>
            <a:r>
              <a:rPr lang="en-US" b="1" dirty="0">
                <a:solidFill>
                  <a:srgbClr val="4128D2"/>
                </a:solidFill>
              </a:rPr>
              <a:t> division of s as s =xyz </a:t>
            </a:r>
            <a:r>
              <a:rPr lang="en-US" b="1" dirty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|y|&gt;0 and |</a:t>
            </a:r>
            <a:r>
              <a:rPr lang="en-US" b="1" dirty="0" err="1">
                <a:solidFill>
                  <a:schemeClr val="accent1"/>
                </a:solidFill>
              </a:rPr>
              <a:t>xy</a:t>
            </a:r>
            <a:r>
              <a:rPr lang="en-US" b="1" dirty="0">
                <a:solidFill>
                  <a:schemeClr val="accent1"/>
                </a:solidFill>
              </a:rPr>
              <a:t>|≤ p gives </a:t>
            </a:r>
            <a:r>
              <a:rPr lang="en-US" b="1" dirty="0">
                <a:solidFill>
                  <a:srgbClr val="4128D2"/>
                </a:solidFill>
              </a:rPr>
              <a:t>some value i≥0 with </a:t>
            </a:r>
            <a:r>
              <a:rPr lang="en-US" b="1" dirty="0" err="1">
                <a:solidFill>
                  <a:srgbClr val="4128D2"/>
                </a:solidFill>
              </a:rPr>
              <a:t>xy</a:t>
            </a:r>
            <a:r>
              <a:rPr lang="en-US" b="1" baseline="30000" dirty="0" err="1">
                <a:solidFill>
                  <a:srgbClr val="4128D2"/>
                </a:solidFill>
              </a:rPr>
              <a:t>i</a:t>
            </a:r>
            <a:r>
              <a:rPr lang="en-US" b="1" dirty="0" err="1">
                <a:solidFill>
                  <a:srgbClr val="4128D2"/>
                </a:solidFill>
              </a:rPr>
              <a:t>z</a:t>
            </a:r>
            <a:r>
              <a:rPr lang="en-US" b="1" dirty="0">
                <a:solidFill>
                  <a:srgbClr val="4128D2"/>
                </a:solidFill>
              </a:rPr>
              <a:t> not in 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Choose s = 0</a:t>
            </a:r>
            <a:r>
              <a:rPr lang="en-US" baseline="30000" dirty="0"/>
              <a:t>p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.  Consider any s = xyz with |y|&gt;0, |</a:t>
            </a:r>
            <a:r>
              <a:rPr lang="en-US" dirty="0" err="1"/>
              <a:t>xy</a:t>
            </a:r>
            <a:r>
              <a:rPr lang="en-US" dirty="0"/>
              <a:t>|≤p.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Since |</a:t>
            </a:r>
            <a:r>
              <a:rPr lang="en-US" dirty="0" err="1">
                <a:solidFill>
                  <a:schemeClr val="accent5"/>
                </a:solidFill>
              </a:rPr>
              <a:t>xy</a:t>
            </a:r>
            <a:r>
              <a:rPr lang="en-US" dirty="0">
                <a:solidFill>
                  <a:schemeClr val="accent5"/>
                </a:solidFill>
              </a:rPr>
              <a:t>|≤p</a:t>
            </a:r>
            <a:r>
              <a:rPr lang="en-US" dirty="0"/>
              <a:t>, x=0</a:t>
            </a:r>
            <a:r>
              <a:rPr lang="en-US" baseline="30000" dirty="0"/>
              <a:t>k</a:t>
            </a:r>
            <a:r>
              <a:rPr lang="en-US" dirty="0"/>
              <a:t> , y = 0</a:t>
            </a:r>
            <a:r>
              <a:rPr lang="en-US" baseline="30000" dirty="0"/>
              <a:t>m </a:t>
            </a:r>
            <a:r>
              <a:rPr lang="en-US" dirty="0"/>
              <a:t>, z = 0</a:t>
            </a:r>
            <a:r>
              <a:rPr lang="en-US" baseline="30000" dirty="0"/>
              <a:t>r</a:t>
            </a:r>
            <a:r>
              <a:rPr lang="en-US" dirty="0"/>
              <a:t>1</a:t>
            </a:r>
            <a:r>
              <a:rPr lang="en-US" baseline="30000" dirty="0"/>
              <a:t>p</a:t>
            </a:r>
            <a:r>
              <a:rPr lang="en-US" dirty="0"/>
              <a:t>  </a:t>
            </a:r>
            <a:r>
              <a:rPr lang="en-US" dirty="0">
                <a:solidFill>
                  <a:srgbClr val="808DA0"/>
                </a:solidFill>
              </a:rPr>
              <a:t>with </a:t>
            </a:r>
            <a:r>
              <a:rPr lang="en-US" dirty="0" err="1">
                <a:solidFill>
                  <a:srgbClr val="808DA0"/>
                </a:solidFill>
              </a:rPr>
              <a:t>m+n+r</a:t>
            </a:r>
            <a:r>
              <a:rPr lang="en-US" dirty="0">
                <a:solidFill>
                  <a:srgbClr val="808DA0"/>
                </a:solidFill>
              </a:rPr>
              <a:t> =p, m&gt;0.</a:t>
            </a:r>
            <a:endParaRPr lang="en-US" baseline="30000" dirty="0"/>
          </a:p>
          <a:p>
            <a:pPr marL="0" indent="0">
              <a:buNone/>
            </a:pPr>
            <a:r>
              <a:rPr lang="en-US" dirty="0"/>
              <a:t>Picking </a:t>
            </a:r>
            <a:r>
              <a:rPr lang="en-US" dirty="0" err="1"/>
              <a:t>i</a:t>
            </a:r>
            <a:r>
              <a:rPr lang="en-US" dirty="0"/>
              <a:t>=0: </a:t>
            </a:r>
            <a:r>
              <a:rPr lang="en-US" dirty="0" err="1">
                <a:solidFill>
                  <a:schemeClr val="tx2"/>
                </a:solidFill>
              </a:rPr>
              <a:t>xy</a:t>
            </a:r>
            <a:r>
              <a:rPr lang="en-US" baseline="30000" dirty="0" err="1">
                <a:solidFill>
                  <a:schemeClr val="tx2"/>
                </a:solidFill>
              </a:rPr>
              <a:t>i</a:t>
            </a:r>
            <a:r>
              <a:rPr lang="en-US" dirty="0" err="1">
                <a:solidFill>
                  <a:schemeClr val="tx2"/>
                </a:solidFill>
              </a:rPr>
              <a:t>z</a:t>
            </a:r>
            <a:r>
              <a:rPr lang="en-US" dirty="0">
                <a:solidFill>
                  <a:schemeClr val="tx2"/>
                </a:solidFill>
              </a:rPr>
              <a:t> = </a:t>
            </a:r>
            <a:r>
              <a:rPr lang="en-US" dirty="0" err="1">
                <a:solidFill>
                  <a:schemeClr val="tx2"/>
                </a:solidFill>
              </a:rPr>
              <a:t>xz</a:t>
            </a:r>
            <a:r>
              <a:rPr lang="en-US" dirty="0">
                <a:solidFill>
                  <a:schemeClr val="tx2"/>
                </a:solidFill>
              </a:rPr>
              <a:t> = 0</a:t>
            </a:r>
            <a:r>
              <a:rPr lang="en-US" baseline="30000" dirty="0">
                <a:solidFill>
                  <a:schemeClr val="tx2"/>
                </a:solidFill>
              </a:rPr>
              <a:t>k</a:t>
            </a:r>
            <a:r>
              <a:rPr lang="en-US" dirty="0">
                <a:solidFill>
                  <a:schemeClr val="tx2"/>
                </a:solidFill>
              </a:rPr>
              <a:t>0</a:t>
            </a:r>
            <a:r>
              <a:rPr lang="en-US" baseline="30000" dirty="0">
                <a:solidFill>
                  <a:schemeClr val="tx2"/>
                </a:solidFill>
              </a:rPr>
              <a:t>r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baseline="30000" dirty="0">
                <a:solidFill>
                  <a:schemeClr val="tx2"/>
                </a:solidFill>
              </a:rPr>
              <a:t>p</a:t>
            </a:r>
            <a:r>
              <a:rPr lang="en-US" dirty="0">
                <a:solidFill>
                  <a:schemeClr val="tx2"/>
                </a:solidFill>
              </a:rPr>
              <a:t> = 0</a:t>
            </a:r>
            <a:r>
              <a:rPr lang="en-US" baseline="30000" dirty="0">
                <a:solidFill>
                  <a:schemeClr val="tx2"/>
                </a:solidFill>
              </a:rPr>
              <a:t>k+r</a:t>
            </a:r>
            <a:r>
              <a:rPr lang="en-US" dirty="0">
                <a:solidFill>
                  <a:schemeClr val="tx2"/>
                </a:solidFill>
              </a:rPr>
              <a:t>1</a:t>
            </a:r>
            <a:r>
              <a:rPr lang="en-US" baseline="30000" dirty="0">
                <a:solidFill>
                  <a:schemeClr val="tx2"/>
                </a:solidFill>
              </a:rPr>
              <a:t>p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, not in L! This is a contradiction with the Pumping Lemma applied to L, so L must not be regular.</a:t>
            </a:r>
          </a:p>
        </p:txBody>
      </p:sp>
    </p:spTree>
    <p:extLst>
      <p:ext uri="{BB962C8B-B14F-4D97-AF65-F5344CB8AC3E}">
        <p14:creationId xmlns:p14="http://schemas.microsoft.com/office/powerpoint/2010/main" val="2426497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ow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3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47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247C-C0D8-A30A-2A95-16695D93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8195-F9C5-3A62-50EF-4FE581D8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pumping lemma game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577C-44FE-3BA7-7155-DBA24672D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logic in applying the pumping lemma might seem confusing</a:t>
            </a:r>
          </a:p>
          <a:p>
            <a:endParaRPr lang="en-US" dirty="0"/>
          </a:p>
          <a:p>
            <a:r>
              <a:rPr lang="en-US" dirty="0"/>
              <a:t>Can think of it as a game between </a:t>
            </a:r>
            <a:r>
              <a:rPr lang="en-US" dirty="0">
                <a:solidFill>
                  <a:srgbClr val="0070C0"/>
                </a:solidFill>
              </a:rPr>
              <a:t>you (the prover)</a:t>
            </a:r>
            <a:r>
              <a:rPr lang="en-US" dirty="0"/>
              <a:t> and an </a:t>
            </a:r>
            <a:r>
              <a:rPr lang="en-US" dirty="0">
                <a:solidFill>
                  <a:srgbClr val="FF0000"/>
                </a:solidFill>
              </a:rPr>
              <a:t>adversary (claiming that the language is regular)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Your goal is to prove that the adversary is wrong, and the language </a:t>
            </a:r>
            <a:r>
              <a:rPr lang="en-US" dirty="0">
                <a:solidFill>
                  <a:srgbClr val="FF0000"/>
                </a:solidFill>
              </a:rPr>
              <a:t>is not regular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8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ACFD-3652-E465-0C59-F34FEFAB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Pumping lemma as a game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7825C-19EA-7D88-2D08-F4CBDE067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players: you (prover) and adversary </a:t>
            </a:r>
            <a:endParaRPr lang="en-IL" dirty="0"/>
          </a:p>
        </p:txBody>
      </p:sp>
      <p:pic>
        <p:nvPicPr>
          <p:cNvPr id="5" name="Graphic 4" descr="School boy with solid fill">
            <a:extLst>
              <a:ext uri="{FF2B5EF4-FFF2-40B4-BE49-F238E27FC236}">
                <a16:creationId xmlns:a16="http://schemas.microsoft.com/office/drawing/2014/main" id="{50E2C481-987D-836D-768E-20EE50F67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34006"/>
            <a:ext cx="1371600" cy="1371600"/>
          </a:xfrm>
          <a:prstGeom prst="rect">
            <a:avLst/>
          </a:prstGeom>
        </p:spPr>
      </p:pic>
      <p:pic>
        <p:nvPicPr>
          <p:cNvPr id="7" name="Graphic 6" descr="Devil face outline with solid fill">
            <a:extLst>
              <a:ext uri="{FF2B5EF4-FFF2-40B4-BE49-F238E27FC236}">
                <a16:creationId xmlns:a16="http://schemas.microsoft.com/office/drawing/2014/main" id="{3BFED25A-7E34-7F6F-98AD-EE1780155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5314" y="2562606"/>
            <a:ext cx="914400" cy="914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7B37DED-BB46-6AB7-BA4F-69D0E8FC009D}"/>
              </a:ext>
            </a:extLst>
          </p:cNvPr>
          <p:cNvGrpSpPr/>
          <p:nvPr/>
        </p:nvGrpSpPr>
        <p:grpSpPr>
          <a:xfrm>
            <a:off x="3084576" y="1861554"/>
            <a:ext cx="1993436" cy="482358"/>
            <a:chOff x="3084576" y="1861554"/>
            <a:chExt cx="1993436" cy="482358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E34AF58-B76D-6E66-B818-56D4F3BC133C}"/>
                </a:ext>
              </a:extLst>
            </p:cNvPr>
            <p:cNvSpPr/>
            <p:nvPr/>
          </p:nvSpPr>
          <p:spPr>
            <a:xfrm flipH="1">
              <a:off x="3084576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4F56EEA-BB19-F309-2F06-A3D043BC60DB}"/>
                    </a:ext>
                  </a:extLst>
                </p:cNvPr>
                <p:cNvSpPr txBox="1"/>
                <p:nvPr/>
              </p:nvSpPr>
              <p:spPr>
                <a:xfrm>
                  <a:off x="3151587" y="1861554"/>
                  <a:ext cx="19264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dirty="0"/>
                    <a:t> (pumping length)</a:t>
                  </a:r>
                  <a:endParaRPr lang="en-IL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4F56EEA-BB19-F309-2F06-A3D043BC6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1587" y="1861554"/>
                  <a:ext cx="192642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430" t="-28261" r="-6646" b="-5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821E70-AE85-6874-4974-95186C437A41}"/>
              </a:ext>
            </a:extLst>
          </p:cNvPr>
          <p:cNvGrpSpPr/>
          <p:nvPr/>
        </p:nvGrpSpPr>
        <p:grpSpPr>
          <a:xfrm>
            <a:off x="3084576" y="2589276"/>
            <a:ext cx="1935035" cy="482358"/>
            <a:chOff x="3087642" y="1861554"/>
            <a:chExt cx="1935035" cy="482358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B4B2C7AB-7C02-0654-3740-D11642A4B27E}"/>
                </a:ext>
              </a:extLst>
            </p:cNvPr>
            <p:cNvSpPr/>
            <p:nvPr/>
          </p:nvSpPr>
          <p:spPr>
            <a:xfrm>
              <a:off x="3087642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389B245-5E79-DFEE-4D74-0B7F65606599}"/>
                    </a:ext>
                  </a:extLst>
                </p:cNvPr>
                <p:cNvSpPr txBox="1"/>
                <p:nvPr/>
              </p:nvSpPr>
              <p:spPr>
                <a:xfrm>
                  <a:off x="3151587" y="1861554"/>
                  <a:ext cx="18710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dirty="0"/>
                    <a:t> with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389B245-5E79-DFEE-4D74-0B7F65606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1587" y="1861554"/>
                  <a:ext cx="187109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57" t="-28889" r="-3583" b="-51111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5FFB7D-3B4B-FF31-18C3-83EAD39DE806}"/>
              </a:ext>
            </a:extLst>
          </p:cNvPr>
          <p:cNvGrpSpPr/>
          <p:nvPr/>
        </p:nvGrpSpPr>
        <p:grpSpPr>
          <a:xfrm>
            <a:off x="2662895" y="3310890"/>
            <a:ext cx="3017877" cy="457593"/>
            <a:chOff x="2706579" y="1886319"/>
            <a:chExt cx="3017877" cy="457593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8ADA01CC-ABD6-6685-425F-E35AF77E162E}"/>
                </a:ext>
              </a:extLst>
            </p:cNvPr>
            <p:cNvSpPr/>
            <p:nvPr/>
          </p:nvSpPr>
          <p:spPr>
            <a:xfrm flipH="1">
              <a:off x="3084576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AE26BB-CDE6-DC6C-6B24-B483E1BAE2E7}"/>
                    </a:ext>
                  </a:extLst>
                </p:cNvPr>
                <p:cNvSpPr txBox="1"/>
                <p:nvPr/>
              </p:nvSpPr>
              <p:spPr>
                <a:xfrm>
                  <a:off x="2706579" y="1886319"/>
                  <a:ext cx="30178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𝑥𝑦𝑧</m:t>
                      </m:r>
                    </m:oMath>
                  </a14:m>
                  <a:r>
                    <a:rPr lang="en-US" dirty="0"/>
                    <a:t> with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AE26BB-CDE6-DC6C-6B24-B483E1BAE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579" y="1886319"/>
                  <a:ext cx="301787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020" t="-28261" r="-1616" b="-5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23D9BA-0C63-B479-4450-71607B242219}"/>
              </a:ext>
            </a:extLst>
          </p:cNvPr>
          <p:cNvGrpSpPr/>
          <p:nvPr/>
        </p:nvGrpSpPr>
        <p:grpSpPr>
          <a:xfrm>
            <a:off x="2894144" y="3990144"/>
            <a:ext cx="2441309" cy="500334"/>
            <a:chOff x="2897210" y="1843578"/>
            <a:chExt cx="2441309" cy="500334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1F235B0C-12C6-8121-BD48-4306EF4A5CF3}"/>
                </a:ext>
              </a:extLst>
            </p:cNvPr>
            <p:cNvSpPr/>
            <p:nvPr/>
          </p:nvSpPr>
          <p:spPr>
            <a:xfrm>
              <a:off x="3087642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D8CFBEB-C57E-2E85-ABB9-21FB0F950933}"/>
                    </a:ext>
                  </a:extLst>
                </p:cNvPr>
                <p:cNvSpPr txBox="1"/>
                <p:nvPr/>
              </p:nvSpPr>
              <p:spPr>
                <a:xfrm>
                  <a:off x="2897210" y="1843578"/>
                  <a:ext cx="2441309" cy="285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a14:m>
                  <a:r>
                    <a:rPr lang="en-US" dirty="0"/>
                    <a:t> such that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D8CFBEB-C57E-2E85-ABB9-21FB0F950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7210" y="1843578"/>
                  <a:ext cx="2441309" cy="285912"/>
                </a:xfrm>
                <a:prstGeom prst="rect">
                  <a:avLst/>
                </a:prstGeom>
                <a:blipFill>
                  <a:blip r:embed="rId9"/>
                  <a:stretch>
                    <a:fillRect l="-3500" t="-23913" r="-2250" b="-5217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166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C222-4DF4-6FE7-3E99-817F16D3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5385-2B6C-6F73-24F5-1C883FF4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Pumping lemma as a game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5A5F6-5223-6FB7-F5B0-27F03EF55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players: you (prover) and adversary </a:t>
            </a:r>
            <a:endParaRPr lang="en-IL" dirty="0"/>
          </a:p>
        </p:txBody>
      </p:sp>
      <p:pic>
        <p:nvPicPr>
          <p:cNvPr id="5" name="Graphic 4" descr="School boy with solid fill">
            <a:extLst>
              <a:ext uri="{FF2B5EF4-FFF2-40B4-BE49-F238E27FC236}">
                <a16:creationId xmlns:a16="http://schemas.microsoft.com/office/drawing/2014/main" id="{0D04CF9C-C4A5-6A0F-0D00-6FCA64196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34006"/>
            <a:ext cx="1371600" cy="1371600"/>
          </a:xfrm>
          <a:prstGeom prst="rect">
            <a:avLst/>
          </a:prstGeom>
        </p:spPr>
      </p:pic>
      <p:pic>
        <p:nvPicPr>
          <p:cNvPr id="7" name="Graphic 6" descr="Devil face outline with solid fill">
            <a:extLst>
              <a:ext uri="{FF2B5EF4-FFF2-40B4-BE49-F238E27FC236}">
                <a16:creationId xmlns:a16="http://schemas.microsoft.com/office/drawing/2014/main" id="{8D9F5004-3365-EA7D-C34E-6852BB7A9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5314" y="2562606"/>
            <a:ext cx="914400" cy="914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DA03457-FA74-CBD4-E9C5-2DDA12E07E8E}"/>
              </a:ext>
            </a:extLst>
          </p:cNvPr>
          <p:cNvGrpSpPr/>
          <p:nvPr/>
        </p:nvGrpSpPr>
        <p:grpSpPr>
          <a:xfrm>
            <a:off x="3084576" y="1861554"/>
            <a:ext cx="1993436" cy="482358"/>
            <a:chOff x="3084576" y="1861554"/>
            <a:chExt cx="1993436" cy="482358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43DCF28-20E9-4054-D314-2F496AEB7B3F}"/>
                </a:ext>
              </a:extLst>
            </p:cNvPr>
            <p:cNvSpPr/>
            <p:nvPr/>
          </p:nvSpPr>
          <p:spPr>
            <a:xfrm flipH="1">
              <a:off x="3084576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D8DA55-36EA-75F8-D659-FC14BD19B973}"/>
                    </a:ext>
                  </a:extLst>
                </p:cNvPr>
                <p:cNvSpPr txBox="1"/>
                <p:nvPr/>
              </p:nvSpPr>
              <p:spPr>
                <a:xfrm>
                  <a:off x="3151587" y="1861554"/>
                  <a:ext cx="19264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dirty="0"/>
                    <a:t> (pumping length)</a:t>
                  </a:r>
                  <a:endParaRPr lang="en-IL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D8DA55-36EA-75F8-D659-FC14BD19B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1587" y="1861554"/>
                  <a:ext cx="192642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430" t="-28261" r="-6646" b="-5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66B1C2-DCC9-E447-F652-3B16AD9C4B11}"/>
              </a:ext>
            </a:extLst>
          </p:cNvPr>
          <p:cNvGrpSpPr/>
          <p:nvPr/>
        </p:nvGrpSpPr>
        <p:grpSpPr>
          <a:xfrm>
            <a:off x="3084576" y="2589276"/>
            <a:ext cx="1935035" cy="482358"/>
            <a:chOff x="3087642" y="1861554"/>
            <a:chExt cx="1935035" cy="482358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492D0F50-BD0B-A929-9D98-2A2E9B13C4F4}"/>
                </a:ext>
              </a:extLst>
            </p:cNvPr>
            <p:cNvSpPr/>
            <p:nvPr/>
          </p:nvSpPr>
          <p:spPr>
            <a:xfrm>
              <a:off x="3087642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C5AB9BD-8FCF-C1AC-7258-9E3CCB946990}"/>
                    </a:ext>
                  </a:extLst>
                </p:cNvPr>
                <p:cNvSpPr txBox="1"/>
                <p:nvPr/>
              </p:nvSpPr>
              <p:spPr>
                <a:xfrm>
                  <a:off x="3151587" y="1861554"/>
                  <a:ext cx="18710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dirty="0"/>
                    <a:t> with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C5AB9BD-8FCF-C1AC-7258-9E3CCB946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1587" y="1861554"/>
                  <a:ext cx="187109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257" t="-28889" r="-3583" b="-51111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67AF6C-C402-69BA-7E66-D7A2027D3D33}"/>
              </a:ext>
            </a:extLst>
          </p:cNvPr>
          <p:cNvGrpSpPr/>
          <p:nvPr/>
        </p:nvGrpSpPr>
        <p:grpSpPr>
          <a:xfrm>
            <a:off x="2662895" y="3310890"/>
            <a:ext cx="3017877" cy="457593"/>
            <a:chOff x="2706579" y="1886319"/>
            <a:chExt cx="3017877" cy="457593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1DC1D2AF-7F44-3373-94B6-D09EBB7A7131}"/>
                </a:ext>
              </a:extLst>
            </p:cNvPr>
            <p:cNvSpPr/>
            <p:nvPr/>
          </p:nvSpPr>
          <p:spPr>
            <a:xfrm flipH="1">
              <a:off x="3084576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EDB8E8-0A52-473B-77C6-FA39CEA682AB}"/>
                    </a:ext>
                  </a:extLst>
                </p:cNvPr>
                <p:cNvSpPr txBox="1"/>
                <p:nvPr/>
              </p:nvSpPr>
              <p:spPr>
                <a:xfrm>
                  <a:off x="2706579" y="1886319"/>
                  <a:ext cx="30178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𝑥𝑦𝑧</m:t>
                      </m:r>
                    </m:oMath>
                  </a14:m>
                  <a:r>
                    <a:rPr lang="en-US" dirty="0"/>
                    <a:t> with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EDB8E8-0A52-473B-77C6-FA39CEA68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579" y="1886319"/>
                  <a:ext cx="301787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020" t="-28261" r="-1616" b="-5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A7D425-69FB-B5DE-7C48-560A941E55B8}"/>
              </a:ext>
            </a:extLst>
          </p:cNvPr>
          <p:cNvGrpSpPr/>
          <p:nvPr/>
        </p:nvGrpSpPr>
        <p:grpSpPr>
          <a:xfrm>
            <a:off x="2894144" y="3990144"/>
            <a:ext cx="2441309" cy="500334"/>
            <a:chOff x="2897210" y="1843578"/>
            <a:chExt cx="2441309" cy="500334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43DAA28-3DD8-DBED-E500-A44546772EEB}"/>
                </a:ext>
              </a:extLst>
            </p:cNvPr>
            <p:cNvSpPr/>
            <p:nvPr/>
          </p:nvSpPr>
          <p:spPr>
            <a:xfrm>
              <a:off x="3087642" y="2167128"/>
              <a:ext cx="1871472" cy="176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FCF6E33-EDE2-5C11-3B24-EFF24B81F89F}"/>
                    </a:ext>
                  </a:extLst>
                </p:cNvPr>
                <p:cNvSpPr txBox="1"/>
                <p:nvPr/>
              </p:nvSpPr>
              <p:spPr>
                <a:xfrm>
                  <a:off x="2897210" y="1843578"/>
                  <a:ext cx="2441309" cy="285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a14:m>
                  <a:r>
                    <a:rPr lang="en-US" dirty="0"/>
                    <a:t> such that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FCF6E33-EDE2-5C11-3B24-EFF24B81F8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7210" y="1843578"/>
                  <a:ext cx="2441309" cy="285912"/>
                </a:xfrm>
                <a:prstGeom prst="rect">
                  <a:avLst/>
                </a:prstGeom>
                <a:blipFill>
                  <a:blip r:embed="rId9"/>
                  <a:stretch>
                    <a:fillRect l="-3500" t="-23913" r="-2250" b="-5217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1CA2E878-12E4-7D10-472C-A12D0826EA03}"/>
              </a:ext>
            </a:extLst>
          </p:cNvPr>
          <p:cNvSpPr/>
          <p:nvPr/>
        </p:nvSpPr>
        <p:spPr>
          <a:xfrm>
            <a:off x="2791922" y="3868264"/>
            <a:ext cx="719330" cy="498453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B0AB9-1F8C-8DB7-44F5-0B11EA882A0F}"/>
              </a:ext>
            </a:extLst>
          </p:cNvPr>
          <p:cNvSpPr txBox="1"/>
          <p:nvPr/>
        </p:nvSpPr>
        <p:spPr>
          <a:xfrm>
            <a:off x="869885" y="2138553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Your choices</a:t>
            </a:r>
            <a:endParaRPr lang="en-IL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5B814-0DAE-57BD-A8A2-1CD128A17539}"/>
              </a:ext>
            </a:extLst>
          </p:cNvPr>
          <p:cNvSpPr txBox="1"/>
          <p:nvPr/>
        </p:nvSpPr>
        <p:spPr>
          <a:xfrm>
            <a:off x="5430971" y="213855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your choices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C5EDDC-5946-262D-4661-8DA27604DE05}"/>
              </a:ext>
            </a:extLst>
          </p:cNvPr>
          <p:cNvSpPr/>
          <p:nvPr/>
        </p:nvSpPr>
        <p:spPr>
          <a:xfrm>
            <a:off x="2816327" y="1778685"/>
            <a:ext cx="719330" cy="498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23D857-30AD-B435-5691-06DC5648A445}"/>
              </a:ext>
            </a:extLst>
          </p:cNvPr>
          <p:cNvSpPr/>
          <p:nvPr/>
        </p:nvSpPr>
        <p:spPr>
          <a:xfrm>
            <a:off x="2558955" y="3224427"/>
            <a:ext cx="1045635" cy="498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C7BF2E-25D4-C419-F133-0C20DF151459}"/>
              </a:ext>
            </a:extLst>
          </p:cNvPr>
          <p:cNvSpPr/>
          <p:nvPr/>
        </p:nvSpPr>
        <p:spPr>
          <a:xfrm>
            <a:off x="3081772" y="2492830"/>
            <a:ext cx="719330" cy="498453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9618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432038" cy="394335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{a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m</a:t>
            </a:r>
            <a:r>
              <a:rPr lang="en-US"/>
              <a:t>a</a:t>
            </a:r>
            <a:r>
              <a:rPr lang="en-US" baseline="30000"/>
              <a:t>n</a:t>
            </a:r>
            <a:r>
              <a:rPr lang="en-US"/>
              <a:t> | m,n≥ 0} is not regular.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Proof</a:t>
            </a:r>
            <a:r>
              <a:rPr lang="en-US"/>
              <a:t>: …</a:t>
            </a:r>
            <a:r>
              <a:rPr lang="en-US" b="1">
                <a:solidFill>
                  <a:schemeClr val="tx2"/>
                </a:solidFill>
              </a:rPr>
              <a:t>Consider the string s = ……</a:t>
            </a:r>
            <a:r>
              <a:rPr lang="en-US">
                <a:solidFill>
                  <a:schemeClr val="tx2"/>
                </a:solidFill>
              </a:rPr>
              <a:t>  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You must pick s carefully: we want |s|≥p and s in L. </a:t>
            </a:r>
            <a:r>
              <a:rPr lang="en-US" sz="1800">
                <a:solidFill>
                  <a:schemeClr val="accent5"/>
                </a:solidFill>
              </a:rPr>
              <a:t>Now we will prove a contradiction with the statement "s can be pumped"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Which choices of s cannot be used to complete the proof?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A</a:t>
            </a:r>
            <a:r>
              <a:rPr lang="en-US">
                <a:solidFill>
                  <a:srgbClr val="F2AF0D"/>
                </a:solidFill>
              </a:rPr>
              <a:t>.</a:t>
            </a:r>
            <a:r>
              <a:rPr lang="en-US"/>
              <a:t> s = a</a:t>
            </a:r>
            <a:r>
              <a:rPr lang="en-US" baseline="30000"/>
              <a:t>p</a:t>
            </a:r>
            <a:r>
              <a:rPr lang="en-US"/>
              <a:t>b</a:t>
            </a:r>
            <a:r>
              <a:rPr lang="en-US" baseline="30000"/>
              <a:t>p</a:t>
            </a:r>
            <a:r>
              <a:rPr lang="en-US"/>
              <a:t>	</a:t>
            </a:r>
            <a:r>
              <a:rPr lang="en-US">
                <a:solidFill>
                  <a:srgbClr val="F2AF0D"/>
                </a:solidFill>
              </a:rPr>
              <a:t>B.</a:t>
            </a:r>
            <a:r>
              <a:rPr lang="en-US"/>
              <a:t> s = ab</a:t>
            </a:r>
            <a:r>
              <a:rPr lang="en-US" baseline="30000"/>
              <a:t>p</a:t>
            </a:r>
            <a:r>
              <a:rPr lang="en-US"/>
              <a:t>a	</a:t>
            </a:r>
            <a:r>
              <a:rPr lang="en-US">
                <a:solidFill>
                  <a:schemeClr val="accent1"/>
                </a:solidFill>
              </a:rPr>
              <a:t>C.</a:t>
            </a:r>
            <a:r>
              <a:rPr lang="en-US"/>
              <a:t> s = a</a:t>
            </a:r>
            <a:r>
              <a:rPr lang="en-US" baseline="30000"/>
              <a:t>p</a:t>
            </a:r>
            <a:r>
              <a:rPr lang="en-US"/>
              <a:t>b</a:t>
            </a:r>
            <a:r>
              <a:rPr lang="en-US" baseline="30000"/>
              <a:t>p</a:t>
            </a:r>
            <a:r>
              <a:rPr lang="en-US"/>
              <a:t>a</a:t>
            </a:r>
            <a:r>
              <a:rPr lang="en-US" baseline="30000"/>
              <a:t>p</a:t>
            </a:r>
            <a:r>
              <a:rPr lang="en-US"/>
              <a:t>	  </a:t>
            </a:r>
            <a:r>
              <a:rPr lang="en-US">
                <a:solidFill>
                  <a:schemeClr val="accent1"/>
                </a:solidFill>
              </a:rPr>
              <a:t>D. </a:t>
            </a:r>
            <a:r>
              <a:rPr lang="en-US"/>
              <a:t>s = a</a:t>
            </a:r>
            <a:r>
              <a:rPr lang="en-US" baseline="30000"/>
              <a:t>p</a:t>
            </a:r>
            <a:r>
              <a:rPr lang="en-US"/>
              <a:t>ba</a:t>
            </a:r>
            <a:r>
              <a:rPr lang="en-US" baseline="30000"/>
              <a:t>p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E.</a:t>
            </a:r>
            <a:r>
              <a:rPr lang="en-US">
                <a:solidFill>
                  <a:srgbClr val="292934"/>
                </a:solidFill>
              </a:rPr>
              <a:t> None of the above (all of these choices work).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804626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432038" cy="39433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{a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m</a:t>
            </a:r>
            <a:r>
              <a:rPr lang="en-US"/>
              <a:t>a</a:t>
            </a:r>
            <a:r>
              <a:rPr lang="en-US" baseline="30000"/>
              <a:t>n</a:t>
            </a:r>
            <a:r>
              <a:rPr lang="en-US"/>
              <a:t> | m,n≥ 0} is not regular.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Proof</a:t>
            </a:r>
            <a:r>
              <a:rPr lang="en-US"/>
              <a:t>: …</a:t>
            </a:r>
            <a:r>
              <a:rPr lang="en-US" b="1">
                <a:solidFill>
                  <a:schemeClr val="tx2"/>
                </a:solidFill>
              </a:rPr>
              <a:t>Consider the string s = ……</a:t>
            </a:r>
            <a:r>
              <a:rPr lang="en-US">
                <a:solidFill>
                  <a:schemeClr val="tx2"/>
                </a:solidFill>
              </a:rPr>
              <a:t>  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You must pick s carefully: we want |s|≥p and s in L. </a:t>
            </a:r>
            <a:r>
              <a:rPr lang="en-US" sz="1800">
                <a:solidFill>
                  <a:schemeClr val="accent5"/>
                </a:solidFill>
              </a:rPr>
              <a:t>Now we will prove a contradiction with the statement "s can be pumped"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Consider an arbitrary choice of x,y,z such that s = xyz, |y|&gt;0, |xy|≤p.  </a:t>
            </a:r>
            <a:r>
              <a:rPr lang="en-US" b="1">
                <a:solidFill>
                  <a:schemeClr val="tx2"/>
                </a:solidFill>
              </a:rPr>
              <a:t>This means that...</a:t>
            </a:r>
            <a:r>
              <a:rPr lang="en-US" sz="1800">
                <a:solidFill>
                  <a:schemeClr val="accent5"/>
                </a:solidFill>
              </a:rPr>
              <a:t>What properties are guaranteed about x,y,z?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Consider i=… </a:t>
            </a:r>
            <a:r>
              <a:rPr lang="en-US"/>
              <a:t>In this case, xy</a:t>
            </a:r>
            <a:r>
              <a:rPr lang="en-US" baseline="30000"/>
              <a:t>i</a:t>
            </a:r>
            <a:r>
              <a:rPr lang="en-US"/>
              <a:t>z = …, which is not in L, a contradiction with the Pumping Lemma applying to L and so L is not regular.</a:t>
            </a:r>
            <a:endParaRPr lang="en-US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48044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another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{w w</a:t>
            </a:r>
            <a:r>
              <a:rPr lang="en-US" i="1" baseline="30000"/>
              <a:t>R</a:t>
            </a:r>
            <a:r>
              <a:rPr lang="en-US"/>
              <a:t> | w is a string over {0,1} } is not regular.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Proof</a:t>
            </a:r>
            <a:r>
              <a:rPr lang="en-US"/>
              <a:t>: …</a:t>
            </a:r>
            <a:r>
              <a:rPr lang="en-US" b="1">
                <a:solidFill>
                  <a:schemeClr val="tx2"/>
                </a:solidFill>
              </a:rPr>
              <a:t>Consider the string s = ……</a:t>
            </a:r>
            <a:r>
              <a:rPr lang="en-US">
                <a:solidFill>
                  <a:schemeClr val="tx2"/>
                </a:solidFill>
              </a:rPr>
              <a:t>  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You must pick s carefully: we want |s|≥p and s in L. </a:t>
            </a:r>
            <a:r>
              <a:rPr lang="en-US" sz="1800">
                <a:solidFill>
                  <a:schemeClr val="accent5"/>
                </a:solidFill>
              </a:rPr>
              <a:t>Now we will prove a contradiction with the statement "s can be pumped" </a:t>
            </a:r>
            <a:r>
              <a:rPr lang="en-US" b="1">
                <a:solidFill>
                  <a:schemeClr val="tx2"/>
                </a:solidFill>
              </a:rPr>
              <a:t>Consider i=… </a:t>
            </a:r>
            <a:endParaRPr lang="en-US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200"/>
              <a:t>Which s and i let us complete the proof?</a:t>
            </a:r>
          </a:p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A</a:t>
            </a:r>
            <a:r>
              <a:rPr lang="en-US" sz="2200">
                <a:solidFill>
                  <a:srgbClr val="F2AF0D"/>
                </a:solidFill>
              </a:rPr>
              <a:t>.</a:t>
            </a:r>
            <a:r>
              <a:rPr lang="en-US" sz="2200"/>
              <a:t> s = 0</a:t>
            </a:r>
            <a:r>
              <a:rPr lang="en-US" sz="2200" baseline="30000"/>
              <a:t>p</a:t>
            </a:r>
            <a:r>
              <a:rPr lang="en-US" sz="2200"/>
              <a:t>0</a:t>
            </a:r>
            <a:r>
              <a:rPr lang="en-US" sz="2200" baseline="30000"/>
              <a:t>p</a:t>
            </a:r>
            <a:r>
              <a:rPr lang="en-US" sz="2200"/>
              <a:t>, i=2  </a:t>
            </a:r>
            <a:r>
              <a:rPr lang="en-US" sz="2200">
                <a:solidFill>
                  <a:srgbClr val="F2AF0D"/>
                </a:solidFill>
              </a:rPr>
              <a:t>B.</a:t>
            </a:r>
            <a:r>
              <a:rPr lang="en-US" sz="2200"/>
              <a:t> s = 0110, i=0  </a:t>
            </a:r>
            <a:r>
              <a:rPr lang="en-US" sz="2200">
                <a:solidFill>
                  <a:schemeClr val="accent1"/>
                </a:solidFill>
              </a:rPr>
              <a:t>C.</a:t>
            </a:r>
            <a:r>
              <a:rPr lang="en-US" sz="2200"/>
              <a:t> s = 0</a:t>
            </a:r>
            <a:r>
              <a:rPr lang="en-US" sz="2200" baseline="30000"/>
              <a:t>p</a:t>
            </a:r>
            <a:r>
              <a:rPr lang="en-US" sz="2200"/>
              <a:t>110</a:t>
            </a:r>
            <a:r>
              <a:rPr lang="en-US" sz="2200" baseline="30000"/>
              <a:t>p</a:t>
            </a:r>
            <a:r>
              <a:rPr lang="en-US" sz="2200"/>
              <a:t>, i=1  </a:t>
            </a:r>
            <a:r>
              <a:rPr lang="en-US" sz="2200">
                <a:solidFill>
                  <a:schemeClr val="accent1"/>
                </a:solidFill>
              </a:rPr>
              <a:t>D. </a:t>
            </a:r>
            <a:r>
              <a:rPr lang="en-US" sz="2200"/>
              <a:t>s = 1</a:t>
            </a:r>
            <a:r>
              <a:rPr lang="en-US" sz="2200" baseline="30000"/>
              <a:t>p</a:t>
            </a:r>
            <a:r>
              <a:rPr lang="en-US" sz="2200"/>
              <a:t>001</a:t>
            </a:r>
            <a:r>
              <a:rPr lang="en-US" sz="2200" baseline="30000"/>
              <a:t>p</a:t>
            </a:r>
            <a:r>
              <a:rPr lang="en-US" sz="2200"/>
              <a:t>, i=3</a:t>
            </a:r>
            <a:endParaRPr lang="en-US" sz="2200" baseline="30000"/>
          </a:p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E.</a:t>
            </a:r>
            <a:r>
              <a:rPr lang="en-US" sz="2200">
                <a:solidFill>
                  <a:srgbClr val="292934"/>
                </a:solidFill>
              </a:rPr>
              <a:t> I don't know</a:t>
            </a:r>
            <a:endParaRPr lang="en-US" sz="220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22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choose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/>
              <a:t>Claim:</a:t>
            </a:r>
            <a:r>
              <a:rPr lang="en-US"/>
              <a:t> The set {0</a:t>
            </a:r>
            <a:r>
              <a:rPr lang="en-US" baseline="30000"/>
              <a:t>j</a:t>
            </a:r>
            <a:r>
              <a:rPr lang="en-US"/>
              <a:t>1</a:t>
            </a:r>
            <a:r>
              <a:rPr lang="en-US" baseline="30000"/>
              <a:t>k</a:t>
            </a:r>
            <a:r>
              <a:rPr lang="en-US"/>
              <a:t> | j,k ≥ 0 and j ≥ k } is not regular.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Proof</a:t>
            </a:r>
            <a:r>
              <a:rPr lang="en-US"/>
              <a:t>: …</a:t>
            </a:r>
            <a:r>
              <a:rPr lang="en-US" b="1">
                <a:solidFill>
                  <a:schemeClr val="tx2"/>
                </a:solidFill>
              </a:rPr>
              <a:t>Consider the string s = ……</a:t>
            </a:r>
            <a:r>
              <a:rPr lang="en-US">
                <a:solidFill>
                  <a:schemeClr val="tx2"/>
                </a:solidFill>
              </a:rPr>
              <a:t>  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You must pick s carefully: we want |s|≥p and s in L. </a:t>
            </a:r>
            <a:r>
              <a:rPr lang="en-US" sz="1800">
                <a:solidFill>
                  <a:schemeClr val="accent5"/>
                </a:solidFill>
              </a:rPr>
              <a:t>Now we will prove a contradiction with the statement "s can be pumped" </a:t>
            </a:r>
            <a:r>
              <a:rPr lang="en-US" b="1">
                <a:solidFill>
                  <a:schemeClr val="tx2"/>
                </a:solidFill>
              </a:rPr>
              <a:t>Consider i=… </a:t>
            </a:r>
            <a:endParaRPr lang="en-US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200"/>
              <a:t>Which s and i let us complete the proof?</a:t>
            </a:r>
          </a:p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A</a:t>
            </a:r>
            <a:r>
              <a:rPr lang="en-US" sz="2200">
                <a:solidFill>
                  <a:srgbClr val="F2AF0D"/>
                </a:solidFill>
              </a:rPr>
              <a:t>.</a:t>
            </a:r>
            <a:r>
              <a:rPr lang="en-US" sz="2200"/>
              <a:t> s = 0</a:t>
            </a:r>
            <a:r>
              <a:rPr lang="en-US" sz="2200" baseline="30000"/>
              <a:t>p</a:t>
            </a:r>
            <a:r>
              <a:rPr lang="en-US" sz="2200"/>
              <a:t>1</a:t>
            </a:r>
            <a:r>
              <a:rPr lang="en-US" sz="2200" baseline="30000"/>
              <a:t>p</a:t>
            </a:r>
            <a:r>
              <a:rPr lang="en-US" sz="2200"/>
              <a:t>, i=2  </a:t>
            </a:r>
            <a:r>
              <a:rPr lang="en-US" sz="2200">
                <a:solidFill>
                  <a:srgbClr val="F2AF0D"/>
                </a:solidFill>
              </a:rPr>
              <a:t>B.</a:t>
            </a:r>
            <a:r>
              <a:rPr lang="en-US" sz="2200"/>
              <a:t> s = 0</a:t>
            </a:r>
            <a:r>
              <a:rPr lang="en-US" sz="2200" baseline="30000"/>
              <a:t>p</a:t>
            </a:r>
            <a:r>
              <a:rPr lang="en-US" sz="2200"/>
              <a:t>1</a:t>
            </a:r>
            <a:r>
              <a:rPr lang="en-US" sz="2200" baseline="30000"/>
              <a:t>p</a:t>
            </a:r>
            <a:r>
              <a:rPr lang="en-US" sz="2200"/>
              <a:t>, i=p </a:t>
            </a:r>
            <a:r>
              <a:rPr lang="en-US" sz="2200">
                <a:solidFill>
                  <a:schemeClr val="accent1"/>
                </a:solidFill>
              </a:rPr>
              <a:t>C.</a:t>
            </a:r>
            <a:r>
              <a:rPr lang="en-US" sz="2200"/>
              <a:t> s = 0</a:t>
            </a:r>
            <a:r>
              <a:rPr lang="en-US" sz="2200" baseline="30000"/>
              <a:t>p</a:t>
            </a:r>
            <a:r>
              <a:rPr lang="en-US" sz="2200"/>
              <a:t>1</a:t>
            </a:r>
            <a:r>
              <a:rPr lang="en-US" sz="2200" baseline="30000"/>
              <a:t>p</a:t>
            </a:r>
            <a:r>
              <a:rPr lang="en-US" sz="2200"/>
              <a:t>, i=1 </a:t>
            </a:r>
            <a:r>
              <a:rPr lang="en-US" sz="2200">
                <a:solidFill>
                  <a:schemeClr val="accent1"/>
                </a:solidFill>
              </a:rPr>
              <a:t>D. </a:t>
            </a:r>
            <a:r>
              <a:rPr lang="en-US" sz="2200"/>
              <a:t>s = 0</a:t>
            </a:r>
            <a:r>
              <a:rPr lang="en-US" sz="2200" baseline="30000"/>
              <a:t>p</a:t>
            </a:r>
            <a:r>
              <a:rPr lang="en-US" sz="2200"/>
              <a:t>1</a:t>
            </a:r>
            <a:r>
              <a:rPr lang="en-US" sz="2200" baseline="30000"/>
              <a:t>p</a:t>
            </a:r>
            <a:r>
              <a:rPr lang="en-US" sz="2200"/>
              <a:t>, i=0</a:t>
            </a:r>
            <a:endParaRPr lang="en-US" sz="2200" baseline="30000"/>
          </a:p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E.</a:t>
            </a:r>
            <a:r>
              <a:rPr lang="en-US" sz="2200">
                <a:solidFill>
                  <a:srgbClr val="292934"/>
                </a:solidFill>
              </a:rPr>
              <a:t> I don't know</a:t>
            </a:r>
            <a:endParaRPr lang="en-US" sz="220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52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sets: not the end of the story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Many </a:t>
            </a:r>
            <a:r>
              <a:rPr lang="en-US" b="1">
                <a:solidFill>
                  <a:schemeClr val="tx2"/>
                </a:solidFill>
              </a:rPr>
              <a:t>nice / simple / important </a:t>
            </a:r>
            <a:r>
              <a:rPr lang="en-US"/>
              <a:t>sets are not regular</a:t>
            </a:r>
          </a:p>
          <a:p>
            <a:r>
              <a:rPr lang="en-US"/>
              <a:t>Limitation of the finite-state automaton model</a:t>
            </a:r>
          </a:p>
          <a:p>
            <a:pPr lvl="1"/>
            <a:r>
              <a:rPr lang="en-US"/>
              <a:t>Can't "count"</a:t>
            </a:r>
          </a:p>
          <a:p>
            <a:pPr lvl="1"/>
            <a:r>
              <a:rPr lang="en-US"/>
              <a:t>Can only remember finitely far into the past</a:t>
            </a:r>
          </a:p>
          <a:p>
            <a:pPr lvl="1"/>
            <a:r>
              <a:rPr lang="en-US"/>
              <a:t>Can't backtrack</a:t>
            </a:r>
          </a:p>
          <a:p>
            <a:pPr lvl="1"/>
            <a:r>
              <a:rPr lang="en-US"/>
              <a:t>Must make decisions in "real-time"</a:t>
            </a:r>
          </a:p>
          <a:p>
            <a:r>
              <a:rPr lang="en-US"/>
              <a:t>We know computers are more powerful than this model…</a:t>
            </a:r>
          </a:p>
          <a:p>
            <a:endParaRPr lang="en-US"/>
          </a:p>
          <a:p>
            <a:pPr marL="0" indent="0">
              <a:buNone/>
            </a:pPr>
            <a:r>
              <a:rPr lang="en-US" i="1">
                <a:solidFill>
                  <a:schemeClr val="accent1"/>
                </a:solidFill>
              </a:rPr>
              <a:t>Which conditions should we relax?</a:t>
            </a:r>
          </a:p>
        </p:txBody>
      </p:sp>
    </p:spTree>
    <p:extLst>
      <p:ext uri="{BB962C8B-B14F-4D97-AF65-F5344CB8AC3E}">
        <p14:creationId xmlns:p14="http://schemas.microsoft.com/office/powerpoint/2010/main" val="1208014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next model of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F2AF0D"/>
                </a:solidFill>
              </a:rPr>
              <a:t>Idea: </a:t>
            </a:r>
            <a:r>
              <a:rPr lang="en-US"/>
              <a:t>allow </a:t>
            </a:r>
            <a:r>
              <a:rPr lang="en-US" i="1"/>
              <a:t>some </a:t>
            </a:r>
            <a:r>
              <a:rPr lang="en-US"/>
              <a:t>memory of unbounded size</a:t>
            </a:r>
          </a:p>
          <a:p>
            <a:r>
              <a:rPr lang="en-US">
                <a:solidFill>
                  <a:srgbClr val="F2AF0D"/>
                </a:solidFill>
              </a:rPr>
              <a:t>How? </a:t>
            </a:r>
          </a:p>
          <a:p>
            <a:pPr lvl="1"/>
            <a:r>
              <a:rPr lang="en-US"/>
              <a:t>Generalization of regular expressions </a:t>
            </a:r>
            <a:r>
              <a:rPr lang="en-US">
                <a:sym typeface="Wingdings"/>
              </a:rPr>
              <a:t> </a:t>
            </a:r>
            <a:r>
              <a:rPr lang="en-US" b="1">
                <a:solidFill>
                  <a:schemeClr val="tx2"/>
                </a:solidFill>
                <a:sym typeface="Wingdings"/>
              </a:rPr>
              <a:t>Context-free grammars</a:t>
            </a:r>
          </a:p>
          <a:p>
            <a:pPr lvl="1"/>
            <a:r>
              <a:rPr lang="en-US">
                <a:sym typeface="Wingdings"/>
              </a:rPr>
              <a:t>Generalization for DFA  </a:t>
            </a:r>
            <a:r>
              <a:rPr lang="en-US" b="1">
                <a:solidFill>
                  <a:srgbClr val="4128D2"/>
                </a:solidFill>
                <a:sym typeface="Wingdings"/>
              </a:rPr>
              <a:t>Pushdown Automata</a:t>
            </a:r>
            <a:endParaRPr lang="en-US" b="1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831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7322</TotalTime>
  <Words>2069</Words>
  <Application>Microsoft Office PowerPoint</Application>
  <PresentationFormat>On-screen Show (16:9)</PresentationFormat>
  <Paragraphs>217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Cambria Math</vt:lpstr>
      <vt:lpstr>Clarity</vt:lpstr>
      <vt:lpstr>CSE331 AUTAMATA AND COMPUTABILITY</vt:lpstr>
      <vt:lpstr>Today's learning goals Sipser Ch 1.4</vt:lpstr>
      <vt:lpstr>All roads lead to … regular sets?</vt:lpstr>
      <vt:lpstr>Birds' eye view</vt:lpstr>
      <vt:lpstr>Counting</vt:lpstr>
      <vt:lpstr>Proving nonregularity</vt:lpstr>
      <vt:lpstr>Where we stand</vt:lpstr>
      <vt:lpstr>Bounds on DFA</vt:lpstr>
      <vt:lpstr>Example!</vt:lpstr>
      <vt:lpstr>Example!</vt:lpstr>
      <vt:lpstr>Pumping</vt:lpstr>
      <vt:lpstr>Pumping</vt:lpstr>
      <vt:lpstr>Pumping</vt:lpstr>
      <vt:lpstr>Pumping Lemma  Sipser p. 78 Theorem 1.70</vt:lpstr>
      <vt:lpstr>Pumping Lemma  Sipser p. 78 Theorem 1.70</vt:lpstr>
      <vt:lpstr>Proof strategy</vt:lpstr>
      <vt:lpstr>Using the Pumping Lemma</vt:lpstr>
      <vt:lpstr>Using the Pumping Lemma</vt:lpstr>
      <vt:lpstr>Using the Pumping Lemma</vt:lpstr>
      <vt:lpstr>Using the Pumping Lemma</vt:lpstr>
      <vt:lpstr>Using the Pumping Lemma</vt:lpstr>
      <vt:lpstr>Using the Pumping Lemma</vt:lpstr>
      <vt:lpstr>Using the Pumping Lemma</vt:lpstr>
      <vt:lpstr>Using the Pumping Lemma</vt:lpstr>
      <vt:lpstr>PowerPoint Presentation</vt:lpstr>
      <vt:lpstr>The pumping lemma game</vt:lpstr>
      <vt:lpstr>Pumping lemma as a game</vt:lpstr>
      <vt:lpstr>Pumping lemma as a game</vt:lpstr>
      <vt:lpstr>Another example</vt:lpstr>
      <vt:lpstr>Another example</vt:lpstr>
      <vt:lpstr>And another</vt:lpstr>
      <vt:lpstr>How do we choose i?</vt:lpstr>
      <vt:lpstr>Regular sets: not the end of the story</vt:lpstr>
      <vt:lpstr>The next model of computation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607</cp:revision>
  <dcterms:created xsi:type="dcterms:W3CDTF">2014-10-03T04:30:04Z</dcterms:created>
  <dcterms:modified xsi:type="dcterms:W3CDTF">2026-04-17T04:25:29Z</dcterms:modified>
  <cp:category/>
</cp:coreProperties>
</file>