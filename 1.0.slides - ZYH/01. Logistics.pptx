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257" r:id="rId3"/>
    <p:sldId id="276" r:id="rId4"/>
    <p:sldId id="258" r:id="rId5"/>
    <p:sldId id="370" r:id="rId6"/>
    <p:sldId id="327" r:id="rId7"/>
    <p:sldId id="328" r:id="rId8"/>
    <p:sldId id="371" r:id="rId9"/>
    <p:sldId id="372" r:id="rId10"/>
    <p:sldId id="373" r:id="rId11"/>
    <p:sldId id="352" r:id="rId12"/>
    <p:sldId id="282" r:id="rId13"/>
    <p:sldId id="353" r:id="rId14"/>
    <p:sldId id="351" r:id="rId15"/>
    <p:sldId id="356" r:id="rId16"/>
    <p:sldId id="375" r:id="rId17"/>
    <p:sldId id="358" r:id="rId18"/>
    <p:sldId id="359" r:id="rId19"/>
    <p:sldId id="360" r:id="rId20"/>
    <p:sldId id="361" r:id="rId21"/>
    <p:sldId id="362" r:id="rId22"/>
    <p:sldId id="357" r:id="rId23"/>
    <p:sldId id="318" r:id="rId24"/>
    <p:sldId id="354" r:id="rId25"/>
    <p:sldId id="320" r:id="rId26"/>
    <p:sldId id="321" r:id="rId27"/>
    <p:sldId id="349" r:id="rId28"/>
    <p:sldId id="323" r:id="rId29"/>
    <p:sldId id="325" r:id="rId30"/>
    <p:sldId id="326" r:id="rId31"/>
    <p:sldId id="329" r:id="rId32"/>
    <p:sldId id="330" r:id="rId33"/>
    <p:sldId id="363" r:id="rId34"/>
    <p:sldId id="367" r:id="rId35"/>
    <p:sldId id="376" r:id="rId36"/>
    <p:sldId id="374" r:id="rId37"/>
    <p:sldId id="377" r:id="rId38"/>
    <p:sldId id="378" r:id="rId39"/>
    <p:sldId id="379" r:id="rId40"/>
    <p:sldId id="340" r:id="rId41"/>
    <p:sldId id="324" r:id="rId42"/>
    <p:sldId id="350" r:id="rId43"/>
    <p:sldId id="331" r:id="rId44"/>
    <p:sldId id="332" r:id="rId45"/>
    <p:sldId id="368" r:id="rId46"/>
    <p:sldId id="304" r:id="rId4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DDD380-B6B6-45AC-A741-7FAC66C59169}">
          <p14:sldIdLst>
            <p14:sldId id="256"/>
            <p14:sldId id="257"/>
            <p14:sldId id="276"/>
            <p14:sldId id="258"/>
            <p14:sldId id="370"/>
            <p14:sldId id="327"/>
            <p14:sldId id="328"/>
            <p14:sldId id="371"/>
            <p14:sldId id="372"/>
            <p14:sldId id="373"/>
            <p14:sldId id="352"/>
            <p14:sldId id="282"/>
            <p14:sldId id="353"/>
            <p14:sldId id="351"/>
            <p14:sldId id="356"/>
            <p14:sldId id="375"/>
            <p14:sldId id="358"/>
            <p14:sldId id="359"/>
            <p14:sldId id="360"/>
            <p14:sldId id="361"/>
            <p14:sldId id="362"/>
            <p14:sldId id="357"/>
            <p14:sldId id="318"/>
            <p14:sldId id="354"/>
            <p14:sldId id="320"/>
            <p14:sldId id="321"/>
            <p14:sldId id="349"/>
            <p14:sldId id="323"/>
            <p14:sldId id="325"/>
            <p14:sldId id="326"/>
            <p14:sldId id="329"/>
            <p14:sldId id="330"/>
            <p14:sldId id="363"/>
            <p14:sldId id="367"/>
            <p14:sldId id="376"/>
            <p14:sldId id="374"/>
            <p14:sldId id="377"/>
            <p14:sldId id="378"/>
            <p14:sldId id="379"/>
            <p14:sldId id="340"/>
            <p14:sldId id="324"/>
            <p14:sldId id="350"/>
            <p14:sldId id="331"/>
            <p14:sldId id="332"/>
            <p14:sldId id="368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yed Humayun" initials="ZH" lastIdx="1" clrIdx="0">
    <p:extLst>
      <p:ext uri="{19B8F6BF-5375-455C-9EA6-DF929625EA0E}">
        <p15:presenceInfo xmlns:p15="http://schemas.microsoft.com/office/powerpoint/2012/main" userId="e379089eca3166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D93DAD3B-46DB-416C-AF6B-104E43BB6908}"/>
    <pc:docChg chg="modSld">
      <pc:chgData name="Shachar Lovett" userId="0c6d1e87c56e93c6" providerId="LiveId" clId="{D93DAD3B-46DB-416C-AF6B-104E43BB6908}" dt="2025-03-07T21:12:57.254" v="73" actId="20577"/>
      <pc:docMkLst>
        <pc:docMk/>
      </pc:docMkLst>
      <pc:sldChg chg="modSp mod">
        <pc:chgData name="Shachar Lovett" userId="0c6d1e87c56e93c6" providerId="LiveId" clId="{D93DAD3B-46DB-416C-AF6B-104E43BB6908}" dt="2025-03-07T20:52:57.020" v="28" actId="20577"/>
        <pc:sldMkLst>
          <pc:docMk/>
          <pc:sldMk cId="1699318151" sldId="258"/>
        </pc:sldMkLst>
        <pc:spChg chg="mod">
          <ac:chgData name="Shachar Lovett" userId="0c6d1e87c56e93c6" providerId="LiveId" clId="{D93DAD3B-46DB-416C-AF6B-104E43BB6908}" dt="2025-03-07T20:52:57.020" v="28" actId="20577"/>
          <ac:spMkLst>
            <pc:docMk/>
            <pc:sldMk cId="1699318151" sldId="258"/>
            <ac:spMk id="9" creationId="{00000000-0000-0000-0000-000000000000}"/>
          </ac:spMkLst>
        </pc:spChg>
      </pc:sldChg>
      <pc:sldChg chg="modSp mod">
        <pc:chgData name="Shachar Lovett" userId="0c6d1e87c56e93c6" providerId="LiveId" clId="{D93DAD3B-46DB-416C-AF6B-104E43BB6908}" dt="2025-03-07T20:54:15.310" v="32" actId="1038"/>
        <pc:sldMkLst>
          <pc:docMk/>
          <pc:sldMk cId="569824922" sldId="353"/>
        </pc:sldMkLst>
        <pc:spChg chg="mod">
          <ac:chgData name="Shachar Lovett" userId="0c6d1e87c56e93c6" providerId="LiveId" clId="{D93DAD3B-46DB-416C-AF6B-104E43BB6908}" dt="2025-03-07T20:54:15.310" v="32" actId="1038"/>
          <ac:spMkLst>
            <pc:docMk/>
            <pc:sldMk cId="569824922" sldId="353"/>
            <ac:spMk id="3" creationId="{00000000-0000-0000-0000-000000000000}"/>
          </ac:spMkLst>
        </pc:spChg>
      </pc:sldChg>
      <pc:sldChg chg="modSp mod">
        <pc:chgData name="Shachar Lovett" userId="0c6d1e87c56e93c6" providerId="LiveId" clId="{D93DAD3B-46DB-416C-AF6B-104E43BB6908}" dt="2025-03-07T21:12:57.254" v="73" actId="20577"/>
        <pc:sldMkLst>
          <pc:docMk/>
          <pc:sldMk cId="3617109324" sldId="370"/>
        </pc:sldMkLst>
        <pc:spChg chg="mod">
          <ac:chgData name="Shachar Lovett" userId="0c6d1e87c56e93c6" providerId="LiveId" clId="{D93DAD3B-46DB-416C-AF6B-104E43BB6908}" dt="2025-03-07T21:12:57.254" v="73" actId="20577"/>
          <ac:spMkLst>
            <pc:docMk/>
            <pc:sldMk cId="3617109324" sldId="370"/>
            <ac:spMk id="3" creationId="{CF79588A-6448-4FC7-8743-A89B39CB01FF}"/>
          </ac:spMkLst>
        </pc:spChg>
      </pc:sldChg>
    </pc:docChg>
  </pc:docChgLst>
  <pc:docChgLst>
    <pc:chgData name="Shachar Lovett" userId="0c6d1e87c56e93c6" providerId="LiveId" clId="{E96F370B-E11D-411D-998B-C6E69162CF98}"/>
    <pc:docChg chg="custSel addSld delSld modSld">
      <pc:chgData name="Shachar Lovett" userId="0c6d1e87c56e93c6" providerId="LiveId" clId="{E96F370B-E11D-411D-998B-C6E69162CF98}" dt="2025-03-11T15:55:27.556" v="1135" actId="20577"/>
      <pc:docMkLst>
        <pc:docMk/>
      </pc:docMkLst>
      <pc:sldChg chg="modSp mod">
        <pc:chgData name="Shachar Lovett" userId="0c6d1e87c56e93c6" providerId="LiveId" clId="{E96F370B-E11D-411D-998B-C6E69162CF98}" dt="2025-03-06T01:21:28.012" v="14" actId="20577"/>
        <pc:sldMkLst>
          <pc:docMk/>
          <pc:sldMk cId="1882651833" sldId="256"/>
        </pc:sldMkLst>
        <pc:spChg chg="mod">
          <ac:chgData name="Shachar Lovett" userId="0c6d1e87c56e93c6" providerId="LiveId" clId="{E96F370B-E11D-411D-998B-C6E69162CF98}" dt="2025-03-06T01:21:28.012" v="14" actId="20577"/>
          <ac:spMkLst>
            <pc:docMk/>
            <pc:sldMk cId="1882651833" sldId="256"/>
            <ac:spMk id="3" creationId="{00000000-0000-0000-0000-000000000000}"/>
          </ac:spMkLst>
        </pc:spChg>
      </pc:sldChg>
      <pc:sldChg chg="modSp mod">
        <pc:chgData name="Shachar Lovett" userId="0c6d1e87c56e93c6" providerId="LiveId" clId="{E96F370B-E11D-411D-998B-C6E69162CF98}" dt="2025-03-06T01:24:25.822" v="26" actId="20577"/>
        <pc:sldMkLst>
          <pc:docMk/>
          <pc:sldMk cId="1699318151" sldId="258"/>
        </pc:sldMkLst>
        <pc:spChg chg="mod">
          <ac:chgData name="Shachar Lovett" userId="0c6d1e87c56e93c6" providerId="LiveId" clId="{E96F370B-E11D-411D-998B-C6E69162CF98}" dt="2025-03-06T01:24:25.822" v="26" actId="20577"/>
          <ac:spMkLst>
            <pc:docMk/>
            <pc:sldMk cId="1699318151" sldId="258"/>
            <ac:spMk id="9" creationId="{00000000-0000-0000-0000-000000000000}"/>
          </ac:spMkLst>
        </pc:spChg>
      </pc:sldChg>
      <pc:sldChg chg="modSp mod">
        <pc:chgData name="Shachar Lovett" userId="0c6d1e87c56e93c6" providerId="LiveId" clId="{E96F370B-E11D-411D-998B-C6E69162CF98}" dt="2025-03-06T01:24:00.497" v="15" actId="20577"/>
        <pc:sldMkLst>
          <pc:docMk/>
          <pc:sldMk cId="4227341268" sldId="276"/>
        </pc:sldMkLst>
        <pc:spChg chg="mod">
          <ac:chgData name="Shachar Lovett" userId="0c6d1e87c56e93c6" providerId="LiveId" clId="{E96F370B-E11D-411D-998B-C6E69162CF98}" dt="2025-03-06T01:24:00.497" v="15" actId="20577"/>
          <ac:spMkLst>
            <pc:docMk/>
            <pc:sldMk cId="4227341268" sldId="276"/>
            <ac:spMk id="2" creationId="{00000000-0000-0000-0000-000000000000}"/>
          </ac:spMkLst>
        </pc:spChg>
      </pc:sldChg>
      <pc:sldChg chg="modSp mod">
        <pc:chgData name="Shachar Lovett" userId="0c6d1e87c56e93c6" providerId="LiveId" clId="{E96F370B-E11D-411D-998B-C6E69162CF98}" dt="2025-03-11T15:50:55.170" v="40" actId="20577"/>
        <pc:sldMkLst>
          <pc:docMk/>
          <pc:sldMk cId="3617109324" sldId="370"/>
        </pc:sldMkLst>
        <pc:spChg chg="mod">
          <ac:chgData name="Shachar Lovett" userId="0c6d1e87c56e93c6" providerId="LiveId" clId="{E96F370B-E11D-411D-998B-C6E69162CF98}" dt="2025-03-11T15:50:55.170" v="40" actId="20577"/>
          <ac:spMkLst>
            <pc:docMk/>
            <pc:sldMk cId="3617109324" sldId="370"/>
            <ac:spMk id="3" creationId="{CF79588A-6448-4FC7-8743-A89B39CB01FF}"/>
          </ac:spMkLst>
        </pc:spChg>
      </pc:sldChg>
      <pc:sldChg chg="modSp new mod">
        <pc:chgData name="Shachar Lovett" userId="0c6d1e87c56e93c6" providerId="LiveId" clId="{E96F370B-E11D-411D-998B-C6E69162CF98}" dt="2025-03-11T15:52:38.138" v="425" actId="20577"/>
        <pc:sldMkLst>
          <pc:docMk/>
          <pc:sldMk cId="1434058761" sldId="371"/>
        </pc:sldMkLst>
        <pc:spChg chg="mod">
          <ac:chgData name="Shachar Lovett" userId="0c6d1e87c56e93c6" providerId="LiveId" clId="{E96F370B-E11D-411D-998B-C6E69162CF98}" dt="2025-03-11T15:51:43.051" v="131" actId="20577"/>
          <ac:spMkLst>
            <pc:docMk/>
            <pc:sldMk cId="1434058761" sldId="371"/>
            <ac:spMk id="2" creationId="{D2B177D7-CCE7-EAB5-1B7E-800BAE137156}"/>
          </ac:spMkLst>
        </pc:spChg>
        <pc:spChg chg="mod">
          <ac:chgData name="Shachar Lovett" userId="0c6d1e87c56e93c6" providerId="LiveId" clId="{E96F370B-E11D-411D-998B-C6E69162CF98}" dt="2025-03-11T15:52:38.138" v="425" actId="20577"/>
          <ac:spMkLst>
            <pc:docMk/>
            <pc:sldMk cId="1434058761" sldId="371"/>
            <ac:spMk id="3" creationId="{E0E9DD03-F6E7-9BB6-6AE3-17DEC49E70CA}"/>
          </ac:spMkLst>
        </pc:spChg>
      </pc:sldChg>
      <pc:sldChg chg="del">
        <pc:chgData name="Shachar Lovett" userId="0c6d1e87c56e93c6" providerId="LiveId" clId="{E96F370B-E11D-411D-998B-C6E69162CF98}" dt="2025-03-06T01:24:04.042" v="16" actId="47"/>
        <pc:sldMkLst>
          <pc:docMk/>
          <pc:sldMk cId="2866374538" sldId="371"/>
        </pc:sldMkLst>
      </pc:sldChg>
      <pc:sldChg chg="modSp new mod">
        <pc:chgData name="Shachar Lovett" userId="0c6d1e87c56e93c6" providerId="LiveId" clId="{E96F370B-E11D-411D-998B-C6E69162CF98}" dt="2025-03-11T15:53:23.719" v="663" actId="20577"/>
        <pc:sldMkLst>
          <pc:docMk/>
          <pc:sldMk cId="1319630233" sldId="372"/>
        </pc:sldMkLst>
        <pc:spChg chg="mod">
          <ac:chgData name="Shachar Lovett" userId="0c6d1e87c56e93c6" providerId="LiveId" clId="{E96F370B-E11D-411D-998B-C6E69162CF98}" dt="2025-03-11T15:52:44.223" v="434" actId="20577"/>
          <ac:spMkLst>
            <pc:docMk/>
            <pc:sldMk cId="1319630233" sldId="372"/>
            <ac:spMk id="2" creationId="{08274815-8DFD-A51A-6B68-1CE69FBE071F}"/>
          </ac:spMkLst>
        </pc:spChg>
        <pc:spChg chg="mod">
          <ac:chgData name="Shachar Lovett" userId="0c6d1e87c56e93c6" providerId="LiveId" clId="{E96F370B-E11D-411D-998B-C6E69162CF98}" dt="2025-03-11T15:53:23.719" v="663" actId="20577"/>
          <ac:spMkLst>
            <pc:docMk/>
            <pc:sldMk cId="1319630233" sldId="372"/>
            <ac:spMk id="3" creationId="{3C7285C8-8638-BDE2-EAF7-B2AB1362FC29}"/>
          </ac:spMkLst>
        </pc:spChg>
      </pc:sldChg>
      <pc:sldChg chg="modSp new mod">
        <pc:chgData name="Shachar Lovett" userId="0c6d1e87c56e93c6" providerId="LiveId" clId="{E96F370B-E11D-411D-998B-C6E69162CF98}" dt="2025-03-11T15:55:27.556" v="1135" actId="20577"/>
        <pc:sldMkLst>
          <pc:docMk/>
          <pc:sldMk cId="158269034" sldId="373"/>
        </pc:sldMkLst>
        <pc:spChg chg="mod">
          <ac:chgData name="Shachar Lovett" userId="0c6d1e87c56e93c6" providerId="LiveId" clId="{E96F370B-E11D-411D-998B-C6E69162CF98}" dt="2025-03-11T15:53:35.920" v="677" actId="20577"/>
          <ac:spMkLst>
            <pc:docMk/>
            <pc:sldMk cId="158269034" sldId="373"/>
            <ac:spMk id="2" creationId="{533DA3DA-3E8C-2B41-22AA-B323B155B496}"/>
          </ac:spMkLst>
        </pc:spChg>
        <pc:spChg chg="mod">
          <ac:chgData name="Shachar Lovett" userId="0c6d1e87c56e93c6" providerId="LiveId" clId="{E96F370B-E11D-411D-998B-C6E69162CF98}" dt="2025-03-11T15:55:27.556" v="1135" actId="20577"/>
          <ac:spMkLst>
            <pc:docMk/>
            <pc:sldMk cId="158269034" sldId="373"/>
            <ac:spMk id="3" creationId="{D1678EFD-C54D-B64F-EAE0-06BEC906CCB8}"/>
          </ac:spMkLst>
        </pc:spChg>
      </pc:sldChg>
    </pc:docChg>
  </pc:docChgLst>
  <pc:docChgLst>
    <pc:chgData name="Shachar Lovett" userId="0c6d1e87c56e93c6" providerId="LiveId" clId="{C0469C9A-F972-4F82-944B-3A05A75CA36B}"/>
    <pc:docChg chg="modSld">
      <pc:chgData name="Shachar Lovett" userId="0c6d1e87c56e93c6" providerId="LiveId" clId="{C0469C9A-F972-4F82-944B-3A05A75CA36B}" dt="2025-03-31T20:47:26.051" v="8" actId="20577"/>
      <pc:docMkLst>
        <pc:docMk/>
      </pc:docMkLst>
      <pc:sldChg chg="modSp mod">
        <pc:chgData name="Shachar Lovett" userId="0c6d1e87c56e93c6" providerId="LiveId" clId="{C0469C9A-F972-4F82-944B-3A05A75CA36B}" dt="2025-03-31T20:46:55.316" v="1" actId="20577"/>
        <pc:sldMkLst>
          <pc:docMk/>
          <pc:sldMk cId="1434058761" sldId="371"/>
        </pc:sldMkLst>
        <pc:spChg chg="mod">
          <ac:chgData name="Shachar Lovett" userId="0c6d1e87c56e93c6" providerId="LiveId" clId="{C0469C9A-F972-4F82-944B-3A05A75CA36B}" dt="2025-03-31T20:46:55.316" v="1" actId="20577"/>
          <ac:spMkLst>
            <pc:docMk/>
            <pc:sldMk cId="1434058761" sldId="371"/>
            <ac:spMk id="3" creationId="{E0E9DD03-F6E7-9BB6-6AE3-17DEC49E70CA}"/>
          </ac:spMkLst>
        </pc:spChg>
      </pc:sldChg>
      <pc:sldChg chg="modSp mod">
        <pc:chgData name="Shachar Lovett" userId="0c6d1e87c56e93c6" providerId="LiveId" clId="{C0469C9A-F972-4F82-944B-3A05A75CA36B}" dt="2025-03-31T20:47:26.051" v="8" actId="20577"/>
        <pc:sldMkLst>
          <pc:docMk/>
          <pc:sldMk cId="1319630233" sldId="372"/>
        </pc:sldMkLst>
        <pc:spChg chg="mod">
          <ac:chgData name="Shachar Lovett" userId="0c6d1e87c56e93c6" providerId="LiveId" clId="{C0469C9A-F972-4F82-944B-3A05A75CA36B}" dt="2025-03-31T20:47:26.051" v="8" actId="20577"/>
          <ac:spMkLst>
            <pc:docMk/>
            <pc:sldMk cId="1319630233" sldId="372"/>
            <ac:spMk id="2" creationId="{08274815-8DFD-A51A-6B68-1CE69FBE071F}"/>
          </ac:spMkLst>
        </pc:spChg>
      </pc:sldChg>
    </pc:docChg>
  </pc:docChgLst>
  <pc:docChgLst>
    <pc:chgData name="Shachar Lovett" userId="0c6d1e87c56e93c6" providerId="LiveId" clId="{D380BA47-C376-4418-8A67-4103BD7DA366}"/>
    <pc:docChg chg="modSld">
      <pc:chgData name="Shachar Lovett" userId="0c6d1e87c56e93c6" providerId="LiveId" clId="{D380BA47-C376-4418-8A67-4103BD7DA366}" dt="2019-09-06T23:13:25.676" v="93" actId="20577"/>
      <pc:docMkLst>
        <pc:docMk/>
      </pc:docMkLst>
      <pc:sldChg chg="modSp">
        <pc:chgData name="Shachar Lovett" userId="0c6d1e87c56e93c6" providerId="LiveId" clId="{D380BA47-C376-4418-8A67-4103BD7DA366}" dt="2019-09-06T15:14:45.621" v="11" actId="20577"/>
        <pc:sldMkLst>
          <pc:docMk/>
          <pc:sldMk cId="1882651833" sldId="256"/>
        </pc:sldMkLst>
      </pc:sldChg>
      <pc:sldChg chg="modSp">
        <pc:chgData name="Shachar Lovett" userId="0c6d1e87c56e93c6" providerId="LiveId" clId="{D380BA47-C376-4418-8A67-4103BD7DA366}" dt="2019-09-06T23:12:28.635" v="86" actId="20577"/>
        <pc:sldMkLst>
          <pc:docMk/>
          <pc:sldMk cId="1699318151" sldId="258"/>
        </pc:sldMkLst>
      </pc:sldChg>
      <pc:sldChg chg="modSp">
        <pc:chgData name="Shachar Lovett" userId="0c6d1e87c56e93c6" providerId="LiveId" clId="{D380BA47-C376-4418-8A67-4103BD7DA366}" dt="2019-09-06T23:12:49.382" v="88" actId="20577"/>
        <pc:sldMkLst>
          <pc:docMk/>
          <pc:sldMk cId="2241558194" sldId="262"/>
        </pc:sldMkLst>
      </pc:sldChg>
      <pc:sldChg chg="modSp">
        <pc:chgData name="Shachar Lovett" userId="0c6d1e87c56e93c6" providerId="LiveId" clId="{D380BA47-C376-4418-8A67-4103BD7DA366}" dt="2019-09-06T23:11:21.717" v="19" actId="20577"/>
        <pc:sldMkLst>
          <pc:docMk/>
          <pc:sldMk cId="622394228" sldId="274"/>
        </pc:sldMkLst>
      </pc:sldChg>
      <pc:sldChg chg="modSp">
        <pc:chgData name="Shachar Lovett" userId="0c6d1e87c56e93c6" providerId="LiveId" clId="{D380BA47-C376-4418-8A67-4103BD7DA366}" dt="2019-09-06T23:13:25.676" v="93" actId="20577"/>
        <pc:sldMkLst>
          <pc:docMk/>
          <pc:sldMk cId="4212756544" sldId="304"/>
        </pc:sldMkLst>
      </pc:sldChg>
    </pc:docChg>
  </pc:docChgLst>
  <pc:docChgLst>
    <pc:chgData name="Shachar Lovett" userId="0c6d1e87c56e93c6" providerId="LiveId" clId="{AA89BD05-6277-4CDB-ACBE-591495B016EF}"/>
    <pc:docChg chg="undo addSld delSld modSld">
      <pc:chgData name="Shachar Lovett" userId="0c6d1e87c56e93c6" providerId="LiveId" clId="{AA89BD05-6277-4CDB-ACBE-591495B016EF}" dt="2019-04-01T12:41:36.300" v="84" actId="207"/>
      <pc:docMkLst>
        <pc:docMk/>
      </pc:docMkLst>
      <pc:sldChg chg="modSp">
        <pc:chgData name="Shachar Lovett" userId="0c6d1e87c56e93c6" providerId="LiveId" clId="{AA89BD05-6277-4CDB-ACBE-591495B016EF}" dt="2019-04-01T12:17:59.850" v="11"/>
        <pc:sldMkLst>
          <pc:docMk/>
          <pc:sldMk cId="1882651833" sldId="256"/>
        </pc:sldMkLst>
      </pc:sldChg>
      <pc:sldChg chg="modSp">
        <pc:chgData name="Shachar Lovett" userId="0c6d1e87c56e93c6" providerId="LiveId" clId="{AA89BD05-6277-4CDB-ACBE-591495B016EF}" dt="2019-04-01T12:26:32.482" v="52" actId="20577"/>
        <pc:sldMkLst>
          <pc:docMk/>
          <pc:sldMk cId="1699318151" sldId="258"/>
        </pc:sldMkLst>
      </pc:sldChg>
      <pc:sldChg chg="modSp">
        <pc:chgData name="Shachar Lovett" userId="0c6d1e87c56e93c6" providerId="LiveId" clId="{AA89BD05-6277-4CDB-ACBE-591495B016EF}" dt="2019-04-01T12:35:55.828" v="53"/>
        <pc:sldMkLst>
          <pc:docMk/>
          <pc:sldMk cId="2241558194" sldId="262"/>
        </pc:sldMkLst>
      </pc:sldChg>
      <pc:sldChg chg="modSp">
        <pc:chgData name="Shachar Lovett" userId="0c6d1e87c56e93c6" providerId="LiveId" clId="{AA89BD05-6277-4CDB-ACBE-591495B016EF}" dt="2019-04-01T12:24:58.595" v="20" actId="1036"/>
        <pc:sldMkLst>
          <pc:docMk/>
          <pc:sldMk cId="622394228" sldId="274"/>
        </pc:sldMkLst>
      </pc:sldChg>
      <pc:sldChg chg="modSp">
        <pc:chgData name="Shachar Lovett" userId="0c6d1e87c56e93c6" providerId="LiveId" clId="{AA89BD05-6277-4CDB-ACBE-591495B016EF}" dt="2019-04-01T12:38:23.346" v="65" actId="20577"/>
        <pc:sldMkLst>
          <pc:docMk/>
          <pc:sldMk cId="569824922" sldId="353"/>
        </pc:sldMkLst>
      </pc:sldChg>
      <pc:sldChg chg="modSp">
        <pc:chgData name="Shachar Lovett" userId="0c6d1e87c56e93c6" providerId="LiveId" clId="{AA89BD05-6277-4CDB-ACBE-591495B016EF}" dt="2019-04-01T12:41:36.300" v="84" actId="207"/>
        <pc:sldMkLst>
          <pc:docMk/>
          <pc:sldMk cId="11063294" sldId="354"/>
        </pc:sldMkLst>
      </pc:sldChg>
      <pc:sldChg chg="modSp">
        <pc:chgData name="Shachar Lovett" userId="0c6d1e87c56e93c6" providerId="LiveId" clId="{AA89BD05-6277-4CDB-ACBE-591495B016EF}" dt="2019-04-01T12:39:34.706" v="67" actId="20577"/>
        <pc:sldMkLst>
          <pc:docMk/>
          <pc:sldMk cId="3351971058" sldId="358"/>
        </pc:sldMkLst>
      </pc:sldChg>
      <pc:sldChg chg="modSp">
        <pc:chgData name="Shachar Lovett" userId="0c6d1e87c56e93c6" providerId="LiveId" clId="{AA89BD05-6277-4CDB-ACBE-591495B016EF}" dt="2019-04-01T12:40:14.778" v="81" actId="20577"/>
        <pc:sldMkLst>
          <pc:docMk/>
          <pc:sldMk cId="1006672235" sldId="359"/>
        </pc:sldMkLst>
      </pc:sldChg>
      <pc:sldChg chg="modSp">
        <pc:chgData name="Shachar Lovett" userId="0c6d1e87c56e93c6" providerId="LiveId" clId="{AA89BD05-6277-4CDB-ACBE-591495B016EF}" dt="2019-04-01T12:36:42.867" v="56" actId="20577"/>
        <pc:sldMkLst>
          <pc:docMk/>
          <pc:sldMk cId="1713708134" sldId="369"/>
        </pc:sldMkLst>
      </pc:sldChg>
      <pc:sldChg chg="addSp delSp modSp add del">
        <pc:chgData name="Shachar Lovett" userId="0c6d1e87c56e93c6" providerId="LiveId" clId="{AA89BD05-6277-4CDB-ACBE-591495B016EF}" dt="2019-04-01T12:37:35.750" v="62" actId="2696"/>
        <pc:sldMkLst>
          <pc:docMk/>
          <pc:sldMk cId="3890288615" sldId="370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2T09:01:06.563" idx="1">
    <p:pos x="4656" y="673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Wednesday, June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June 17,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028700"/>
            <a:ext cx="8004197" cy="1445419"/>
          </a:xfrm>
        </p:spPr>
        <p:txBody>
          <a:bodyPr>
            <a:normAutofit fontScale="90000"/>
          </a:bodyPr>
          <a:lstStyle/>
          <a:p>
            <a:r>
              <a:rPr lang="en-US" dirty="0"/>
              <a:t>CSE 331 </a:t>
            </a:r>
            <a:br>
              <a:rPr lang="en-US" dirty="0"/>
            </a:br>
            <a:r>
              <a:rPr lang="en-US" sz="4400" dirty="0"/>
              <a:t>Automata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/>
              <a:t>Lecture 1</a:t>
            </a:r>
          </a:p>
          <a:p>
            <a:endParaRPr lang="en-US" dirty="0"/>
          </a:p>
          <a:p>
            <a:r>
              <a:rPr lang="en-US" dirty="0"/>
              <a:t>Summer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Learning goals</a:t>
            </a:r>
          </a:p>
        </p:txBody>
      </p:sp>
      <p:pic>
        <p:nvPicPr>
          <p:cNvPr id="3" name="Picture 2" descr="abstraction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01" y="893839"/>
            <a:ext cx="2928699" cy="2069945"/>
          </a:xfrm>
          <a:prstGeom prst="rect">
            <a:avLst/>
          </a:prstGeom>
        </p:spPr>
      </p:pic>
      <p:pic>
        <p:nvPicPr>
          <p:cNvPr id="7" name="Picture 6" descr="imgre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1325"/>
            <a:ext cx="2293652" cy="1718025"/>
          </a:xfrm>
          <a:prstGeom prst="rect">
            <a:avLst/>
          </a:prstGeom>
        </p:spPr>
      </p:pic>
      <p:pic>
        <p:nvPicPr>
          <p:cNvPr id="8" name="Picture 7" descr="imgres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431" y="3129350"/>
            <a:ext cx="2916514" cy="1817687"/>
          </a:xfrm>
          <a:prstGeom prst="rect">
            <a:avLst/>
          </a:prstGeom>
        </p:spPr>
      </p:pic>
      <p:pic>
        <p:nvPicPr>
          <p:cNvPr id="9" name="Picture 2" descr="http://www.uni-kl.de/aegee/kaiserslautern/wp-content/uploads/2008/02/evolution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78202" y="3399280"/>
            <a:ext cx="2897921" cy="13348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3096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Introductions</a:t>
            </a:r>
          </a:p>
        </p:txBody>
      </p:sp>
      <p:sp>
        <p:nvSpPr>
          <p:cNvPr id="7" name="CustomShape 2"/>
          <p:cNvSpPr/>
          <p:nvPr/>
        </p:nvSpPr>
        <p:spPr>
          <a:xfrm>
            <a:off x="504000" y="1026000"/>
            <a:ext cx="9071640" cy="28827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buSzPct val="45000"/>
            </a:pPr>
            <a:endParaRPr lang="en-US" sz="2910" dirty="0">
              <a:latin typeface="Arial"/>
            </a:endParaRPr>
          </a:p>
        </p:txBody>
      </p:sp>
      <p:pic>
        <p:nvPicPr>
          <p:cNvPr id="8" name="Picture 7" descr="10Untitled1a_UCSanDiegoPublications_ErikJepsen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86" y="1466532"/>
            <a:ext cx="7828017" cy="26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4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213" y="1143000"/>
            <a:ext cx="85957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Homework: </a:t>
            </a:r>
            <a:r>
              <a:rPr lang="en-US" sz="1600" dirty="0"/>
              <a:t>2  (one HW before mid, one HW after mid)</a:t>
            </a:r>
          </a:p>
          <a:p>
            <a:endParaRPr lang="en-US" sz="1600" dirty="0"/>
          </a:p>
          <a:p>
            <a:r>
              <a:rPr lang="en-US" sz="1600" b="1" dirty="0"/>
              <a:t>In-class: </a:t>
            </a:r>
            <a:r>
              <a:rPr lang="en-US" sz="1600" dirty="0"/>
              <a:t>Group discussion + </a:t>
            </a:r>
            <a:r>
              <a:rPr lang="en-US" sz="1600" b="1" dirty="0">
                <a:solidFill>
                  <a:srgbClr val="008000"/>
                </a:solidFill>
              </a:rPr>
              <a:t>polls </a:t>
            </a:r>
            <a:r>
              <a:rPr lang="en-US" sz="1600" dirty="0"/>
              <a:t>; Read </a:t>
            </a:r>
            <a:r>
              <a:rPr lang="en-US" sz="1600" b="1" dirty="0"/>
              <a:t>book </a:t>
            </a:r>
            <a:r>
              <a:rPr lang="en-US" sz="1600" dirty="0"/>
              <a:t>first</a:t>
            </a:r>
          </a:p>
          <a:p>
            <a:r>
              <a:rPr lang="en-US" sz="1600" dirty="0"/>
              <a:t>                Discussion section: more examples, homework warmup</a:t>
            </a:r>
          </a:p>
          <a:p>
            <a:endParaRPr lang="en-US" sz="1600" dirty="0"/>
          </a:p>
          <a:p>
            <a:r>
              <a:rPr lang="en-US" sz="1600" b="1" dirty="0"/>
              <a:t>Exams</a:t>
            </a:r>
            <a:r>
              <a:rPr lang="en-US" sz="1600" dirty="0"/>
              <a:t>: 		Midterm, </a:t>
            </a:r>
            <a:r>
              <a:rPr lang="de-DE" sz="1600" b="1" i="0" dirty="0">
                <a:solidFill>
                  <a:srgbClr val="181C32"/>
                </a:solidFill>
                <a:effectLst/>
                <a:latin typeface="Roboto" panose="020B0604020202020204" pitchFamily="2" charset="0"/>
              </a:rPr>
              <a:t>Apr 2, 2026 8:30 AM - 10:30 AM</a:t>
            </a:r>
            <a:endParaRPr lang="en-US" sz="1600" dirty="0"/>
          </a:p>
          <a:p>
            <a:pPr algn="l"/>
            <a:r>
              <a:rPr lang="en-US" sz="1600" dirty="0"/>
              <a:t>		Final Exam, </a:t>
            </a:r>
            <a:r>
              <a:rPr lang="en-US" sz="1600" b="1" i="0" dirty="0">
                <a:solidFill>
                  <a:srgbClr val="181C32"/>
                </a:solidFill>
                <a:effectLst/>
                <a:latin typeface="Roboto" panose="02000000000000000000" pitchFamily="2" charset="0"/>
              </a:rPr>
              <a:t>May 16, 2026 8:30 AM - 10:30 AM</a:t>
            </a:r>
            <a:endParaRPr lang="en-US" sz="1600" b="0" i="0" dirty="0">
              <a:solidFill>
                <a:srgbClr val="181C32"/>
              </a:solidFill>
              <a:effectLst/>
              <a:latin typeface="Roboto" panose="02000000000000000000" pitchFamily="2" charset="0"/>
            </a:endParaRPr>
          </a:p>
          <a:p>
            <a:endParaRPr lang="en-US" sz="1600" b="1" dirty="0"/>
          </a:p>
          <a:p>
            <a:endParaRPr lang="en-US" sz="1600" dirty="0"/>
          </a:p>
          <a:p>
            <a:r>
              <a:rPr lang="en-US" sz="1600" b="1" dirty="0"/>
              <a:t>Google Classroom</a:t>
            </a:r>
            <a:r>
              <a:rPr lang="en-US" sz="1600" dirty="0"/>
              <a:t>: Homework submission</a:t>
            </a:r>
          </a:p>
          <a:p>
            <a:r>
              <a:rPr lang="en-US" sz="1600" b="1" dirty="0"/>
              <a:t>Google Classroom </a:t>
            </a:r>
            <a:r>
              <a:rPr lang="en-US" sz="1600" dirty="0"/>
              <a:t>: Announcements and Q&amp;A.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Consultation</a:t>
            </a:r>
            <a:r>
              <a:rPr lang="en-US" sz="1600" b="1" dirty="0"/>
              <a:t>: </a:t>
            </a:r>
            <a:r>
              <a:rPr lang="en-US" sz="1600" dirty="0"/>
              <a:t>with me (check consultation routine).  </a:t>
            </a:r>
            <a:endParaRPr lang="en-US" sz="1600" b="1" dirty="0"/>
          </a:p>
        </p:txBody>
      </p:sp>
      <p:pic>
        <p:nvPicPr>
          <p:cNvPr id="4" name="Picture 3" descr="imgres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9" y="400051"/>
            <a:ext cx="1371599" cy="209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1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F5B0-C8A1-46C9-B3A6-F45E96E7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588A-6448-4FC7-8743-A89B39CB0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final grade has 4 components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Final exam: 40%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Midterms: 30%</a:t>
            </a:r>
          </a:p>
          <a:p>
            <a:r>
              <a:rPr lang="en-US" dirty="0">
                <a:solidFill>
                  <a:srgbClr val="0070C0"/>
                </a:solidFill>
              </a:rPr>
              <a:t>Quiz: 20%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Homework: 10% </a:t>
            </a:r>
            <a:r>
              <a:rPr lang="en-US" dirty="0"/>
              <a:t>(Both of the HW will be counted)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0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Prepare ahead of class</a:t>
            </a:r>
          </a:p>
          <a:p>
            <a:pPr lvl="1"/>
            <a:r>
              <a:rPr lang="en-US" dirty="0"/>
              <a:t>Read assigned sections, read homework questions</a:t>
            </a:r>
          </a:p>
          <a:p>
            <a:r>
              <a:rPr lang="en-US" dirty="0"/>
              <a:t>Engage in class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Discuss questions with your neighbors (when we are in person)</a:t>
            </a:r>
            <a:r>
              <a:rPr lang="en-US" dirty="0"/>
              <a:t>, look for (counter) examples</a:t>
            </a:r>
          </a:p>
          <a:p>
            <a:pPr lvl="1"/>
            <a:r>
              <a:rPr lang="en-US" dirty="0"/>
              <a:t>Go over wrong choices too!</a:t>
            </a:r>
          </a:p>
          <a:p>
            <a:r>
              <a:rPr lang="en-US" dirty="0"/>
              <a:t>Reinforce after class</a:t>
            </a:r>
          </a:p>
          <a:p>
            <a:pPr lvl="1"/>
            <a:r>
              <a:rPr lang="en-US" dirty="0"/>
              <a:t>Briefly summarize what you learned</a:t>
            </a:r>
          </a:p>
          <a:p>
            <a:r>
              <a:rPr lang="en-US" dirty="0"/>
              <a:t>Start homework early</a:t>
            </a:r>
            <a:endParaRPr lang="en-US" b="1" dirty="0">
              <a:solidFill>
                <a:srgbClr val="4128D2"/>
              </a:solidFill>
            </a:endParaRPr>
          </a:p>
          <a:p>
            <a:pPr lvl="1"/>
            <a:r>
              <a:rPr lang="en-US" dirty="0"/>
              <a:t>Tackle problems together: brainstorm, plan, and solve together</a:t>
            </a:r>
          </a:p>
          <a:p>
            <a:r>
              <a:rPr lang="en-US" dirty="0"/>
              <a:t>Seek help and seek to help others, with integrity</a:t>
            </a:r>
          </a:p>
        </p:txBody>
      </p:sp>
      <p:pic>
        <p:nvPicPr>
          <p:cNvPr id="4" name="Picture 3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435" y="2627661"/>
            <a:ext cx="2196465" cy="124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excel with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It's an integrity violation to…</a:t>
            </a:r>
          </a:p>
          <a:p>
            <a:r>
              <a:rPr lang="en-US" dirty="0"/>
              <a:t>Ask others to give you specific HW or test answers</a:t>
            </a:r>
          </a:p>
          <a:p>
            <a:r>
              <a:rPr lang="en-US" dirty="0"/>
              <a:t>Share your answers on HW or test </a:t>
            </a:r>
          </a:p>
          <a:p>
            <a:r>
              <a:rPr lang="en-US" dirty="0"/>
              <a:t>Work on HW with anyone other than your HW partners</a:t>
            </a:r>
          </a:p>
          <a:p>
            <a:r>
              <a:rPr lang="en-US" dirty="0"/>
              <a:t>Search the internet or other resources not provided for the class for HW solutions</a:t>
            </a:r>
          </a:p>
          <a:p>
            <a:r>
              <a:rPr lang="en-US" dirty="0"/>
              <a:t>Share answers or notes while taking an exam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This not a complete list … you are responsible for knowing and following the guidelines </a:t>
            </a:r>
            <a:r>
              <a:rPr lang="en-US" i="1" dirty="0"/>
              <a:t>Academic integrity violations will be taken seriously and reported immediately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54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77D7-CCE7-EAB5-1B7E-800BAE13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DD03-F6E7-9BB6-6AE3-17DEC49E7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Homework is 10% of your grade</a:t>
            </a:r>
          </a:p>
          <a:p>
            <a:endParaRPr lang="en-US" dirty="0"/>
          </a:p>
          <a:p>
            <a:r>
              <a:rPr lang="en-US" dirty="0"/>
              <a:t>The main goal of homework is to help you learn the material in your own pace</a:t>
            </a:r>
          </a:p>
          <a:p>
            <a:endParaRPr lang="en-US" dirty="0"/>
          </a:p>
          <a:p>
            <a:r>
              <a:rPr lang="en-US" dirty="0"/>
              <a:t>Exams are going to be VERY SIMILAR to homework problems, so it is better for you to think on these problems when you have time, and not during the exam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05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4815-8DFD-A51A-6B68-1CE69FBE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and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85C8-8638-BDE2-EAF7-B2AB1362F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forbidden to use ChatGPT or similar tools for homework</a:t>
            </a:r>
          </a:p>
          <a:p>
            <a:endParaRPr lang="en-US" dirty="0"/>
          </a:p>
          <a:p>
            <a:r>
              <a:rPr lang="en-US" dirty="0"/>
              <a:t>If we catch students who use these, or cheat in any other way, they will be reported to the academic integrity review board</a:t>
            </a:r>
          </a:p>
        </p:txBody>
      </p:sp>
    </p:spTree>
    <p:extLst>
      <p:ext uri="{BB962C8B-B14F-4D97-AF65-F5344CB8AC3E}">
        <p14:creationId xmlns:p14="http://schemas.microsoft.com/office/powerpoint/2010/main" val="131963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A3DA-3E8C-2B41-22AA-B323B155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8EFD-C54D-B64F-EAE0-06BEC906C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maintain 70% of the attendance in class according to university policy to sit for final exam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class we will have questions and follow-up discussions which will help you understand concepts better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6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 331's big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problems are computers capable of solving?</a:t>
            </a:r>
          </a:p>
          <a:p>
            <a:r>
              <a:rPr lang="en-US" dirty="0"/>
              <a:t>What resources are needed to solve a problem?</a:t>
            </a:r>
          </a:p>
          <a:p>
            <a:r>
              <a:rPr lang="en-US" dirty="0"/>
              <a:t>Are some problems harder than others?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loud Callout 3"/>
          <p:cNvSpPr/>
          <p:nvPr/>
        </p:nvSpPr>
        <p:spPr>
          <a:xfrm>
            <a:off x="4614580" y="3148477"/>
            <a:ext cx="4250020" cy="1709273"/>
          </a:xfrm>
          <a:prstGeom prst="cloudCallout">
            <a:avLst>
              <a:gd name="adj1" fmla="val -65482"/>
              <a:gd name="adj2" fmla="val 5618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Making a decision or computing a value </a:t>
            </a:r>
          </a:p>
          <a:p>
            <a:pPr algn="ctr"/>
            <a:r>
              <a:rPr lang="en-US" dirty="0"/>
              <a:t>based on some input</a:t>
            </a:r>
          </a:p>
        </p:txBody>
      </p:sp>
    </p:spTree>
    <p:extLst>
      <p:ext uri="{BB962C8B-B14F-4D97-AF65-F5344CB8AC3E}">
        <p14:creationId xmlns:p14="http://schemas.microsoft.com/office/powerpoint/2010/main" val="3892593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about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Are they correct (for given specification)?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Is there a better approach to solving the same problem?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Does each problem have a solution?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If so, can that solution be found by an algorithm?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5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about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Are they correct (for given specification)?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	CSE230: Discrete Math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Is there a better approach to solving the same problem?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chemeClr val="tx2"/>
                </a:solidFill>
              </a:rPr>
              <a:t>CSE 221: Algorithms, </a:t>
            </a:r>
            <a:r>
              <a:rPr lang="en-US" b="1" dirty="0">
                <a:solidFill>
                  <a:srgbClr val="FF0000"/>
                </a:solidFill>
              </a:rPr>
              <a:t>Complexity theory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Does each problem have a solution?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	CSE 331: Automata and Computability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so, can that solution be found by an algorithm?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	CSE 331: Automata and Computability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24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Goal: find treasure hidden somewhere in grid.  Describe an algorithm for each robot.  </a:t>
            </a:r>
          </a:p>
          <a:p>
            <a:pPr marL="0" indent="0">
              <a:buNone/>
            </a:pPr>
            <a:r>
              <a:rPr lang="en-US" i="1">
                <a:solidFill>
                  <a:schemeClr val="bg1">
                    <a:lumMod val="65000"/>
                  </a:schemeClr>
                </a:solidFill>
              </a:rPr>
              <a:t>Do you need to assume anything? </a:t>
            </a:r>
          </a:p>
          <a:p>
            <a:pPr marL="0" indent="0">
              <a:buNone/>
            </a:pPr>
            <a:r>
              <a:rPr lang="en-US" i="1">
                <a:solidFill>
                  <a:schemeClr val="bg1">
                    <a:lumMod val="65000"/>
                  </a:schemeClr>
                </a:solidFill>
              </a:rPr>
              <a:t>Do you need to keep track of any information?</a:t>
            </a:r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Robot 1: can move North, East, West, South.</a:t>
            </a:r>
          </a:p>
          <a:p>
            <a:pPr marL="0" indent="0">
              <a:buNone/>
            </a:pPr>
            <a:r>
              <a:rPr lang="en-US"/>
              <a:t>Robot 2: can move in four diagonal directions.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400100"/>
              </p:ext>
            </p:extLst>
          </p:nvPr>
        </p:nvGraphicFramePr>
        <p:xfrm>
          <a:off x="5615139" y="400050"/>
          <a:ext cx="2860235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8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8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8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139" y="1758706"/>
            <a:ext cx="642571" cy="519941"/>
          </a:xfrm>
          <a:prstGeom prst="rect">
            <a:avLst/>
          </a:prstGeom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558" y="1200150"/>
            <a:ext cx="649864" cy="292251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853" y="1758706"/>
            <a:ext cx="642571" cy="519941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imgres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724" y="504809"/>
            <a:ext cx="987592" cy="98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17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Computer =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experience: Java, Python, C, etc.</a:t>
            </a:r>
          </a:p>
          <a:p>
            <a:r>
              <a:rPr lang="en-US" dirty="0"/>
              <a:t>Other computer models: </a:t>
            </a:r>
          </a:p>
          <a:p>
            <a:pPr lvl="1"/>
            <a:r>
              <a:rPr lang="en-US" dirty="0"/>
              <a:t>Quantum computers</a:t>
            </a:r>
          </a:p>
          <a:p>
            <a:pPr lvl="1"/>
            <a:r>
              <a:rPr lang="en-US" dirty="0"/>
              <a:t>DNA computation</a:t>
            </a:r>
          </a:p>
          <a:p>
            <a:pPr lvl="1"/>
            <a:r>
              <a:rPr lang="en-US" dirty="0"/>
              <a:t>Supercomputers / Datacenters with parallelized and distributed computation</a:t>
            </a:r>
          </a:p>
          <a:p>
            <a:pPr lvl="1"/>
            <a:r>
              <a:rPr lang="en-US" dirty="0"/>
              <a:t>Power-sensitive computation for mobile</a:t>
            </a:r>
          </a:p>
          <a:p>
            <a:pPr lvl="1"/>
            <a:r>
              <a:rPr lang="en-US" dirty="0"/>
              <a:t>Embedded circuits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5638800" y="3086100"/>
            <a:ext cx="3505200" cy="1970785"/>
          </a:xfrm>
          <a:prstGeom prst="cloudCallout">
            <a:avLst>
              <a:gd name="adj1" fmla="val -50367"/>
              <a:gd name="adj2" fmla="val 4996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Different contexts call for different algorithms + different performance constraints</a:t>
            </a:r>
          </a:p>
        </p:txBody>
      </p:sp>
    </p:spTree>
    <p:extLst>
      <p:ext uri="{BB962C8B-B14F-4D97-AF65-F5344CB8AC3E}">
        <p14:creationId xmlns:p14="http://schemas.microsoft.com/office/powerpoint/2010/main" val="1956336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DE6D-9ADA-4AE9-A557-B4157453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a computer/computation/algorithm?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3CF559-6ADB-4DB3-9383-E1BE6C8E3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26" y="1661921"/>
            <a:ext cx="7144747" cy="2734057"/>
          </a:xfrm>
        </p:spPr>
      </p:pic>
    </p:spTree>
    <p:extLst>
      <p:ext uri="{BB962C8B-B14F-4D97-AF65-F5344CB8AC3E}">
        <p14:creationId xmlns:p14="http://schemas.microsoft.com/office/powerpoint/2010/main" val="186194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Bird's eye view of CSE 331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a model of computation</a:t>
            </a:r>
          </a:p>
          <a:p>
            <a:endParaRPr lang="en-US" dirty="0"/>
          </a:p>
          <a:p>
            <a:r>
              <a:rPr lang="en-US" dirty="0"/>
              <a:t>Study what problems it can solve</a:t>
            </a:r>
          </a:p>
          <a:p>
            <a:endParaRPr lang="en-US" dirty="0"/>
          </a:p>
          <a:p>
            <a:r>
              <a:rPr lang="en-US" dirty="0"/>
              <a:t>Prove its limits</a:t>
            </a:r>
          </a:p>
        </p:txBody>
      </p:sp>
    </p:spTree>
    <p:extLst>
      <p:ext uri="{BB962C8B-B14F-4D97-AF65-F5344CB8AC3E}">
        <p14:creationId xmlns:p14="http://schemas.microsoft.com/office/powerpoint/2010/main" val="3351971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006600"/>
            <a:ext cx="509270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Bird's eye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Pick a model of computation</a:t>
            </a:r>
          </a:p>
          <a:p>
            <a:endParaRPr lang="en-US"/>
          </a:p>
          <a:p>
            <a:r>
              <a:rPr lang="en-US"/>
              <a:t>Study what problems it can solve</a:t>
            </a:r>
          </a:p>
          <a:p>
            <a:endParaRPr lang="en-US"/>
          </a:p>
          <a:p>
            <a:r>
              <a:rPr lang="en-US"/>
              <a:t>Prove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9900" y="546100"/>
            <a:ext cx="3289300" cy="4311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Classification</a:t>
            </a:r>
            <a:r>
              <a:rPr lang="en-US" dirty="0">
                <a:solidFill>
                  <a:schemeClr val="tx1"/>
                </a:solidFill>
              </a:rPr>
              <a:t>: is input of type A or not?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e.g. is n prime? is list sorted?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Computation</a:t>
            </a:r>
            <a:r>
              <a:rPr lang="en-US" dirty="0">
                <a:solidFill>
                  <a:schemeClr val="tx1"/>
                </a:solidFill>
              </a:rPr>
              <a:t>: for specific input, what value should I output? 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e.g. what's min cost of Hamiltonian tour? 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72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006600"/>
            <a:ext cx="509270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Bird's eye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Pick a model of computation</a:t>
            </a:r>
          </a:p>
          <a:p>
            <a:endParaRPr lang="en-US"/>
          </a:p>
          <a:p>
            <a:r>
              <a:rPr lang="en-US"/>
              <a:t>Study what problems it can solve</a:t>
            </a:r>
          </a:p>
          <a:p>
            <a:endParaRPr lang="en-US"/>
          </a:p>
          <a:p>
            <a:r>
              <a:rPr lang="en-US"/>
              <a:t>Prove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9900" y="546100"/>
            <a:ext cx="3289300" cy="4311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92934"/>
                </a:solidFill>
              </a:rPr>
              <a:t>Classification</a:t>
            </a:r>
            <a:r>
              <a:rPr lang="en-US">
                <a:solidFill>
                  <a:srgbClr val="292934"/>
                </a:solidFill>
              </a:rPr>
              <a:t>: is input of type A or not?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Decision problem</a:t>
            </a:r>
          </a:p>
          <a:p>
            <a:pPr algn="ctr"/>
            <a:endParaRPr lang="en-US"/>
          </a:p>
          <a:p>
            <a:pPr algn="ctr"/>
            <a:r>
              <a:rPr lang="en-US" b="1">
                <a:solidFill>
                  <a:srgbClr val="292934"/>
                </a:solidFill>
              </a:rPr>
              <a:t>Computation</a:t>
            </a:r>
            <a:r>
              <a:rPr lang="en-US">
                <a:solidFill>
                  <a:srgbClr val="292934"/>
                </a:solidFill>
              </a:rPr>
              <a:t>: for specific input, what value should I output? 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Function problem</a:t>
            </a:r>
          </a:p>
          <a:p>
            <a:pPr algn="ctr"/>
            <a:endParaRPr lang="en-US" b="1"/>
          </a:p>
          <a:p>
            <a:pPr algn="ctr"/>
            <a:endParaRPr lang="en-US" b="1"/>
          </a:p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81804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006600"/>
            <a:ext cx="509270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Bird's eye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Pick a model of computation</a:t>
            </a:r>
          </a:p>
          <a:p>
            <a:endParaRPr lang="en-US"/>
          </a:p>
          <a:p>
            <a:r>
              <a:rPr lang="en-US"/>
              <a:t>Study what problems it can solve</a:t>
            </a:r>
          </a:p>
          <a:p>
            <a:endParaRPr lang="en-US"/>
          </a:p>
          <a:p>
            <a:r>
              <a:rPr lang="en-US"/>
              <a:t>Prove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9900" y="546100"/>
            <a:ext cx="3289300" cy="4311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92934"/>
                </a:solidFill>
              </a:rPr>
              <a:t>Classification</a:t>
            </a:r>
            <a:r>
              <a:rPr lang="en-US">
                <a:solidFill>
                  <a:srgbClr val="292934"/>
                </a:solidFill>
              </a:rPr>
              <a:t>: is input of type A or not?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Decision problem</a:t>
            </a:r>
          </a:p>
          <a:p>
            <a:pPr algn="ctr"/>
            <a:endParaRPr lang="en-US"/>
          </a:p>
          <a:p>
            <a:pPr algn="ctr"/>
            <a:r>
              <a:rPr lang="en-US" b="1">
                <a:solidFill>
                  <a:schemeClr val="accent5"/>
                </a:solidFill>
              </a:rPr>
              <a:t>Computation</a:t>
            </a:r>
            <a:r>
              <a:rPr lang="en-US">
                <a:solidFill>
                  <a:schemeClr val="accent5"/>
                </a:solidFill>
              </a:rPr>
              <a:t>: for specific input, what value should I output? </a:t>
            </a:r>
          </a:p>
          <a:p>
            <a:pPr algn="ctr"/>
            <a:r>
              <a:rPr lang="en-US" b="1">
                <a:solidFill>
                  <a:schemeClr val="accent5"/>
                </a:solidFill>
              </a:rPr>
              <a:t>Function problem</a:t>
            </a:r>
          </a:p>
          <a:p>
            <a:pPr algn="ctr"/>
            <a:endParaRPr lang="en-US" b="1"/>
          </a:p>
          <a:p>
            <a:pPr algn="ctr"/>
            <a:endParaRPr lang="en-US" b="1"/>
          </a:p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524054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006600"/>
            <a:ext cx="509270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Bird's eye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Pick a model of computation</a:t>
            </a:r>
          </a:p>
          <a:p>
            <a:endParaRPr lang="en-US"/>
          </a:p>
          <a:p>
            <a:r>
              <a:rPr lang="en-US"/>
              <a:t>Study what problems it can solve</a:t>
            </a:r>
          </a:p>
          <a:p>
            <a:endParaRPr lang="en-US"/>
          </a:p>
          <a:p>
            <a:r>
              <a:rPr lang="en-US"/>
              <a:t>Prove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9900" y="546100"/>
            <a:ext cx="3289300" cy="4311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92934"/>
                </a:solidFill>
              </a:rPr>
              <a:t>Classification</a:t>
            </a:r>
            <a:r>
              <a:rPr lang="en-US">
                <a:solidFill>
                  <a:srgbClr val="292934"/>
                </a:solidFill>
              </a:rPr>
              <a:t>: is input of type A or not?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Decision problem</a:t>
            </a:r>
          </a:p>
          <a:p>
            <a:pPr algn="ctr"/>
            <a:endParaRPr lang="en-US" b="1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rgbClr val="292934"/>
                </a:solidFill>
              </a:rPr>
              <a:t>{ w | w is of type A}</a:t>
            </a:r>
          </a:p>
          <a:p>
            <a:pPr algn="ctr"/>
            <a:endParaRPr lang="en-US">
              <a:solidFill>
                <a:srgbClr val="292934"/>
              </a:solidFill>
            </a:endParaRPr>
          </a:p>
          <a:p>
            <a:pPr algn="ctr"/>
            <a:r>
              <a:rPr lang="en-US" sz="1500">
                <a:solidFill>
                  <a:srgbClr val="292934"/>
                </a:solidFill>
              </a:rPr>
              <a:t>PRIME = { 2, 3, 5, 7, … }</a:t>
            </a:r>
          </a:p>
          <a:p>
            <a:pPr algn="ctr"/>
            <a:r>
              <a:rPr lang="en-US" sz="1500">
                <a:solidFill>
                  <a:srgbClr val="292934"/>
                </a:solidFill>
              </a:rPr>
              <a:t>SORTED = { &lt;1,3&gt;, &lt;-1, 8, 17&gt; …}</a:t>
            </a:r>
          </a:p>
          <a:p>
            <a:pPr algn="ctr"/>
            <a:endParaRPr lang="en-US">
              <a:solidFill>
                <a:srgbClr val="292934"/>
              </a:solidFill>
            </a:endParaRPr>
          </a:p>
          <a:p>
            <a:pPr algn="ctr"/>
            <a:r>
              <a:rPr lang="en-US">
                <a:solidFill>
                  <a:schemeClr val="tx2"/>
                </a:solidFill>
              </a:rPr>
              <a:t>Decision problems are coded by sets of strings</a:t>
            </a:r>
          </a:p>
        </p:txBody>
      </p:sp>
    </p:spTree>
    <p:extLst>
      <p:ext uri="{BB962C8B-B14F-4D97-AF65-F5344CB8AC3E}">
        <p14:creationId xmlns:p14="http://schemas.microsoft.com/office/powerpoint/2010/main" val="1345132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Models of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Finite automata</a:t>
            </a:r>
          </a:p>
          <a:p>
            <a:endParaRPr lang="en-US"/>
          </a:p>
          <a:p>
            <a:r>
              <a:rPr lang="en-US"/>
              <a:t>Context-free grammars</a:t>
            </a:r>
          </a:p>
          <a:p>
            <a:endParaRPr lang="en-US"/>
          </a:p>
          <a:p>
            <a:r>
              <a:rPr lang="en-US"/>
              <a:t>Turing machines</a:t>
            </a:r>
          </a:p>
        </p:txBody>
      </p:sp>
    </p:spTree>
    <p:extLst>
      <p:ext uri="{BB962C8B-B14F-4D97-AF65-F5344CB8AC3E}">
        <p14:creationId xmlns:p14="http://schemas.microsoft.com/office/powerpoint/2010/main" val="2379867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Models of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Finite automata</a:t>
            </a:r>
          </a:p>
          <a:p>
            <a:endParaRPr lang="en-US"/>
          </a:p>
          <a:p>
            <a:r>
              <a:rPr lang="en-US"/>
              <a:t>Context-free grammars</a:t>
            </a:r>
          </a:p>
          <a:p>
            <a:endParaRPr lang="en-US"/>
          </a:p>
          <a:p>
            <a:r>
              <a:rPr lang="en-US"/>
              <a:t>Turing machines</a:t>
            </a:r>
          </a:p>
        </p:txBody>
      </p:sp>
      <p:pic>
        <p:nvPicPr>
          <p:cNvPr id="4" name="Picture 3" descr="VennDiagra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239" y="1702576"/>
            <a:ext cx="4732761" cy="315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53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let's get going </a:t>
            </a:r>
            <a:r>
              <a:rPr lang="en-US">
                <a:sym typeface="Wingdings"/>
              </a:rPr>
              <a:t>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r>
              <a:rPr lang="en-US" b="1" dirty="0"/>
              <a:t>Textbook</a:t>
            </a:r>
            <a:r>
              <a:rPr lang="en-US" dirty="0"/>
              <a:t> reference: Chapter 0, Section 1.1</a:t>
            </a:r>
          </a:p>
          <a:p>
            <a:endParaRPr lang="en-US" b="1" dirty="0"/>
          </a:p>
          <a:p>
            <a:r>
              <a:rPr lang="en-US" b="1" dirty="0"/>
              <a:t>First topic: </a:t>
            </a:r>
            <a:r>
              <a:rPr lang="en-US" dirty="0"/>
              <a:t>Automata (DFA)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63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686800" cy="3657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 processing 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tx2"/>
                </a:solidFill>
              </a:rPr>
              <a:t>grep, </a:t>
            </a:r>
            <a:r>
              <a:rPr lang="en-US" dirty="0" err="1">
                <a:solidFill>
                  <a:schemeClr val="tx2"/>
                </a:solidFill>
              </a:rPr>
              <a:t>regexp</a:t>
            </a:r>
            <a:r>
              <a:rPr lang="en-US" dirty="0"/>
              <a:t>	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2" indent="0">
              <a:buNone/>
            </a:pPr>
            <a:endParaRPr lang="en-US" dirty="0">
              <a:solidFill>
                <a:srgbClr val="292934"/>
              </a:solidFill>
            </a:endParaRPr>
          </a:p>
          <a:p>
            <a:r>
              <a:rPr lang="en-US" dirty="0">
                <a:solidFill>
                  <a:srgbClr val="292934"/>
                </a:solidFill>
              </a:rPr>
              <a:t>Natural language processing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Hardware design		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tx2"/>
                </a:solidFill>
              </a:rPr>
              <a:t>Moore machines</a:t>
            </a:r>
          </a:p>
          <a:p>
            <a:r>
              <a:rPr lang="en-US" dirty="0">
                <a:solidFill>
                  <a:srgbClr val="292934"/>
                </a:solidFill>
              </a:rPr>
              <a:t>Controllers / Robots</a:t>
            </a:r>
          </a:p>
          <a:p>
            <a:pPr marL="274320" lvl="2" indent="0">
              <a:buNone/>
            </a:pPr>
            <a:r>
              <a:rPr lang="en-US" dirty="0">
                <a:solidFill>
                  <a:schemeClr val="tx2"/>
                </a:solidFill>
              </a:rPr>
              <a:t>SPIS!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940" y="1033284"/>
            <a:ext cx="2563227" cy="1557516"/>
          </a:xfrm>
          <a:prstGeom prst="rect">
            <a:avLst/>
          </a:prstGeom>
        </p:spPr>
      </p:pic>
      <p:pic>
        <p:nvPicPr>
          <p:cNvPr id="7" name="Picture 6" descr="unnam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409" y="3277926"/>
            <a:ext cx="2335973" cy="1640416"/>
          </a:xfrm>
          <a:prstGeom prst="rect">
            <a:avLst/>
          </a:prstGeom>
        </p:spPr>
      </p:pic>
      <p:pic>
        <p:nvPicPr>
          <p:cNvPr id="8" name="Picture 7" descr="Screen Shot 2017-04-01 at 10.09.38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00" y="1143000"/>
            <a:ext cx="3594100" cy="1579824"/>
          </a:xfrm>
          <a:prstGeom prst="rect">
            <a:avLst/>
          </a:prstGeom>
        </p:spPr>
      </p:pic>
      <p:sp>
        <p:nvSpPr>
          <p:cNvPr id="4" name="Cloud Callout 3"/>
          <p:cNvSpPr/>
          <p:nvPr/>
        </p:nvSpPr>
        <p:spPr>
          <a:xfrm>
            <a:off x="4503410" y="231213"/>
            <a:ext cx="4640590" cy="911787"/>
          </a:xfrm>
          <a:prstGeom prst="cloudCallout">
            <a:avLst>
              <a:gd name="adj1" fmla="val -73099"/>
              <a:gd name="adj2" fmla="val 1576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Code input as strings</a:t>
            </a:r>
          </a:p>
          <a:p>
            <a:pPr algn="ctr"/>
            <a:r>
              <a:rPr lang="en-US"/>
              <a:t>Model memory using states</a:t>
            </a:r>
          </a:p>
        </p:txBody>
      </p:sp>
    </p:spTree>
    <p:extLst>
      <p:ext uri="{BB962C8B-B14F-4D97-AF65-F5344CB8AC3E}">
        <p14:creationId xmlns:p14="http://schemas.microsoft.com/office/powerpoint/2010/main" val="4057708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r>
              <a:rPr lang="en-US" dirty="0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  <a:p>
            <a:endParaRPr lang="en-US" dirty="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4128D2"/>
                </a:solidFill>
              </a:rPr>
              <a:t>When you approach the turnstile, will it open?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2AF0D"/>
                </a:solidFill>
              </a:rPr>
              <a:t>How can we model this problem as a classification question?</a:t>
            </a:r>
          </a:p>
        </p:txBody>
      </p:sp>
    </p:spTree>
    <p:extLst>
      <p:ext uri="{BB962C8B-B14F-4D97-AF65-F5344CB8AC3E}">
        <p14:creationId xmlns:p14="http://schemas.microsoft.com/office/powerpoint/2010/main" val="1580935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  <a:p>
            <a:endParaRPr lang="en-US" dirty="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4128D2"/>
                </a:solidFill>
              </a:rPr>
              <a:t>When you approach the turnstile, will it open?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2AF0D"/>
                </a:solidFill>
              </a:rPr>
              <a:t>How can we model this problem?</a:t>
            </a:r>
          </a:p>
          <a:p>
            <a:pPr marL="0" indent="0">
              <a:buNone/>
            </a:pPr>
            <a:r>
              <a:rPr lang="en-US" dirty="0"/>
              <a:t>Alphabet: {</a:t>
            </a:r>
            <a:r>
              <a:rPr lang="en-US" b="1" dirty="0"/>
              <a:t>t</a:t>
            </a:r>
            <a:r>
              <a:rPr lang="en-US" dirty="0">
                <a:solidFill>
                  <a:schemeClr val="accent5"/>
                </a:solidFill>
              </a:rPr>
              <a:t>oken entered</a:t>
            </a:r>
            <a:r>
              <a:rPr lang="en-US" dirty="0"/>
              <a:t>, </a:t>
            </a:r>
            <a:r>
              <a:rPr lang="en-US" b="1" dirty="0"/>
              <a:t>p</a:t>
            </a:r>
            <a:r>
              <a:rPr lang="en-US" dirty="0">
                <a:solidFill>
                  <a:srgbClr val="808DA0"/>
                </a:solidFill>
              </a:rPr>
              <a:t>ush</a:t>
            </a: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Input: sequence of moves</a:t>
            </a:r>
          </a:p>
          <a:p>
            <a:pPr marL="0" indent="0">
              <a:buNone/>
            </a:pPr>
            <a:r>
              <a:rPr lang="en-US" dirty="0"/>
              <a:t>Language: {sequences of moves giving unlocked gate}</a:t>
            </a:r>
          </a:p>
        </p:txBody>
      </p:sp>
    </p:spTree>
    <p:extLst>
      <p:ext uri="{BB962C8B-B14F-4D97-AF65-F5344CB8AC3E}">
        <p14:creationId xmlns:p14="http://schemas.microsoft.com/office/powerpoint/2010/main" val="2671259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r>
              <a:rPr lang="en-US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</p:txBody>
      </p:sp>
      <p:sp>
        <p:nvSpPr>
          <p:cNvPr id="4" name="Oval 3"/>
          <p:cNvSpPr/>
          <p:nvPr/>
        </p:nvSpPr>
        <p:spPr>
          <a:xfrm>
            <a:off x="1332602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Locked</a:t>
            </a:r>
          </a:p>
        </p:txBody>
      </p:sp>
      <p:sp>
        <p:nvSpPr>
          <p:cNvPr id="6" name="Oval 5"/>
          <p:cNvSpPr/>
          <p:nvPr/>
        </p:nvSpPr>
        <p:spPr>
          <a:xfrm>
            <a:off x="4683247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Unlocked</a:t>
            </a:r>
          </a:p>
        </p:txBody>
      </p:sp>
      <p:cxnSp>
        <p:nvCxnSpPr>
          <p:cNvPr id="8" name="Curved Connector 7"/>
          <p:cNvCxnSpPr>
            <a:stCxn id="4" idx="7"/>
            <a:endCxn id="6" idx="1"/>
          </p:cNvCxnSpPr>
          <p:nvPr/>
        </p:nvCxnSpPr>
        <p:spPr>
          <a:xfrm rot="5400000" flipH="1" flipV="1">
            <a:off x="3846679" y="2440837"/>
            <a:ext cx="12700" cy="2164467"/>
          </a:xfrm>
          <a:prstGeom prst="curvedConnector3">
            <a:avLst>
              <a:gd name="adj1" fmla="val 6080346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506" y="243413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14" name="Curved Connector 13"/>
          <p:cNvCxnSpPr>
            <a:stCxn id="6" idx="3"/>
            <a:endCxn id="4" idx="5"/>
          </p:cNvCxnSpPr>
          <p:nvPr/>
        </p:nvCxnSpPr>
        <p:spPr>
          <a:xfrm rot="5400000">
            <a:off x="3846680" y="3172673"/>
            <a:ext cx="12700" cy="2164467"/>
          </a:xfrm>
          <a:prstGeom prst="curvedConnector3">
            <a:avLst>
              <a:gd name="adj1" fmla="val 4228220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7790" y="4406474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589648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r>
              <a:rPr lang="en-US" dirty="0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</p:txBody>
      </p:sp>
      <p:sp>
        <p:nvSpPr>
          <p:cNvPr id="4" name="Oval 3"/>
          <p:cNvSpPr/>
          <p:nvPr/>
        </p:nvSpPr>
        <p:spPr>
          <a:xfrm>
            <a:off x="1332602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Locked</a:t>
            </a:r>
          </a:p>
        </p:txBody>
      </p:sp>
      <p:sp>
        <p:nvSpPr>
          <p:cNvPr id="6" name="Oval 5"/>
          <p:cNvSpPr/>
          <p:nvPr/>
        </p:nvSpPr>
        <p:spPr>
          <a:xfrm>
            <a:off x="4683247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Unlocked</a:t>
            </a:r>
          </a:p>
        </p:txBody>
      </p:sp>
      <p:cxnSp>
        <p:nvCxnSpPr>
          <p:cNvPr id="8" name="Curved Connector 7"/>
          <p:cNvCxnSpPr>
            <a:stCxn id="4" idx="7"/>
            <a:endCxn id="6" idx="1"/>
          </p:cNvCxnSpPr>
          <p:nvPr/>
        </p:nvCxnSpPr>
        <p:spPr>
          <a:xfrm rot="5400000" flipH="1" flipV="1">
            <a:off x="3846679" y="2440837"/>
            <a:ext cx="12700" cy="2164467"/>
          </a:xfrm>
          <a:prstGeom prst="curvedConnector3">
            <a:avLst>
              <a:gd name="adj1" fmla="val 6080346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506" y="243413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14" name="Curved Connector 13"/>
          <p:cNvCxnSpPr>
            <a:stCxn id="6" idx="3"/>
            <a:endCxn id="4" idx="5"/>
          </p:cNvCxnSpPr>
          <p:nvPr/>
        </p:nvCxnSpPr>
        <p:spPr>
          <a:xfrm rot="5400000">
            <a:off x="3846680" y="3172673"/>
            <a:ext cx="12700" cy="2164467"/>
          </a:xfrm>
          <a:prstGeom prst="curvedConnector3">
            <a:avLst>
              <a:gd name="adj1" fmla="val 4228220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7790" y="4406474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5264" y="1143000"/>
            <a:ext cx="3934393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What happens if the turnstile is pushed while locked?</a:t>
            </a:r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Transition to unlocked</a:t>
            </a:r>
          </a:p>
          <a:p>
            <a:pPr marL="342900" indent="-342900">
              <a:buAutoNum type="alphaUcPeriod"/>
            </a:pPr>
            <a:r>
              <a:rPr lang="en-US" dirty="0"/>
              <a:t>Stay locked</a:t>
            </a:r>
          </a:p>
          <a:p>
            <a:pPr marL="342900" indent="-342900">
              <a:buAutoNum type="alphaUcPeriod"/>
            </a:pPr>
            <a:r>
              <a:rPr lang="en-US" dirty="0"/>
              <a:t>Send error message</a:t>
            </a:r>
          </a:p>
          <a:p>
            <a:pPr marL="342900" indent="-342900">
              <a:buAutoNum type="alphaUcPeriod"/>
            </a:pPr>
            <a:r>
              <a:rPr lang="en-US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339027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r>
              <a:rPr lang="en-US" dirty="0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</p:txBody>
      </p:sp>
      <p:sp>
        <p:nvSpPr>
          <p:cNvPr id="4" name="Oval 3"/>
          <p:cNvSpPr/>
          <p:nvPr/>
        </p:nvSpPr>
        <p:spPr>
          <a:xfrm>
            <a:off x="1332602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Locked</a:t>
            </a:r>
          </a:p>
        </p:txBody>
      </p:sp>
      <p:sp>
        <p:nvSpPr>
          <p:cNvPr id="6" name="Oval 5"/>
          <p:cNvSpPr/>
          <p:nvPr/>
        </p:nvSpPr>
        <p:spPr>
          <a:xfrm>
            <a:off x="4683247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Unlocked</a:t>
            </a:r>
          </a:p>
        </p:txBody>
      </p:sp>
      <p:cxnSp>
        <p:nvCxnSpPr>
          <p:cNvPr id="8" name="Curved Connector 7"/>
          <p:cNvCxnSpPr>
            <a:stCxn id="4" idx="7"/>
            <a:endCxn id="6" idx="1"/>
          </p:cNvCxnSpPr>
          <p:nvPr/>
        </p:nvCxnSpPr>
        <p:spPr>
          <a:xfrm rot="5400000" flipH="1" flipV="1">
            <a:off x="3846679" y="2440837"/>
            <a:ext cx="12700" cy="2164467"/>
          </a:xfrm>
          <a:prstGeom prst="curvedConnector3">
            <a:avLst>
              <a:gd name="adj1" fmla="val 6080346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506" y="243413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14" name="Curved Connector 13"/>
          <p:cNvCxnSpPr>
            <a:stCxn id="6" idx="3"/>
            <a:endCxn id="4" idx="5"/>
          </p:cNvCxnSpPr>
          <p:nvPr/>
        </p:nvCxnSpPr>
        <p:spPr>
          <a:xfrm rot="5400000">
            <a:off x="3846680" y="3172673"/>
            <a:ext cx="12700" cy="2164467"/>
          </a:xfrm>
          <a:prstGeom prst="curvedConnector3">
            <a:avLst>
              <a:gd name="adj1" fmla="val 4228220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7790" y="4406474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cxnSp>
        <p:nvCxnSpPr>
          <p:cNvPr id="12" name="Curved Connector 11"/>
          <p:cNvCxnSpPr>
            <a:endCxn id="4" idx="0"/>
          </p:cNvCxnSpPr>
          <p:nvPr/>
        </p:nvCxnSpPr>
        <p:spPr>
          <a:xfrm>
            <a:off x="1912679" y="3371502"/>
            <a:ext cx="258678" cy="12700"/>
          </a:xfrm>
          <a:prstGeom prst="curvedConnector4">
            <a:avLst>
              <a:gd name="adj1" fmla="val -135875"/>
              <a:gd name="adj2" fmla="val -6349394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69768" y="2618797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cxnSp>
        <p:nvCxnSpPr>
          <p:cNvPr id="20" name="Curved Connector 19"/>
          <p:cNvCxnSpPr>
            <a:endCxn id="6" idx="0"/>
          </p:cNvCxnSpPr>
          <p:nvPr/>
        </p:nvCxnSpPr>
        <p:spPr>
          <a:xfrm rot="10800000">
            <a:off x="5522003" y="3371502"/>
            <a:ext cx="200347" cy="12700"/>
          </a:xfrm>
          <a:prstGeom prst="curvedConnector4">
            <a:avLst>
              <a:gd name="adj1" fmla="val -204550"/>
              <a:gd name="adj2" fmla="val 7826827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6456" y="261879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312422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r>
              <a:rPr lang="en-US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</p:txBody>
      </p:sp>
      <p:sp>
        <p:nvSpPr>
          <p:cNvPr id="4" name="Oval 3"/>
          <p:cNvSpPr/>
          <p:nvPr/>
        </p:nvSpPr>
        <p:spPr>
          <a:xfrm>
            <a:off x="1332602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Locked</a:t>
            </a:r>
          </a:p>
        </p:txBody>
      </p:sp>
      <p:sp>
        <p:nvSpPr>
          <p:cNvPr id="6" name="Oval 5"/>
          <p:cNvSpPr/>
          <p:nvPr/>
        </p:nvSpPr>
        <p:spPr>
          <a:xfrm>
            <a:off x="4683247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Unlocked</a:t>
            </a:r>
          </a:p>
        </p:txBody>
      </p:sp>
      <p:cxnSp>
        <p:nvCxnSpPr>
          <p:cNvPr id="8" name="Curved Connector 7"/>
          <p:cNvCxnSpPr>
            <a:stCxn id="4" idx="7"/>
            <a:endCxn id="6" idx="1"/>
          </p:cNvCxnSpPr>
          <p:nvPr/>
        </p:nvCxnSpPr>
        <p:spPr>
          <a:xfrm rot="5400000" flipH="1" flipV="1">
            <a:off x="3846679" y="2440837"/>
            <a:ext cx="12700" cy="2164467"/>
          </a:xfrm>
          <a:prstGeom prst="curvedConnector3">
            <a:avLst>
              <a:gd name="adj1" fmla="val 6080346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506" y="243413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14" name="Curved Connector 13"/>
          <p:cNvCxnSpPr>
            <a:stCxn id="6" idx="3"/>
            <a:endCxn id="4" idx="5"/>
          </p:cNvCxnSpPr>
          <p:nvPr/>
        </p:nvCxnSpPr>
        <p:spPr>
          <a:xfrm rot="5400000">
            <a:off x="3846680" y="3172673"/>
            <a:ext cx="12700" cy="2164467"/>
          </a:xfrm>
          <a:prstGeom prst="curvedConnector3">
            <a:avLst>
              <a:gd name="adj1" fmla="val 4228220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7790" y="4406474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cxnSp>
        <p:nvCxnSpPr>
          <p:cNvPr id="12" name="Curved Connector 11"/>
          <p:cNvCxnSpPr>
            <a:endCxn id="4" idx="0"/>
          </p:cNvCxnSpPr>
          <p:nvPr/>
        </p:nvCxnSpPr>
        <p:spPr>
          <a:xfrm>
            <a:off x="1912679" y="3371502"/>
            <a:ext cx="258678" cy="12700"/>
          </a:xfrm>
          <a:prstGeom prst="curvedConnector4">
            <a:avLst>
              <a:gd name="adj1" fmla="val -135875"/>
              <a:gd name="adj2" fmla="val -6349394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endCxn id="6" idx="0"/>
          </p:cNvCxnSpPr>
          <p:nvPr/>
        </p:nvCxnSpPr>
        <p:spPr>
          <a:xfrm rot="10800000">
            <a:off x="5522003" y="3371502"/>
            <a:ext cx="200347" cy="12700"/>
          </a:xfrm>
          <a:prstGeom prst="curvedConnector4">
            <a:avLst>
              <a:gd name="adj1" fmla="val -204550"/>
              <a:gd name="adj2" fmla="val 7826827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6456" y="261879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5264" y="1143000"/>
            <a:ext cx="393439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What's the initial state of the turnstile?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Locked</a:t>
            </a:r>
          </a:p>
          <a:p>
            <a:pPr marL="342900" indent="-342900">
              <a:buAutoNum type="alphaUcPeriod"/>
            </a:pPr>
            <a:r>
              <a:rPr lang="en-US"/>
              <a:t>Unlocked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9768" y="2618797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601599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/>
          <a:lstStyle/>
          <a:p>
            <a:r>
              <a:rPr lang="en-US">
                <a:solidFill>
                  <a:srgbClr val="292934"/>
                </a:solidFill>
              </a:rPr>
              <a:t>A subway turnstile is locked until a token is entered, at which point it unlocks in response to a single push, after which it locks again.</a:t>
            </a:r>
          </a:p>
        </p:txBody>
      </p:sp>
      <p:sp>
        <p:nvSpPr>
          <p:cNvPr id="4" name="Oval 3"/>
          <p:cNvSpPr/>
          <p:nvPr/>
        </p:nvSpPr>
        <p:spPr>
          <a:xfrm>
            <a:off x="1332602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Locked</a:t>
            </a:r>
          </a:p>
        </p:txBody>
      </p:sp>
      <p:sp>
        <p:nvSpPr>
          <p:cNvPr id="6" name="Oval 5"/>
          <p:cNvSpPr/>
          <p:nvPr/>
        </p:nvSpPr>
        <p:spPr>
          <a:xfrm>
            <a:off x="4683247" y="3371502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Unlocked</a:t>
            </a:r>
          </a:p>
        </p:txBody>
      </p:sp>
      <p:cxnSp>
        <p:nvCxnSpPr>
          <p:cNvPr id="8" name="Curved Connector 7"/>
          <p:cNvCxnSpPr>
            <a:stCxn id="4" idx="7"/>
            <a:endCxn id="6" idx="1"/>
          </p:cNvCxnSpPr>
          <p:nvPr/>
        </p:nvCxnSpPr>
        <p:spPr>
          <a:xfrm rot="5400000" flipH="1" flipV="1">
            <a:off x="3846679" y="2440837"/>
            <a:ext cx="12700" cy="2164467"/>
          </a:xfrm>
          <a:prstGeom prst="curvedConnector3">
            <a:avLst>
              <a:gd name="adj1" fmla="val 6080346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506" y="243413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14" name="Curved Connector 13"/>
          <p:cNvCxnSpPr>
            <a:stCxn id="6" idx="3"/>
            <a:endCxn id="4" idx="5"/>
          </p:cNvCxnSpPr>
          <p:nvPr/>
        </p:nvCxnSpPr>
        <p:spPr>
          <a:xfrm rot="5400000">
            <a:off x="3846680" y="3172673"/>
            <a:ext cx="12700" cy="2164467"/>
          </a:xfrm>
          <a:prstGeom prst="curvedConnector3">
            <a:avLst>
              <a:gd name="adj1" fmla="val 4228220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7790" y="4406474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cxnSp>
        <p:nvCxnSpPr>
          <p:cNvPr id="12" name="Curved Connector 11"/>
          <p:cNvCxnSpPr>
            <a:endCxn id="4" idx="0"/>
          </p:cNvCxnSpPr>
          <p:nvPr/>
        </p:nvCxnSpPr>
        <p:spPr>
          <a:xfrm>
            <a:off x="1912679" y="3371502"/>
            <a:ext cx="258678" cy="12700"/>
          </a:xfrm>
          <a:prstGeom prst="curvedConnector4">
            <a:avLst>
              <a:gd name="adj1" fmla="val -135875"/>
              <a:gd name="adj2" fmla="val -6349394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endCxn id="6" idx="0"/>
          </p:cNvCxnSpPr>
          <p:nvPr/>
        </p:nvCxnSpPr>
        <p:spPr>
          <a:xfrm rot="10800000">
            <a:off x="5522003" y="3371502"/>
            <a:ext cx="200347" cy="12700"/>
          </a:xfrm>
          <a:prstGeom prst="curvedConnector4">
            <a:avLst>
              <a:gd name="adj1" fmla="val -204550"/>
              <a:gd name="adj2" fmla="val 7826827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6456" y="261879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9" name="Straight Arrow Connector 8"/>
          <p:cNvCxnSpPr>
            <a:endCxn id="4" idx="2"/>
          </p:cNvCxnSpPr>
          <p:nvPr/>
        </p:nvCxnSpPr>
        <p:spPr>
          <a:xfrm>
            <a:off x="457200" y="3888988"/>
            <a:ext cx="875402" cy="0"/>
          </a:xfrm>
          <a:prstGeom prst="straightConnector1">
            <a:avLst/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69768" y="2618797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117550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Finite automata and decision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problem </a:t>
            </a:r>
            <a:r>
              <a:rPr lang="en-US" dirty="0">
                <a:solidFill>
                  <a:srgbClr val="4128D2"/>
                </a:solidFill>
              </a:rPr>
              <a:t>"is w of type A?" </a:t>
            </a:r>
            <a:r>
              <a:rPr lang="en-US" dirty="0"/>
              <a:t>coded by the set</a:t>
            </a:r>
            <a:endParaRPr lang="en-US" dirty="0">
              <a:solidFill>
                <a:srgbClr val="4128D2"/>
              </a:solidFill>
            </a:endParaRPr>
          </a:p>
          <a:p>
            <a:pPr marL="0" indent="0" algn="ctr">
              <a:buNone/>
            </a:pPr>
            <a:r>
              <a:rPr lang="en-US" dirty="0"/>
              <a:t>{ w | w is of type A}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problem is </a:t>
            </a:r>
            <a:r>
              <a:rPr lang="en-US" b="1" dirty="0"/>
              <a:t>solved </a:t>
            </a:r>
            <a:r>
              <a:rPr lang="en-US" dirty="0"/>
              <a:t>by a finite automaton if</a:t>
            </a:r>
          </a:p>
          <a:p>
            <a:pPr marL="0" indent="0">
              <a:buNone/>
            </a:pPr>
            <a:r>
              <a:rPr lang="en-US" dirty="0"/>
              <a:t>the machine </a:t>
            </a:r>
            <a:r>
              <a:rPr lang="en-US" i="1" dirty="0"/>
              <a:t>accepts</a:t>
            </a:r>
            <a:r>
              <a:rPr lang="en-US" dirty="0"/>
              <a:t> all w for which the answer is yes and </a:t>
            </a:r>
            <a:r>
              <a:rPr lang="en-US" i="1" dirty="0"/>
              <a:t>rejects</a:t>
            </a:r>
            <a:r>
              <a:rPr lang="en-US" dirty="0"/>
              <a:t> all w for which the answer is no</a:t>
            </a:r>
          </a:p>
        </p:txBody>
      </p:sp>
      <p:sp>
        <p:nvSpPr>
          <p:cNvPr id="4" name="Line Callout 1 3"/>
          <p:cNvSpPr/>
          <p:nvPr/>
        </p:nvSpPr>
        <p:spPr>
          <a:xfrm>
            <a:off x="6642100" y="1676400"/>
            <a:ext cx="2044700" cy="1066800"/>
          </a:xfrm>
          <a:prstGeom prst="borderCallout1">
            <a:avLst>
              <a:gd name="adj1" fmla="val 74702"/>
              <a:gd name="adj2" fmla="val -8333"/>
              <a:gd name="adj3" fmla="val 38691"/>
              <a:gd name="adj4" fmla="val -985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Those inputs for which the answer is "yes"</a:t>
            </a:r>
          </a:p>
        </p:txBody>
      </p:sp>
    </p:spTree>
    <p:extLst>
      <p:ext uri="{BB962C8B-B14F-4D97-AF65-F5344CB8AC3E}">
        <p14:creationId xmlns:p14="http://schemas.microsoft.com/office/powerpoint/2010/main" val="2064463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subway turnstile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Problem: </a:t>
            </a:r>
            <a:r>
              <a:rPr lang="en-US" sz="2000" dirty="0"/>
              <a:t>Which sequences of moves will unlock turnstile?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Alphabet</a:t>
            </a:r>
            <a:r>
              <a:rPr lang="en-US" sz="2000" dirty="0"/>
              <a:t>: {</a:t>
            </a:r>
            <a:r>
              <a:rPr lang="en-US" sz="2000" b="1" dirty="0"/>
              <a:t>t</a:t>
            </a:r>
            <a:r>
              <a:rPr lang="en-US" sz="2000" dirty="0"/>
              <a:t>, </a:t>
            </a:r>
            <a:r>
              <a:rPr lang="en-US" sz="2000" b="1" dirty="0"/>
              <a:t>p</a:t>
            </a:r>
            <a:r>
              <a:rPr lang="en-US" sz="2000" dirty="0"/>
              <a:t>}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4128D2"/>
                </a:solidFill>
              </a:rPr>
              <a:t>Language</a:t>
            </a:r>
            <a:r>
              <a:rPr lang="en-US" sz="2000" dirty="0"/>
              <a:t>: {sequences of moves giving unlocked gate} = { t, ppt, …}</a:t>
            </a:r>
          </a:p>
          <a:p>
            <a:pPr marL="0" indent="0">
              <a:buNone/>
            </a:pPr>
            <a:r>
              <a:rPr lang="en-US" sz="2000" dirty="0"/>
              <a:t>		= {strings over alphabet that, when input to this 				automaton, end in Unlocked state}</a:t>
            </a:r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4" name="Oval 3"/>
          <p:cNvSpPr/>
          <p:nvPr/>
        </p:nvSpPr>
        <p:spPr>
          <a:xfrm>
            <a:off x="2739983" y="3691945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Locked</a:t>
            </a:r>
          </a:p>
        </p:txBody>
      </p:sp>
      <p:sp>
        <p:nvSpPr>
          <p:cNvPr id="5" name="Oval 4"/>
          <p:cNvSpPr/>
          <p:nvPr/>
        </p:nvSpPr>
        <p:spPr>
          <a:xfrm>
            <a:off x="6090628" y="3691945"/>
            <a:ext cx="1677510" cy="10349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Unlocked</a:t>
            </a:r>
          </a:p>
        </p:txBody>
      </p:sp>
      <p:cxnSp>
        <p:nvCxnSpPr>
          <p:cNvPr id="6" name="Curved Connector 5"/>
          <p:cNvCxnSpPr>
            <a:stCxn id="4" idx="7"/>
            <a:endCxn id="5" idx="1"/>
          </p:cNvCxnSpPr>
          <p:nvPr/>
        </p:nvCxnSpPr>
        <p:spPr>
          <a:xfrm rot="5400000" flipH="1" flipV="1">
            <a:off x="5254060" y="2761280"/>
            <a:ext cx="12700" cy="2164467"/>
          </a:xfrm>
          <a:prstGeom prst="curvedConnector3">
            <a:avLst>
              <a:gd name="adj1" fmla="val 3169394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36887" y="309741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8" name="Curved Connector 7"/>
          <p:cNvCxnSpPr>
            <a:stCxn id="5" idx="3"/>
            <a:endCxn id="4" idx="5"/>
          </p:cNvCxnSpPr>
          <p:nvPr/>
        </p:nvCxnSpPr>
        <p:spPr>
          <a:xfrm rot="5400000">
            <a:off x="5254061" y="3493116"/>
            <a:ext cx="12700" cy="2164467"/>
          </a:xfrm>
          <a:prstGeom prst="curvedConnector3">
            <a:avLst>
              <a:gd name="adj1" fmla="val 2709472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5171" y="4397034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cxnSp>
        <p:nvCxnSpPr>
          <p:cNvPr id="10" name="Curved Connector 9"/>
          <p:cNvCxnSpPr>
            <a:endCxn id="4" idx="0"/>
          </p:cNvCxnSpPr>
          <p:nvPr/>
        </p:nvCxnSpPr>
        <p:spPr>
          <a:xfrm>
            <a:off x="3320060" y="3691945"/>
            <a:ext cx="258678" cy="12700"/>
          </a:xfrm>
          <a:prstGeom prst="curvedConnector4">
            <a:avLst>
              <a:gd name="adj1" fmla="val -135875"/>
              <a:gd name="adj2" fmla="val -4324394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endCxn id="5" idx="0"/>
          </p:cNvCxnSpPr>
          <p:nvPr/>
        </p:nvCxnSpPr>
        <p:spPr>
          <a:xfrm rot="10800000">
            <a:off x="6929384" y="3691945"/>
            <a:ext cx="200347" cy="12700"/>
          </a:xfrm>
          <a:prstGeom prst="curvedConnector4">
            <a:avLst>
              <a:gd name="adj1" fmla="val -204550"/>
              <a:gd name="adj2" fmla="val 4915890"/>
            </a:avLst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3837" y="293924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t</a:t>
            </a:r>
          </a:p>
        </p:txBody>
      </p:sp>
      <p:cxnSp>
        <p:nvCxnSpPr>
          <p:cNvPr id="13" name="Straight Arrow Connector 12"/>
          <p:cNvCxnSpPr>
            <a:endCxn id="4" idx="2"/>
          </p:cNvCxnSpPr>
          <p:nvPr/>
        </p:nvCxnSpPr>
        <p:spPr>
          <a:xfrm>
            <a:off x="1864581" y="4209431"/>
            <a:ext cx="875402" cy="0"/>
          </a:xfrm>
          <a:prstGeom prst="straightConnector1">
            <a:avLst/>
          </a:prstGeom>
          <a:ln>
            <a:solidFill>
              <a:srgbClr val="4128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77149" y="2939240"/>
            <a:ext cx="32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</a:t>
            </a:r>
          </a:p>
        </p:txBody>
      </p:sp>
      <p:sp>
        <p:nvSpPr>
          <p:cNvPr id="20" name="Oval 19"/>
          <p:cNvSpPr/>
          <p:nvPr/>
        </p:nvSpPr>
        <p:spPr>
          <a:xfrm>
            <a:off x="6162779" y="3744829"/>
            <a:ext cx="1533209" cy="92920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CD71-C7CF-446D-8A18-1A1742DD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alphabet?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E39F-B9F7-4853-B7F1-72DEA7FA3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alphabet</a:t>
            </a:r>
            <a:r>
              <a:rPr lang="en-US" dirty="0"/>
              <a:t>, denoted by Σ, is a finite, non-empty set of symbols. </a:t>
            </a:r>
          </a:p>
          <a:p>
            <a:pPr marL="0" indent="0">
              <a:buNone/>
            </a:pPr>
            <a:endParaRPr lang="en-US" dirty="0"/>
          </a:p>
          <a:p>
            <a:r>
              <a:rPr lang="el-GR" dirty="0"/>
              <a:t>Σ = {</a:t>
            </a:r>
            <a:r>
              <a:rPr lang="en-US" dirty="0"/>
              <a:t>a, b} </a:t>
            </a:r>
          </a:p>
          <a:p>
            <a:r>
              <a:rPr lang="en-US" dirty="0"/>
              <a:t>Unary alphabet </a:t>
            </a:r>
            <a:r>
              <a:rPr lang="el-GR" dirty="0"/>
              <a:t>Σ = {1} </a:t>
            </a:r>
            <a:endParaRPr lang="en-US" dirty="0"/>
          </a:p>
          <a:p>
            <a:r>
              <a:rPr lang="en-US" dirty="0"/>
              <a:t>Binary alphabet </a:t>
            </a:r>
            <a:r>
              <a:rPr lang="el-GR" dirty="0"/>
              <a:t>Σ = {0, 1} </a:t>
            </a:r>
            <a:endParaRPr lang="en-US" dirty="0"/>
          </a:p>
          <a:p>
            <a:r>
              <a:rPr lang="en-US" dirty="0"/>
              <a:t>English alphabet </a:t>
            </a:r>
            <a:r>
              <a:rPr lang="el-GR" dirty="0"/>
              <a:t>Σ = {</a:t>
            </a:r>
            <a:r>
              <a:rPr lang="en-US" dirty="0"/>
              <a:t>a, . . . , z, A, . . . , Z} </a:t>
            </a:r>
          </a:p>
          <a:p>
            <a:r>
              <a:rPr lang="en-US" dirty="0"/>
              <a:t>Alphanumeric alphabet </a:t>
            </a:r>
            <a:r>
              <a:rPr lang="el-GR" dirty="0"/>
              <a:t>Σ = {</a:t>
            </a:r>
            <a:r>
              <a:rPr lang="en-US" dirty="0"/>
              <a:t>a-z, A-Z, 0-9}</a:t>
            </a:r>
          </a:p>
        </p:txBody>
      </p:sp>
    </p:spTree>
    <p:extLst>
      <p:ext uri="{BB962C8B-B14F-4D97-AF65-F5344CB8AC3E}">
        <p14:creationId xmlns:p14="http://schemas.microsoft.com/office/powerpoint/2010/main" val="1443264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AF87-B7BE-4C9F-813C-48880BAF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 of an alphabet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5EF7-D181-4036-95D4-CFD016EE7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Σ = Some alphabet </a:t>
            </a:r>
          </a:p>
          <a:p>
            <a:r>
              <a:rPr lang="en-US" dirty="0" err="1"/>
              <a:t>Σ</a:t>
            </a:r>
            <a:r>
              <a:rPr lang="en-US" baseline="30000" dirty="0" err="1"/>
              <a:t>k</a:t>
            </a:r>
            <a:r>
              <a:rPr lang="en-US" dirty="0"/>
              <a:t> = Set of all strings of length k over Σ </a:t>
            </a:r>
          </a:p>
          <a:p>
            <a:r>
              <a:rPr lang="en-US" dirty="0"/>
              <a:t>Σ</a:t>
            </a:r>
            <a:r>
              <a:rPr lang="en-US" baseline="30000" dirty="0"/>
              <a:t>*</a:t>
            </a:r>
            <a:r>
              <a:rPr lang="en-US" dirty="0"/>
              <a:t>= Σ</a:t>
            </a:r>
            <a:r>
              <a:rPr lang="en-US" baseline="30000" dirty="0"/>
              <a:t>0</a:t>
            </a:r>
            <a:r>
              <a:rPr lang="en-US" dirty="0"/>
              <a:t> ∪ Σ</a:t>
            </a:r>
            <a:r>
              <a:rPr lang="en-US" baseline="30000" dirty="0"/>
              <a:t>1</a:t>
            </a:r>
            <a:r>
              <a:rPr lang="en-US" dirty="0"/>
              <a:t> ∪ Σ</a:t>
            </a:r>
            <a:r>
              <a:rPr lang="en-US" baseline="30000" dirty="0"/>
              <a:t>2 </a:t>
            </a:r>
            <a:r>
              <a:rPr lang="en-US" dirty="0"/>
              <a:t>∪ · · · = Set of all strings over Σ. Σ</a:t>
            </a:r>
            <a:r>
              <a:rPr lang="en-US" baseline="30000" dirty="0"/>
              <a:t>*</a:t>
            </a:r>
            <a:r>
              <a:rPr lang="en-US" dirty="0"/>
              <a:t> is the universal set of all strings </a:t>
            </a:r>
          </a:p>
          <a:p>
            <a:r>
              <a:rPr lang="en-US" dirty="0"/>
              <a:t>Σ</a:t>
            </a:r>
            <a:r>
              <a:rPr lang="en-US" baseline="30000" dirty="0"/>
              <a:t>+</a:t>
            </a:r>
            <a:r>
              <a:rPr lang="en-US" dirty="0"/>
              <a:t> = Σ</a:t>
            </a:r>
            <a:r>
              <a:rPr lang="en-US" baseline="30000" dirty="0"/>
              <a:t>1</a:t>
            </a:r>
            <a:r>
              <a:rPr lang="en-US" dirty="0"/>
              <a:t> ∪ Σ</a:t>
            </a:r>
            <a:r>
              <a:rPr lang="en-US" baseline="30000" dirty="0"/>
              <a:t>2</a:t>
            </a:r>
            <a:r>
              <a:rPr lang="en-US" dirty="0"/>
              <a:t> ∪ Σ</a:t>
            </a:r>
            <a:r>
              <a:rPr lang="en-US" baseline="30000" dirty="0"/>
              <a:t>3 </a:t>
            </a:r>
            <a:r>
              <a:rPr lang="en-US" dirty="0"/>
              <a:t>∪ · · · = Set of nonempty strings over Σ</a:t>
            </a:r>
          </a:p>
        </p:txBody>
      </p:sp>
    </p:spTree>
    <p:extLst>
      <p:ext uri="{BB962C8B-B14F-4D97-AF65-F5344CB8AC3E}">
        <p14:creationId xmlns:p14="http://schemas.microsoft.com/office/powerpoint/2010/main" val="3018213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AE33-AC05-4952-9F63-AC765222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6E3F-263E-48B8-93A6-C557DCCFE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string</a:t>
            </a:r>
            <a:r>
              <a:rPr lang="en-US" dirty="0"/>
              <a:t> or word is a finite sequence of symbols chosen from Σ. </a:t>
            </a:r>
          </a:p>
          <a:p>
            <a:r>
              <a:rPr lang="en-US" dirty="0"/>
              <a:t>A string x ∈ Σ</a:t>
            </a:r>
            <a:r>
              <a:rPr lang="en-US" baseline="30000" dirty="0"/>
              <a:t>*</a:t>
            </a:r>
            <a:r>
              <a:rPr lang="en-US" dirty="0"/>
              <a:t>. An empty string is denoted by </a:t>
            </a:r>
            <a:r>
              <a:rPr lang="el-GR" dirty="0"/>
              <a:t>ε</a:t>
            </a:r>
            <a:r>
              <a:rPr lang="en-US" dirty="0"/>
              <a:t> . </a:t>
            </a:r>
          </a:p>
          <a:p>
            <a:r>
              <a:rPr lang="en-US" dirty="0"/>
              <a:t>|x| = length of string x </a:t>
            </a:r>
          </a:p>
          <a:p>
            <a:r>
              <a:rPr lang="en-US" dirty="0" err="1"/>
              <a:t>n</a:t>
            </a:r>
            <a:r>
              <a:rPr lang="en-US" baseline="-25000" dirty="0" err="1"/>
              <a:t>σ</a:t>
            </a:r>
            <a:r>
              <a:rPr lang="en-US" dirty="0"/>
              <a:t>(x) = #occurrences of symbol σ ∈ Σ in the string x</a:t>
            </a:r>
          </a:p>
        </p:txBody>
      </p:sp>
    </p:spTree>
    <p:extLst>
      <p:ext uri="{BB962C8B-B14F-4D97-AF65-F5344CB8AC3E}">
        <p14:creationId xmlns:p14="http://schemas.microsoft.com/office/powerpoint/2010/main" val="2353622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A407-18EE-405E-A408-C74EFBEF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95CD-F98C-4DB1-84FE-0FAC55C63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</a:t>
            </a:r>
            <a:r>
              <a:rPr lang="en-US" dirty="0" err="1"/>
              <a:t>abaaabb</a:t>
            </a:r>
            <a:r>
              <a:rPr lang="en-US" dirty="0"/>
              <a:t> from </a:t>
            </a:r>
            <a:r>
              <a:rPr lang="el-GR" dirty="0"/>
              <a:t>Σ = {</a:t>
            </a:r>
            <a:r>
              <a:rPr lang="en-US" dirty="0"/>
              <a:t>a, b} </a:t>
            </a:r>
          </a:p>
          <a:p>
            <a:r>
              <a:rPr lang="en-US" dirty="0"/>
              <a:t>x = 111 from </a:t>
            </a:r>
            <a:r>
              <a:rPr lang="el-GR" dirty="0"/>
              <a:t>Σ = {0, 1} </a:t>
            </a:r>
            <a:endParaRPr lang="en-US" dirty="0"/>
          </a:p>
          <a:p>
            <a:r>
              <a:rPr lang="en-US" dirty="0"/>
              <a:t>x = </a:t>
            </a:r>
            <a:r>
              <a:rPr lang="el-GR" dirty="0"/>
              <a:t>ε</a:t>
            </a:r>
            <a:r>
              <a:rPr lang="en-US" dirty="0"/>
              <a:t> from </a:t>
            </a:r>
            <a:r>
              <a:rPr lang="el-GR" dirty="0"/>
              <a:t>Σ = {</a:t>
            </a:r>
            <a:r>
              <a:rPr lang="en-US" dirty="0"/>
              <a:t>a, . . . , z, A, . . . , Z} </a:t>
            </a:r>
          </a:p>
          <a:p>
            <a:r>
              <a:rPr lang="en-US" dirty="0"/>
              <a:t>x = Bond007 from </a:t>
            </a:r>
            <a:r>
              <a:rPr lang="el-GR" dirty="0"/>
              <a:t>Σ = {</a:t>
            </a:r>
            <a:r>
              <a:rPr lang="en-US" dirty="0"/>
              <a:t>a − z, A − Z, 0 − 9}</a:t>
            </a:r>
          </a:p>
        </p:txBody>
      </p:sp>
    </p:spTree>
    <p:extLst>
      <p:ext uri="{BB962C8B-B14F-4D97-AF65-F5344CB8AC3E}">
        <p14:creationId xmlns:p14="http://schemas.microsoft.com/office/powerpoint/2010/main" val="2680974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8F1C-DEB1-415A-87C8-AA97275F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language?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6363F-0A98-4335-ADCC-59B9AC65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language</a:t>
            </a:r>
            <a:r>
              <a:rPr lang="en-US" dirty="0"/>
              <a:t> over Σ is a subset of Σ</a:t>
            </a:r>
            <a:r>
              <a:rPr lang="en-US" baseline="30000" dirty="0"/>
              <a:t>*</a:t>
            </a:r>
          </a:p>
          <a:p>
            <a:r>
              <a:rPr lang="en-US" dirty="0"/>
              <a:t>The empty language </a:t>
            </a:r>
            <a:r>
              <a:rPr lang="el-GR" dirty="0"/>
              <a:t>φ. </a:t>
            </a:r>
            <a:endParaRPr lang="en-US" dirty="0"/>
          </a:p>
          <a:p>
            <a:r>
              <a:rPr lang="el-GR" dirty="0"/>
              <a:t>{ε, </a:t>
            </a:r>
            <a:r>
              <a:rPr lang="en-US" dirty="0"/>
              <a:t>a, </a:t>
            </a:r>
            <a:r>
              <a:rPr lang="en-US" dirty="0" err="1"/>
              <a:t>aab</a:t>
            </a:r>
            <a:r>
              <a:rPr lang="en-US" dirty="0"/>
              <a:t>} - a finite language. </a:t>
            </a:r>
          </a:p>
          <a:p>
            <a:r>
              <a:rPr lang="en-US" dirty="0"/>
              <a:t>Language of palindromes over {a, b}</a:t>
            </a:r>
          </a:p>
          <a:p>
            <a:r>
              <a:rPr lang="en-US" dirty="0"/>
              <a:t>{x ∈ {a, b}</a:t>
            </a:r>
            <a:r>
              <a:rPr lang="en-US" baseline="30000" dirty="0"/>
              <a:t>*</a:t>
            </a:r>
            <a:r>
              <a:rPr lang="en-US" dirty="0"/>
              <a:t> | </a:t>
            </a:r>
            <a:r>
              <a:rPr lang="en-US" dirty="0" err="1"/>
              <a:t>n</a:t>
            </a:r>
            <a:r>
              <a:rPr lang="en-US" baseline="-25000" dirty="0" err="1"/>
              <a:t>a</a:t>
            </a:r>
            <a:r>
              <a:rPr lang="en-US" dirty="0"/>
              <a:t>(x) &gt; </a:t>
            </a:r>
            <a:r>
              <a:rPr lang="en-US" dirty="0" err="1"/>
              <a:t>n</a:t>
            </a:r>
            <a:r>
              <a:rPr lang="en-US" baseline="-25000" dirty="0" err="1"/>
              <a:t>b</a:t>
            </a:r>
            <a:r>
              <a:rPr lang="en-US" dirty="0"/>
              <a:t>(x)}. {x ∈ {a, b}</a:t>
            </a:r>
            <a:r>
              <a:rPr lang="en-US" baseline="30000" dirty="0"/>
              <a:t>∗</a:t>
            </a:r>
            <a:r>
              <a:rPr lang="en-US" dirty="0"/>
              <a:t> | |x| ≥ 2 and x begins and ends with b}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961960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Vocabulary review 		</a:t>
            </a:r>
            <a:r>
              <a:rPr lang="en-US" sz="1600" dirty="0" err="1">
                <a:solidFill>
                  <a:srgbClr val="79463D"/>
                </a:solidFill>
              </a:rPr>
              <a:t>Sipser</a:t>
            </a:r>
            <a:r>
              <a:rPr lang="en-US" sz="1600" dirty="0">
                <a:solidFill>
                  <a:srgbClr val="79463D"/>
                </a:solidFill>
              </a:rPr>
              <a:t> p.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{ </a:t>
            </a:r>
            <a:r>
              <a:rPr lang="en-US" dirty="0" err="1"/>
              <a:t>a,b,c,d,e</a:t>
            </a:r>
            <a:r>
              <a:rPr lang="en-US" dirty="0"/>
              <a:t> }		The set whose elements are </a:t>
            </a:r>
            <a:r>
              <a:rPr lang="en-US" dirty="0" err="1"/>
              <a:t>a,b,c,d,e</a:t>
            </a:r>
            <a:endParaRPr lang="en-US" dirty="0"/>
          </a:p>
          <a:p>
            <a:r>
              <a:rPr lang="en-US" dirty="0"/>
              <a:t>{ </a:t>
            </a:r>
            <a:r>
              <a:rPr lang="en-US" dirty="0" err="1"/>
              <a:t>a,b</a:t>
            </a:r>
            <a:r>
              <a:rPr lang="en-US" dirty="0"/>
              <a:t> }*		The set of finite strings over </a:t>
            </a:r>
            <a:r>
              <a:rPr lang="en-US" dirty="0" err="1"/>
              <a:t>a,b</a:t>
            </a:r>
            <a:endParaRPr lang="en-US" dirty="0"/>
          </a:p>
          <a:p>
            <a:pPr lvl="2"/>
            <a:r>
              <a:rPr lang="en-US" dirty="0"/>
              <a:t>Includes empty string ε</a:t>
            </a:r>
          </a:p>
          <a:p>
            <a:pPr lvl="2"/>
            <a:r>
              <a:rPr lang="en-US" dirty="0"/>
              <a:t>Includes a, aa, </a:t>
            </a:r>
            <a:r>
              <a:rPr lang="en-US" dirty="0" err="1"/>
              <a:t>aaa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Includes b, bb, </a:t>
            </a:r>
            <a:r>
              <a:rPr lang="en-US" dirty="0" err="1"/>
              <a:t>bbb</a:t>
            </a:r>
            <a:endParaRPr lang="en-US" dirty="0"/>
          </a:p>
          <a:p>
            <a:pPr lvl="2"/>
            <a:r>
              <a:rPr lang="en-US" dirty="0"/>
              <a:t>Includes ab, </a:t>
            </a:r>
            <a:r>
              <a:rPr lang="en-US" dirty="0" err="1"/>
              <a:t>ababab</a:t>
            </a:r>
            <a:r>
              <a:rPr lang="en-US" dirty="0"/>
              <a:t>, </a:t>
            </a:r>
            <a:r>
              <a:rPr lang="en-US" dirty="0" err="1"/>
              <a:t>aaaaaaabbb</a:t>
            </a:r>
            <a:endParaRPr lang="en-US" dirty="0"/>
          </a:p>
          <a:p>
            <a:pPr lvl="2"/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include infinite sequences of a's and b's</a:t>
            </a:r>
          </a:p>
          <a:p>
            <a:pPr lvl="2"/>
            <a:r>
              <a:rPr lang="en-US" dirty="0"/>
              <a:t>Has </a:t>
            </a:r>
            <a:r>
              <a:rPr lang="en-US" b="1" dirty="0"/>
              <a:t>infinitely many</a:t>
            </a:r>
            <a:r>
              <a:rPr lang="en-US" dirty="0"/>
              <a:t> different elements</a:t>
            </a:r>
          </a:p>
          <a:p>
            <a:r>
              <a:rPr lang="en-US" dirty="0"/>
              <a:t>| </a:t>
            </a:r>
            <a:r>
              <a:rPr lang="en-US" dirty="0" err="1"/>
              <a:t>ababab</a:t>
            </a:r>
            <a:r>
              <a:rPr lang="en-US" dirty="0"/>
              <a:t> | = 6	The length of the string </a:t>
            </a:r>
            <a:r>
              <a:rPr lang="en-US" dirty="0" err="1"/>
              <a:t>ababab</a:t>
            </a:r>
            <a:r>
              <a:rPr lang="en-US" dirty="0"/>
              <a:t> is 6</a:t>
            </a:r>
          </a:p>
          <a:p>
            <a:r>
              <a:rPr lang="en-US" dirty="0"/>
              <a:t>| { </a:t>
            </a:r>
            <a:r>
              <a:rPr lang="en-US" dirty="0" err="1"/>
              <a:t>a,b,c,d,e</a:t>
            </a:r>
            <a:r>
              <a:rPr lang="en-US" dirty="0"/>
              <a:t> } | = 5	The size of the set {</a:t>
            </a:r>
            <a:r>
              <a:rPr lang="en-US" dirty="0" err="1"/>
              <a:t>a,b,c,d,e</a:t>
            </a:r>
            <a:r>
              <a:rPr lang="en-US" dirty="0"/>
              <a:t>} is 5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tx2"/>
                </a:solidFill>
              </a:rPr>
              <a:t>language</a:t>
            </a:r>
            <a:r>
              <a:rPr lang="en-US" b="1" dirty="0"/>
              <a:t> </a:t>
            </a:r>
            <a:r>
              <a:rPr lang="en-US" dirty="0"/>
              <a:t>(over alphabet Σ) is a set of strings (over Σ)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950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828800" y="1337016"/>
            <a:ext cx="5367250" cy="2846434"/>
          </a:xfrm>
          <a:prstGeom prst="rect">
            <a:avLst/>
          </a:prstGeom>
          <a:blipFill>
            <a:blip r:embed="rId2" cstate="print"/>
            <a:srcRect/>
            <a:stretch>
              <a:fillRect l="2" r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Deterministic Finite automaton	</a:t>
            </a:r>
            <a:r>
              <a:rPr lang="en-US" sz="1800">
                <a:solidFill>
                  <a:schemeClr val="accent6"/>
                </a:solidFill>
              </a:rPr>
              <a:t>Sipser p. 34,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Input: finite </a:t>
            </a:r>
            <a:r>
              <a:rPr lang="en-US" b="1"/>
              <a:t>string</a:t>
            </a:r>
            <a:r>
              <a:rPr lang="en-US"/>
              <a:t> over a fixed </a:t>
            </a:r>
            <a:r>
              <a:rPr lang="en-US" b="1"/>
              <a:t>alphabet</a:t>
            </a:r>
          </a:p>
          <a:p>
            <a:r>
              <a:rPr lang="en-US"/>
              <a:t>Output: "accept" or "reject"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The </a:t>
            </a:r>
            <a:r>
              <a:rPr lang="en-US" b="1"/>
              <a:t>language</a:t>
            </a:r>
            <a:r>
              <a:rPr lang="en-US"/>
              <a:t> recognized by the machine is the set of strings it accepts.</a:t>
            </a:r>
            <a:endParaRPr 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1133575" y="3214687"/>
            <a:ext cx="1736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4128D2"/>
                </a:solidFill>
              </a:rPr>
              <a:t>Start state</a:t>
            </a:r>
          </a:p>
          <a:p>
            <a:r>
              <a:rPr lang="en-US">
                <a:solidFill>
                  <a:srgbClr val="4128D2"/>
                </a:solidFill>
              </a:rPr>
              <a:t>(triangle/arrow)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7362" y="3182421"/>
            <a:ext cx="1634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4128D2"/>
                </a:solidFill>
              </a:rPr>
              <a:t>Accept state</a:t>
            </a:r>
            <a:endParaRPr lang="en-US">
              <a:solidFill>
                <a:srgbClr val="4128D2"/>
              </a:solidFill>
            </a:endParaRPr>
          </a:p>
          <a:p>
            <a:r>
              <a:rPr lang="en-US">
                <a:solidFill>
                  <a:srgbClr val="4128D2"/>
                </a:solidFill>
              </a:rPr>
              <a:t>(double circle)</a:t>
            </a:r>
          </a:p>
        </p:txBody>
      </p:sp>
    </p:spTree>
    <p:extLst>
      <p:ext uri="{BB962C8B-B14F-4D97-AF65-F5344CB8AC3E}">
        <p14:creationId xmlns:p14="http://schemas.microsoft.com/office/powerpoint/2010/main" val="22126044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tx2"/>
                </a:solidFill>
              </a:rPr>
              <a:t>Computation</a:t>
            </a:r>
            <a:r>
              <a:rPr lang="en-US" b="1"/>
              <a:t> </a:t>
            </a:r>
            <a:r>
              <a:rPr lang="en-US"/>
              <a:t>of the machine on an input string</a:t>
            </a:r>
          </a:p>
          <a:p>
            <a:pPr marL="274320" lvl="1" indent="0">
              <a:buNone/>
            </a:pPr>
            <a:r>
              <a:rPr lang="en-US" sz="1800"/>
              <a:t>Sequence of states in the machine, starting with the initial state, determined by transitions of the machine as it reads additional input </a:t>
            </a:r>
            <a:r>
              <a:rPr lang="en-US"/>
              <a:t>symbols.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Deterministic Finite automaton	</a:t>
            </a:r>
            <a:r>
              <a:rPr lang="en-US" sz="1800">
                <a:solidFill>
                  <a:schemeClr val="accent6"/>
                </a:solidFill>
              </a:rPr>
              <a:t>Sipser p. 34, 40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1579" y="2611221"/>
            <a:ext cx="7740316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How does the computation of the machine on a string relate to whether the string is accepted by the machine?</a:t>
            </a:r>
          </a:p>
          <a:p>
            <a:endParaRPr lang="en-US" sz="1600" dirty="0"/>
          </a:p>
          <a:p>
            <a:pPr marL="342900" indent="-342900">
              <a:buAutoNum type="alphaUcPeriod"/>
            </a:pPr>
            <a:r>
              <a:rPr lang="en-US" sz="1600" dirty="0"/>
              <a:t>If the </a:t>
            </a:r>
            <a:r>
              <a:rPr lang="en-US" sz="1600" b="1" dirty="0"/>
              <a:t>first state</a:t>
            </a:r>
            <a:r>
              <a:rPr lang="en-US" sz="1600" dirty="0"/>
              <a:t> in the computation is an accept state, the string is accepted.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If </a:t>
            </a:r>
            <a:r>
              <a:rPr lang="en-US" sz="1600" b="1" dirty="0"/>
              <a:t>any state</a:t>
            </a:r>
            <a:r>
              <a:rPr lang="en-US" sz="1600" dirty="0"/>
              <a:t> in the computation is an accept state, the string is accepted.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If the </a:t>
            </a:r>
            <a:r>
              <a:rPr lang="en-US" sz="1600" b="1" dirty="0"/>
              <a:t>last state</a:t>
            </a:r>
            <a:r>
              <a:rPr lang="en-US" sz="1600" dirty="0"/>
              <a:t> in the computation is an accept state, the string is accepted.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If </a:t>
            </a:r>
            <a:r>
              <a:rPr lang="en-US" sz="1600" b="1" dirty="0"/>
              <a:t>all of the states</a:t>
            </a:r>
            <a:r>
              <a:rPr lang="en-US" sz="1600" dirty="0"/>
              <a:t> in the computation are accept states, the string is accepted.</a:t>
            </a:r>
          </a:p>
          <a:p>
            <a:r>
              <a:rPr lang="en-US" sz="1600" dirty="0"/>
              <a:t>E.  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7918184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828800" y="1337016"/>
            <a:ext cx="5367250" cy="2846434"/>
          </a:xfrm>
          <a:prstGeom prst="rect">
            <a:avLst/>
          </a:prstGeom>
          <a:blipFill>
            <a:blip r:embed="rId2" cstate="print"/>
            <a:srcRect/>
            <a:stretch>
              <a:fillRect l="2" r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automaton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Input: finite string over a fixed alphabet</a:t>
            </a:r>
          </a:p>
          <a:p>
            <a:r>
              <a:rPr lang="en-US" sz="2200"/>
              <a:t>Output: "accept" or "reject"</a:t>
            </a:r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pPr marL="0" indent="0">
              <a:buNone/>
            </a:pPr>
            <a:r>
              <a:rPr lang="en-US" sz="2200" b="1"/>
              <a:t>Example input: 0001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575" y="3214687"/>
            <a:ext cx="1736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4128D2"/>
                </a:solidFill>
              </a:rPr>
              <a:t>Start state</a:t>
            </a:r>
          </a:p>
          <a:p>
            <a:r>
              <a:rPr lang="en-US">
                <a:solidFill>
                  <a:srgbClr val="4128D2"/>
                </a:solidFill>
              </a:rPr>
              <a:t>(triangle/arrow)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7362" y="3182421"/>
            <a:ext cx="1634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4128D2"/>
                </a:solidFill>
              </a:rPr>
              <a:t>Accept state</a:t>
            </a:r>
            <a:endParaRPr lang="en-US">
              <a:solidFill>
                <a:srgbClr val="4128D2"/>
              </a:solidFill>
            </a:endParaRPr>
          </a:p>
          <a:p>
            <a:r>
              <a:rPr lang="en-US">
                <a:solidFill>
                  <a:srgbClr val="4128D2"/>
                </a:solidFill>
              </a:rPr>
              <a:t>(double circle)</a:t>
            </a:r>
          </a:p>
        </p:txBody>
      </p:sp>
    </p:spTree>
    <p:extLst>
      <p:ext uri="{BB962C8B-B14F-4D97-AF65-F5344CB8AC3E}">
        <p14:creationId xmlns:p14="http://schemas.microsoft.com/office/powerpoint/2010/main" val="1503519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828800" y="1337016"/>
            <a:ext cx="5367250" cy="2846434"/>
          </a:xfrm>
          <a:prstGeom prst="rect">
            <a:avLst/>
          </a:prstGeom>
          <a:blipFill>
            <a:blip r:embed="rId2" cstate="print"/>
            <a:srcRect/>
            <a:stretch>
              <a:fillRect l="2" r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automaton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Input: finite string over a fixed alphabet</a:t>
            </a:r>
          </a:p>
          <a:p>
            <a:r>
              <a:rPr lang="en-US" sz="2200"/>
              <a:t>Output: "accept" or "reject"</a:t>
            </a:r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sp>
        <p:nvSpPr>
          <p:cNvPr id="9" name="TextBox 8"/>
          <p:cNvSpPr txBox="1"/>
          <p:nvPr/>
        </p:nvSpPr>
        <p:spPr>
          <a:xfrm>
            <a:off x="341708" y="3391085"/>
            <a:ext cx="5913682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What is the computation of this machine on input </a:t>
            </a:r>
            <a:r>
              <a:rPr lang="en-US" b="1"/>
              <a:t>110</a:t>
            </a:r>
            <a:r>
              <a:rPr lang="en-US"/>
              <a:t>?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q1, q1, q0		B. q1, q1, q2</a:t>
            </a:r>
          </a:p>
          <a:p>
            <a:r>
              <a:rPr lang="en-US"/>
              <a:t>C.  q0, q1, q2, q3		D. q0, q1, q1, q2</a:t>
            </a:r>
          </a:p>
          <a:p>
            <a:r>
              <a:rPr lang="en-US"/>
              <a:t>E.  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927382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828800" y="1337016"/>
            <a:ext cx="5367250" cy="2846434"/>
          </a:xfrm>
          <a:prstGeom prst="rect">
            <a:avLst/>
          </a:prstGeom>
          <a:blipFill>
            <a:blip r:embed="rId2" cstate="print"/>
            <a:srcRect/>
            <a:stretch>
              <a:fillRect l="2" r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automaton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Input: finite string over a fixed alphabet</a:t>
            </a:r>
          </a:p>
          <a:p>
            <a:r>
              <a:rPr lang="en-US" sz="2200"/>
              <a:t>Output: "accept" or "reject"</a:t>
            </a:r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sp>
        <p:nvSpPr>
          <p:cNvPr id="9" name="TextBox 8"/>
          <p:cNvSpPr txBox="1"/>
          <p:nvPr/>
        </p:nvSpPr>
        <p:spPr>
          <a:xfrm>
            <a:off x="457200" y="3439425"/>
            <a:ext cx="5775157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/>
              <a:t>Is the empty string accepted?</a:t>
            </a:r>
          </a:p>
          <a:p>
            <a:r>
              <a:rPr lang="en-US"/>
              <a:t>Is the string 001 accepted?</a:t>
            </a:r>
          </a:p>
          <a:p>
            <a:r>
              <a:rPr lang="en-US"/>
              <a:t>Is the string 0011010101010 accepted?</a:t>
            </a:r>
          </a:p>
          <a:p>
            <a:r>
              <a:rPr lang="en-US" b="1" i="1">
                <a:solidFill>
                  <a:schemeClr val="tx2"/>
                </a:solidFill>
              </a:rPr>
              <a:t>What is the language recognized by this machine?</a:t>
            </a:r>
          </a:p>
        </p:txBody>
      </p:sp>
    </p:spTree>
    <p:extLst>
      <p:ext uri="{BB962C8B-B14F-4D97-AF65-F5344CB8AC3E}">
        <p14:creationId xmlns:p14="http://schemas.microsoft.com/office/powerpoint/2010/main" val="13457721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course tools: Classroom</a:t>
            </a:r>
          </a:p>
          <a:p>
            <a:r>
              <a:rPr lang="en-US" dirty="0"/>
              <a:t>Read all the questions + relevant examples in the book</a:t>
            </a:r>
          </a:p>
          <a:p>
            <a:r>
              <a:rPr lang="en-US" dirty="0"/>
              <a:t>Read the book section (which section to read will be provided) before the class</a:t>
            </a:r>
          </a:p>
        </p:txBody>
      </p:sp>
    </p:spTree>
    <p:extLst>
      <p:ext uri="{BB962C8B-B14F-4D97-AF65-F5344CB8AC3E}">
        <p14:creationId xmlns:p14="http://schemas.microsoft.com/office/powerpoint/2010/main" val="4212756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4239</TotalTime>
  <Words>2359</Words>
  <Application>Microsoft Office PowerPoint</Application>
  <PresentationFormat>On-screen Show (16:9)</PresentationFormat>
  <Paragraphs>369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Roboto</vt:lpstr>
      <vt:lpstr>Wingdings</vt:lpstr>
      <vt:lpstr>Clarity</vt:lpstr>
      <vt:lpstr>CSE 331  Automata and computability</vt:lpstr>
      <vt:lpstr>Learning goals</vt:lpstr>
      <vt:lpstr>Introductions</vt:lpstr>
      <vt:lpstr>Logistics</vt:lpstr>
      <vt:lpstr>Grading</vt:lpstr>
      <vt:lpstr>How to excel</vt:lpstr>
      <vt:lpstr>How to excel with integrity</vt:lpstr>
      <vt:lpstr>Homework</vt:lpstr>
      <vt:lpstr>Homework and AI</vt:lpstr>
      <vt:lpstr>Participation</vt:lpstr>
      <vt:lpstr>CSE 331's big questions</vt:lpstr>
      <vt:lpstr>Questions about algorithms</vt:lpstr>
      <vt:lpstr>Questions about algorithms</vt:lpstr>
      <vt:lpstr>Activity</vt:lpstr>
      <vt:lpstr>Computer = algorithm?</vt:lpstr>
      <vt:lpstr>What is a computer/computation/algorithm? </vt:lpstr>
      <vt:lpstr>Bird's eye view of CSE 331</vt:lpstr>
      <vt:lpstr>Bird's eye view</vt:lpstr>
      <vt:lpstr>Bird's eye view</vt:lpstr>
      <vt:lpstr>Bird's eye view</vt:lpstr>
      <vt:lpstr>Bird's eye view</vt:lpstr>
      <vt:lpstr>Models of computation</vt:lpstr>
      <vt:lpstr>Models of computation</vt:lpstr>
      <vt:lpstr>So let's get going </vt:lpstr>
      <vt:lpstr>Automata</vt:lpstr>
      <vt:lpstr>Example: subway turnstile</vt:lpstr>
      <vt:lpstr>Example: subway turnstile</vt:lpstr>
      <vt:lpstr>Example: subway turnstile</vt:lpstr>
      <vt:lpstr>Example: subway turnstile</vt:lpstr>
      <vt:lpstr>Example: subway turnstile</vt:lpstr>
      <vt:lpstr>Example: subway turnstile</vt:lpstr>
      <vt:lpstr>Example: subway turnstile</vt:lpstr>
      <vt:lpstr>Finite automata and decision problems</vt:lpstr>
      <vt:lpstr>Example: subway turnstile</vt:lpstr>
      <vt:lpstr>What is an alphabet? </vt:lpstr>
      <vt:lpstr>Powers of an alphabet </vt:lpstr>
      <vt:lpstr>What is a string?</vt:lpstr>
      <vt:lpstr>Examples of string</vt:lpstr>
      <vt:lpstr>What is a language?</vt:lpstr>
      <vt:lpstr>Vocabulary review   Sipser p. 14</vt:lpstr>
      <vt:lpstr>Deterministic Finite automaton Sipser p. 34, 40</vt:lpstr>
      <vt:lpstr>Deterministic Finite automaton Sipser p. 34, 40</vt:lpstr>
      <vt:lpstr>Finite automaton</vt:lpstr>
      <vt:lpstr>Finite automaton</vt:lpstr>
      <vt:lpstr>Finite automaton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 Discrete math</dc:title>
  <dc:creator>Mia Minnes Kemp</dc:creator>
  <cp:lastModifiedBy>Zayed Humayun</cp:lastModifiedBy>
  <cp:revision>584</cp:revision>
  <dcterms:created xsi:type="dcterms:W3CDTF">2014-10-03T04:30:04Z</dcterms:created>
  <dcterms:modified xsi:type="dcterms:W3CDTF">2026-06-17T07:29:37Z</dcterms:modified>
</cp:coreProperties>
</file>