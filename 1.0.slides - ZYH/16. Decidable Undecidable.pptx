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569" r:id="rId2"/>
    <p:sldId id="526" r:id="rId3"/>
    <p:sldId id="627" r:id="rId4"/>
    <p:sldId id="615" r:id="rId5"/>
    <p:sldId id="628" r:id="rId6"/>
    <p:sldId id="591" r:id="rId7"/>
    <p:sldId id="592" r:id="rId8"/>
    <p:sldId id="593" r:id="rId9"/>
    <p:sldId id="594" r:id="rId10"/>
    <p:sldId id="629" r:id="rId11"/>
    <p:sldId id="631" r:id="rId12"/>
    <p:sldId id="595" r:id="rId13"/>
    <p:sldId id="596" r:id="rId14"/>
    <p:sldId id="597" r:id="rId15"/>
    <p:sldId id="598" r:id="rId16"/>
    <p:sldId id="599" r:id="rId17"/>
    <p:sldId id="600" r:id="rId18"/>
    <p:sldId id="632" r:id="rId19"/>
    <p:sldId id="613" r:id="rId20"/>
    <p:sldId id="612" r:id="rId21"/>
    <p:sldId id="601" r:id="rId22"/>
    <p:sldId id="602" r:id="rId23"/>
    <p:sldId id="603" r:id="rId24"/>
    <p:sldId id="609" r:id="rId25"/>
    <p:sldId id="661" r:id="rId26"/>
    <p:sldId id="658" r:id="rId27"/>
    <p:sldId id="663" r:id="rId28"/>
    <p:sldId id="664" r:id="rId29"/>
    <p:sldId id="610" r:id="rId30"/>
    <p:sldId id="622" r:id="rId31"/>
    <p:sldId id="623" r:id="rId32"/>
    <p:sldId id="624" r:id="rId33"/>
    <p:sldId id="625" r:id="rId34"/>
    <p:sldId id="626" r:id="rId35"/>
    <p:sldId id="665" r:id="rId36"/>
    <p:sldId id="666" r:id="rId37"/>
    <p:sldId id="633" r:id="rId38"/>
    <p:sldId id="667" r:id="rId39"/>
    <p:sldId id="634" r:id="rId40"/>
    <p:sldId id="668" r:id="rId41"/>
    <p:sldId id="672" r:id="rId42"/>
    <p:sldId id="671" r:id="rId43"/>
    <p:sldId id="673" r:id="rId44"/>
    <p:sldId id="674" r:id="rId45"/>
    <p:sldId id="642" r:id="rId4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57" d="100"/>
          <a:sy n="57" d="100"/>
        </p:scale>
        <p:origin x="870" y="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41064877-C806-4AB4-9CDD-1F501398BFFD}"/>
    <pc:docChg chg="delSld">
      <pc:chgData name="Shachar Lovett" userId="0c6d1e87c56e93c6" providerId="LiveId" clId="{41064877-C806-4AB4-9CDD-1F501398BFFD}" dt="2025-11-07T23:26:54.059" v="0" actId="47"/>
      <pc:docMkLst>
        <pc:docMk/>
      </pc:docMkLst>
      <pc:sldChg chg="del">
        <pc:chgData name="Shachar Lovett" userId="0c6d1e87c56e93c6" providerId="LiveId" clId="{41064877-C806-4AB4-9CDD-1F501398BFFD}" dt="2025-11-07T23:26:54.059" v="0" actId="47"/>
        <pc:sldMkLst>
          <pc:docMk/>
          <pc:sldMk cId="2617592791" sldId="50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Saturday, September 5,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Saturday, September 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CSE331</a:t>
            </a:r>
            <a:br>
              <a:rPr lang="en-US" sz="3600" dirty="0"/>
            </a:br>
            <a:r>
              <a:rPr lang="en-US" sz="3600" dirty="0"/>
              <a:t>Automata and computability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Turing machines: encoding, proving decidability, proving undecidability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Summer </a:t>
            </a:r>
            <a:r>
              <a:rPr lang="en-US" dirty="0"/>
              <a:t>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8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learning goals	</a:t>
            </a:r>
            <a:r>
              <a:rPr lang="en-US" sz="2400" dirty="0" err="1"/>
              <a:t>Sipser</a:t>
            </a:r>
            <a:r>
              <a:rPr lang="en-US" sz="2400"/>
              <a:t> 3.1,3.2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State and use the Church-Turing thesis.</a:t>
            </a:r>
          </a:p>
          <a:p>
            <a:r>
              <a:rPr lang="en-US" dirty="0"/>
              <a:t>Explain what it means for a problem to be decidable.</a:t>
            </a:r>
          </a:p>
          <a:p>
            <a:r>
              <a:rPr lang="en-US" dirty="0"/>
              <a:t>Justify the use of encoding.</a:t>
            </a:r>
          </a:p>
          <a:p>
            <a:r>
              <a:rPr lang="en-US" dirty="0"/>
              <a:t>Give examples of decidable problems.</a:t>
            </a:r>
          </a:p>
          <a:p>
            <a:r>
              <a:rPr lang="en-US" dirty="0"/>
              <a:t>Use counting arguments to prove the existence of unrecognizable (undecidable) languages.</a:t>
            </a:r>
          </a:p>
          <a:p>
            <a:r>
              <a:rPr lang="en-US" dirty="0"/>
              <a:t>Use diagonalization in a proof of undecidability.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26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Consider the TM M = "On input w,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Run M</a:t>
            </a:r>
            <a:r>
              <a:rPr lang="en-US" sz="2000" baseline="-25000"/>
              <a:t>1</a:t>
            </a:r>
            <a:r>
              <a:rPr lang="en-US" sz="2000"/>
              <a:t> on w. If M</a:t>
            </a:r>
            <a:r>
              <a:rPr lang="en-US" sz="2000" baseline="-25000"/>
              <a:t>1</a:t>
            </a:r>
            <a:r>
              <a:rPr lang="en-US" sz="2000"/>
              <a:t> rejects, rejects.  If M</a:t>
            </a:r>
            <a:r>
              <a:rPr lang="en-US" sz="2000" baseline="-25000"/>
              <a:t>1</a:t>
            </a:r>
            <a:r>
              <a:rPr lang="en-US" sz="2000"/>
              <a:t> accepts, go to 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Run M</a:t>
            </a:r>
            <a:r>
              <a:rPr lang="en-US" sz="2000" baseline="-25000"/>
              <a:t>2</a:t>
            </a:r>
            <a:r>
              <a:rPr lang="en-US" sz="2000"/>
              <a:t> on w. If M</a:t>
            </a:r>
            <a:r>
              <a:rPr lang="en-US" sz="2000" baseline="-25000"/>
              <a:t>2</a:t>
            </a:r>
            <a:r>
              <a:rPr lang="en-US" sz="2000"/>
              <a:t> accepts, accept. If M</a:t>
            </a:r>
            <a:r>
              <a:rPr lang="en-US" sz="2000" baseline="-25000"/>
              <a:t>2</a:t>
            </a:r>
            <a:r>
              <a:rPr lang="en-US" sz="2000"/>
              <a:t> rejects, reject."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49226"/>
            <a:ext cx="5316102" cy="1477328"/>
          </a:xfrm>
          <a:prstGeom prst="rect">
            <a:avLst/>
          </a:prstGeom>
          <a:solidFill>
            <a:srgbClr val="FEF2CC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What kind of construction is this?</a:t>
            </a:r>
          </a:p>
          <a:p>
            <a:pPr marL="342900" indent="-342900">
              <a:buFont typeface="+mj-lt"/>
              <a:buAutoNum type="alphaUcPeriod"/>
            </a:pPr>
            <a:r>
              <a:rPr lang="en-US"/>
              <a:t>Formal definition of TM</a:t>
            </a:r>
          </a:p>
          <a:p>
            <a:pPr marL="342900" indent="-342900">
              <a:buAutoNum type="alphaUcPeriod"/>
            </a:pPr>
            <a:r>
              <a:rPr lang="en-US"/>
              <a:t>Implementation-level description of TM</a:t>
            </a:r>
          </a:p>
          <a:p>
            <a:pPr marL="342900" indent="-342900">
              <a:buAutoNum type="alphaUcPeriod"/>
            </a:pPr>
            <a:r>
              <a:rPr lang="en-US"/>
              <a:t>High-level description of TM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  <p:sp>
        <p:nvSpPr>
          <p:cNvPr id="6" name="Cloud 5"/>
          <p:cNvSpPr/>
          <p:nvPr/>
        </p:nvSpPr>
        <p:spPr>
          <a:xfrm>
            <a:off x="5189308" y="0"/>
            <a:ext cx="3954692" cy="1960175"/>
          </a:xfrm>
          <a:prstGeom prst="cloud">
            <a:avLst/>
          </a:prstGeom>
          <a:solidFill>
            <a:srgbClr val="FCEF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What's L(M)?</a:t>
            </a:r>
          </a:p>
          <a:p>
            <a:pPr algn="ctr"/>
            <a:endParaRPr lang="en-US" b="1">
              <a:solidFill>
                <a:srgbClr val="4128D2"/>
              </a:solidFill>
            </a:endParaRPr>
          </a:p>
          <a:p>
            <a:pPr algn="ctr"/>
            <a:r>
              <a:rPr lang="en-US" b="1">
                <a:solidFill>
                  <a:srgbClr val="4128D2"/>
                </a:solidFill>
              </a:rPr>
              <a:t>Is M a decider?</a:t>
            </a:r>
          </a:p>
        </p:txBody>
      </p:sp>
    </p:spTree>
    <p:extLst>
      <p:ext uri="{BB962C8B-B14F-4D97-AF65-F5344CB8AC3E}">
        <p14:creationId xmlns:p14="http://schemas.microsoft.com/office/powerpoint/2010/main" val="190082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90284" y="4377765"/>
            <a:ext cx="1969246" cy="328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345765" y="4049059"/>
            <a:ext cx="5050117" cy="3287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Describing TMs			</a:t>
            </a:r>
            <a:r>
              <a:rPr lang="en-US" sz="1600" i="1">
                <a:solidFill>
                  <a:schemeClr val="accent6"/>
                </a:solidFill>
              </a:rPr>
              <a:t>Sipser Section 3.3, p.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Formal definition</a:t>
            </a:r>
            <a:r>
              <a:rPr lang="en-US" dirty="0">
                <a:solidFill>
                  <a:srgbClr val="292934"/>
                </a:solidFill>
              </a:rPr>
              <a:t>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set of states, input alphabet, tape alphabet, transition function, state </a:t>
            </a:r>
            <a:r>
              <a:rPr lang="en-US" dirty="0" err="1"/>
              <a:t>state</a:t>
            </a:r>
            <a:r>
              <a:rPr lang="en-US" dirty="0"/>
              <a:t>, accept state, reject state.</a:t>
            </a:r>
          </a:p>
          <a:p>
            <a:r>
              <a:rPr lang="en-US" b="1" dirty="0">
                <a:solidFill>
                  <a:schemeClr val="tx2"/>
                </a:solidFill>
              </a:rPr>
              <a:t>Implementation-level definition</a:t>
            </a:r>
            <a:r>
              <a:rPr lang="en-US" dirty="0">
                <a:solidFill>
                  <a:srgbClr val="292934"/>
                </a:solidFill>
              </a:rPr>
              <a:t>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English prose to describe Turing machine head movements relative to contents of tape.</a:t>
            </a:r>
          </a:p>
          <a:p>
            <a:r>
              <a:rPr lang="en-US" b="1" dirty="0">
                <a:solidFill>
                  <a:schemeClr val="tx2"/>
                </a:solidFill>
              </a:rPr>
              <a:t>High-level description</a:t>
            </a:r>
            <a:r>
              <a:rPr lang="en-US" dirty="0">
                <a:solidFill>
                  <a:srgbClr val="292934"/>
                </a:solidFill>
              </a:rPr>
              <a:t>: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Description of algorithm, without implementation details of machine.  As part of this description, can "call" and run another TM as a subroutine.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009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Consider the TM M = "On input w,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Run M</a:t>
            </a:r>
            <a:r>
              <a:rPr lang="en-US" sz="2000" baseline="-25000"/>
              <a:t>1</a:t>
            </a:r>
            <a:r>
              <a:rPr lang="en-US" sz="2000"/>
              <a:t> on w. If M</a:t>
            </a:r>
            <a:r>
              <a:rPr lang="en-US" sz="2000" baseline="-25000"/>
              <a:t>1</a:t>
            </a:r>
            <a:r>
              <a:rPr lang="en-US" sz="2000"/>
              <a:t> rejects, rejects.  If M</a:t>
            </a:r>
            <a:r>
              <a:rPr lang="en-US" sz="2000" baseline="-25000"/>
              <a:t>1</a:t>
            </a:r>
            <a:r>
              <a:rPr lang="en-US" sz="2000"/>
              <a:t> accepts, go to 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Run M</a:t>
            </a:r>
            <a:r>
              <a:rPr lang="en-US" sz="2000" baseline="-25000"/>
              <a:t>2</a:t>
            </a:r>
            <a:r>
              <a:rPr lang="en-US" sz="2000"/>
              <a:t> on w. If M</a:t>
            </a:r>
            <a:r>
              <a:rPr lang="en-US" sz="2000" baseline="-25000"/>
              <a:t>2</a:t>
            </a:r>
            <a:r>
              <a:rPr lang="en-US" sz="2000"/>
              <a:t> accepts, accept. If M</a:t>
            </a:r>
            <a:r>
              <a:rPr lang="en-US" sz="2000" baseline="-25000"/>
              <a:t>2</a:t>
            </a:r>
            <a:r>
              <a:rPr lang="en-US" sz="2000"/>
              <a:t> rejects, reject."</a:t>
            </a:r>
          </a:p>
        </p:txBody>
      </p:sp>
    </p:spTree>
    <p:extLst>
      <p:ext uri="{BB962C8B-B14F-4D97-AF65-F5344CB8AC3E}">
        <p14:creationId xmlns:p14="http://schemas.microsoft.com/office/powerpoint/2010/main" val="140493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High-level description =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Wikipedia</a:t>
            </a:r>
            <a:r>
              <a:rPr lang="en-US" dirty="0"/>
              <a:t> "self-contained step-by-step set of operations to be performed"</a:t>
            </a:r>
          </a:p>
          <a:p>
            <a:r>
              <a:rPr lang="en-US" dirty="0"/>
              <a:t>"An algorithm is a finite sequence of precise instructions for performing a computation or for solving a problem."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95751" y="3669448"/>
            <a:ext cx="4593557" cy="972247"/>
          </a:xfrm>
          <a:prstGeom prst="rightArrow">
            <a:avLst/>
          </a:prstGeom>
          <a:solidFill>
            <a:srgbClr val="FCEF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Church-Turing thesis</a:t>
            </a:r>
          </a:p>
        </p:txBody>
      </p:sp>
      <p:sp>
        <p:nvSpPr>
          <p:cNvPr id="6" name="Cloud 5"/>
          <p:cNvSpPr/>
          <p:nvPr/>
        </p:nvSpPr>
        <p:spPr>
          <a:xfrm>
            <a:off x="5189308" y="3042192"/>
            <a:ext cx="3954692" cy="1960175"/>
          </a:xfrm>
          <a:prstGeom prst="cloud">
            <a:avLst/>
          </a:prstGeom>
          <a:solidFill>
            <a:srgbClr val="FCEF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4128D2"/>
                </a:solidFill>
              </a:rPr>
              <a:t>Each algorithm can be implemented by some Turing machine.</a:t>
            </a:r>
          </a:p>
        </p:txBody>
      </p:sp>
    </p:spTree>
    <p:extLst>
      <p:ext uri="{BB962C8B-B14F-4D97-AF65-F5344CB8AC3E}">
        <p14:creationId xmlns:p14="http://schemas.microsoft.com/office/powerpoint/2010/main" val="89684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2006600"/>
            <a:ext cx="5092700" cy="762000"/>
          </a:xfrm>
          <a:prstGeom prst="rect">
            <a:avLst/>
          </a:prstGeom>
          <a:solidFill>
            <a:srgbClr val="FCEF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 start of CSE 331…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Pick a model of computation</a:t>
            </a:r>
          </a:p>
          <a:p>
            <a:endParaRPr lang="en-US" dirty="0"/>
          </a:p>
          <a:p>
            <a:r>
              <a:rPr lang="en-US" dirty="0"/>
              <a:t>Study what problems it can solve</a:t>
            </a:r>
          </a:p>
          <a:p>
            <a:endParaRPr lang="en-US" dirty="0"/>
          </a:p>
          <a:p>
            <a:r>
              <a:rPr lang="en-US" dirty="0"/>
              <a:t>Prove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9900" y="546100"/>
            <a:ext cx="3289300" cy="4311650"/>
          </a:xfrm>
          <a:prstGeom prst="rect">
            <a:avLst/>
          </a:prstGeom>
          <a:solidFill>
            <a:srgbClr val="FCEF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292934"/>
                </a:solidFill>
              </a:rPr>
              <a:t>Classification</a:t>
            </a:r>
            <a:r>
              <a:rPr lang="en-US" dirty="0">
                <a:solidFill>
                  <a:srgbClr val="292934"/>
                </a:solidFill>
              </a:rPr>
              <a:t>: is input of type A or not?</a:t>
            </a:r>
          </a:p>
          <a:p>
            <a:pPr algn="ctr"/>
            <a:r>
              <a:rPr lang="en-US" b="1" dirty="0">
                <a:solidFill>
                  <a:schemeClr val="tx2"/>
                </a:solidFill>
              </a:rPr>
              <a:t>Decision problem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rgbClr val="292934"/>
                </a:solidFill>
              </a:rPr>
              <a:t>{ w | w is of type A}</a:t>
            </a:r>
          </a:p>
          <a:p>
            <a:pPr algn="ctr"/>
            <a:endParaRPr lang="en-US" dirty="0">
              <a:solidFill>
                <a:srgbClr val="292934"/>
              </a:solidFill>
            </a:endParaRPr>
          </a:p>
          <a:p>
            <a:pPr algn="ctr"/>
            <a:r>
              <a:rPr lang="en-US" sz="1500" dirty="0">
                <a:solidFill>
                  <a:srgbClr val="292934"/>
                </a:solidFill>
              </a:rPr>
              <a:t>PRIME = { 2, 3, 5, 7, … }</a:t>
            </a:r>
          </a:p>
          <a:p>
            <a:pPr algn="ctr"/>
            <a:r>
              <a:rPr lang="en-US" sz="1500" dirty="0">
                <a:solidFill>
                  <a:srgbClr val="292934"/>
                </a:solidFill>
              </a:rPr>
              <a:t>SORTED = { &lt;1,3&gt;, &lt;-1, 8, 17&gt; …}</a:t>
            </a:r>
          </a:p>
          <a:p>
            <a:pPr algn="ctr"/>
            <a:endParaRPr lang="en-US" dirty="0">
              <a:solidFill>
                <a:srgbClr val="292934"/>
              </a:solidFill>
            </a:endParaRPr>
          </a:p>
          <a:p>
            <a:pPr algn="ctr"/>
            <a:r>
              <a:rPr lang="en-US" dirty="0">
                <a:solidFill>
                  <a:schemeClr val="tx2"/>
                </a:solidFill>
              </a:rPr>
              <a:t>Decision problems are coded by sets of strings</a:t>
            </a:r>
          </a:p>
        </p:txBody>
      </p:sp>
    </p:spTree>
    <p:extLst>
      <p:ext uri="{BB962C8B-B14F-4D97-AF65-F5344CB8AC3E}">
        <p14:creationId xmlns:p14="http://schemas.microsoft.com/office/powerpoint/2010/main" val="409378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862272" y="2414936"/>
            <a:ext cx="2116485" cy="50180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Encoding input for TMs		</a:t>
            </a:r>
            <a:r>
              <a:rPr lang="en-US" sz="1800" i="1">
                <a:solidFill>
                  <a:schemeClr val="accent6"/>
                </a:solidFill>
              </a:rPr>
              <a:t>Sipser p. 159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By definition, TM inputs are </a:t>
            </a:r>
            <a:r>
              <a:rPr lang="en-US" b="1"/>
              <a:t>strings</a:t>
            </a:r>
            <a:endParaRPr lang="en-US"/>
          </a:p>
          <a:p>
            <a:endParaRPr lang="en-US"/>
          </a:p>
          <a:p>
            <a:r>
              <a:rPr lang="en-US"/>
              <a:t>To define TM M:</a:t>
            </a:r>
          </a:p>
          <a:p>
            <a:pPr marL="548640" lvl="2" indent="0">
              <a:buNone/>
            </a:pPr>
            <a:r>
              <a:rPr lang="en-US"/>
              <a:t>"On input w …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/>
              <a:t>..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/>
              <a:t>.. 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US"/>
              <a:t>…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2978757" y="2069945"/>
            <a:ext cx="2351650" cy="5802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30407" y="1726827"/>
            <a:ext cx="3340440" cy="923330"/>
          </a:xfrm>
          <a:prstGeom prst="rect">
            <a:avLst/>
          </a:prstGeom>
          <a:noFill/>
          <a:ln>
            <a:solidFill>
              <a:srgbClr val="4128D2"/>
            </a:solidFill>
          </a:ln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4128D2"/>
                </a:solidFill>
              </a:rPr>
              <a:t>For inputs that aren't strings, </a:t>
            </a:r>
          </a:p>
          <a:p>
            <a:r>
              <a:rPr lang="en-US">
                <a:solidFill>
                  <a:srgbClr val="4128D2"/>
                </a:solidFill>
              </a:rPr>
              <a:t>we have to </a:t>
            </a:r>
            <a:r>
              <a:rPr lang="en-US" b="1">
                <a:solidFill>
                  <a:srgbClr val="4128D2"/>
                </a:solidFill>
              </a:rPr>
              <a:t>encode the object</a:t>
            </a:r>
            <a:endParaRPr lang="en-US">
              <a:solidFill>
                <a:srgbClr val="4128D2"/>
              </a:solidFill>
            </a:endParaRPr>
          </a:p>
          <a:p>
            <a:r>
              <a:rPr lang="en-US">
                <a:solidFill>
                  <a:srgbClr val="4128D2"/>
                </a:solidFill>
              </a:rPr>
              <a:t>(represent it as a string)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2461" y="2977828"/>
            <a:ext cx="5408385" cy="1477328"/>
          </a:xfrm>
          <a:prstGeom prst="rect">
            <a:avLst/>
          </a:prstGeom>
          <a:solidFill>
            <a:srgbClr val="FEF2CC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Notation: </a:t>
            </a:r>
          </a:p>
          <a:p>
            <a:r>
              <a:rPr lang="en-US" b="1">
                <a:solidFill>
                  <a:schemeClr val="tx2"/>
                </a:solidFill>
              </a:rPr>
              <a:t>&lt;O&gt; </a:t>
            </a:r>
            <a:r>
              <a:rPr lang="en-US"/>
              <a:t>is the </a:t>
            </a:r>
            <a:r>
              <a:rPr lang="en-US" b="1">
                <a:solidFill>
                  <a:srgbClr val="4128D2"/>
                </a:solidFill>
              </a:rPr>
              <a:t>string</a:t>
            </a:r>
            <a:r>
              <a:rPr lang="en-US"/>
              <a:t> that represents </a:t>
            </a:r>
            <a:r>
              <a:rPr lang="en-US">
                <a:solidFill>
                  <a:schemeClr val="accent5"/>
                </a:solidFill>
              </a:rPr>
              <a:t>(encodes) </a:t>
            </a:r>
            <a:r>
              <a:rPr lang="en-US"/>
              <a:t>	the object O</a:t>
            </a:r>
          </a:p>
          <a:p>
            <a:r>
              <a:rPr lang="en-US"/>
              <a:t>&lt;O</a:t>
            </a:r>
            <a:r>
              <a:rPr lang="en-US" baseline="-25000"/>
              <a:t>1</a:t>
            </a:r>
            <a:r>
              <a:rPr lang="en-US"/>
              <a:t>, …, O</a:t>
            </a:r>
            <a:r>
              <a:rPr lang="en-US" baseline="-25000"/>
              <a:t>n</a:t>
            </a:r>
            <a:r>
              <a:rPr lang="en-US"/>
              <a:t>&gt; is the </a:t>
            </a:r>
            <a:r>
              <a:rPr lang="en-US">
                <a:solidFill>
                  <a:srgbClr val="808DA0"/>
                </a:solidFill>
              </a:rPr>
              <a:t>single </a:t>
            </a:r>
            <a:r>
              <a:rPr lang="en-US"/>
              <a:t>string that 	represents the tuple of objects O</a:t>
            </a:r>
            <a:r>
              <a:rPr lang="en-US" baseline="-25000"/>
              <a:t>1</a:t>
            </a:r>
            <a:r>
              <a:rPr lang="en-US"/>
              <a:t>, …, O</a:t>
            </a:r>
            <a:r>
              <a:rPr lang="en-US" baseline="-25000"/>
              <a:t>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13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Encoding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Payoff</a:t>
            </a:r>
            <a:r>
              <a:rPr lang="en-US"/>
              <a:t>: problems we care about can be reframed as languages of strings</a:t>
            </a:r>
          </a:p>
          <a:p>
            <a:endParaRPr lang="en-US"/>
          </a:p>
          <a:p>
            <a:pPr marL="0" indent="0">
              <a:buNone/>
            </a:pPr>
            <a:r>
              <a:rPr lang="en-US" sz="2000"/>
              <a:t>e.g. "Recognize whether a string is a palindrome."</a:t>
            </a:r>
          </a:p>
          <a:p>
            <a:pPr marL="0" indent="0" algn="ctr">
              <a:buNone/>
            </a:pPr>
            <a:r>
              <a:rPr lang="en-US" sz="2000">
                <a:solidFill>
                  <a:schemeClr val="tx2"/>
                </a:solidFill>
              </a:rPr>
              <a:t>{ w | w in {0,1}* and w = w</a:t>
            </a:r>
            <a:r>
              <a:rPr lang="en-US" sz="2000" baseline="30000">
                <a:solidFill>
                  <a:schemeClr val="tx2"/>
                </a:solidFill>
              </a:rPr>
              <a:t>R </a:t>
            </a:r>
            <a:r>
              <a:rPr lang="en-US" sz="2000">
                <a:solidFill>
                  <a:schemeClr val="tx2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000"/>
              <a:t>e.g. "Check whether a string is accepted by a DFA."</a:t>
            </a:r>
          </a:p>
          <a:p>
            <a:pPr marL="0" indent="0" algn="ctr">
              <a:buNone/>
            </a:pPr>
            <a:r>
              <a:rPr lang="en-US" sz="2000">
                <a:solidFill>
                  <a:srgbClr val="4128D2"/>
                </a:solidFill>
              </a:rPr>
              <a:t>{ &lt;B,w&gt; | B is a DFA over Σ, w in Σ*, and w is in L(B) }</a:t>
            </a:r>
          </a:p>
          <a:p>
            <a:pPr marL="0" indent="0">
              <a:buNone/>
            </a:pPr>
            <a:r>
              <a:rPr lang="en-US" sz="2000"/>
              <a:t>e.g. "Check whether the language of a PDA is infinite."</a:t>
            </a:r>
          </a:p>
          <a:p>
            <a:pPr marL="0" indent="0" algn="ctr">
              <a:buNone/>
            </a:pPr>
            <a:r>
              <a:rPr lang="en-US" sz="2000">
                <a:solidFill>
                  <a:srgbClr val="4128D2"/>
                </a:solidFill>
              </a:rPr>
              <a:t>{ &lt;A&gt; | A is a PDA and L(A) is infinite}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4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7327-F489-6DE5-4E12-9FD265DA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encoding a DFA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5819E-DC7D-2808-4C8E-67083497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of </a:t>
            </a:r>
            <a:r>
              <a:rPr lang="en-US" dirty="0">
                <a:solidFill>
                  <a:srgbClr val="FF0000"/>
                </a:solidFill>
              </a:rPr>
              <a:t>encoding</a:t>
            </a:r>
            <a:r>
              <a:rPr lang="en-US" dirty="0"/>
              <a:t> as a </a:t>
            </a:r>
            <a:r>
              <a:rPr lang="en-US" dirty="0">
                <a:solidFill>
                  <a:srgbClr val="FF0000"/>
                </a:solidFill>
              </a:rPr>
              <a:t>text file</a:t>
            </a:r>
            <a:r>
              <a:rPr lang="en-US" dirty="0"/>
              <a:t> that encodes your data </a:t>
            </a:r>
            <a:br>
              <a:rPr lang="en-US" dirty="0"/>
            </a:br>
            <a:r>
              <a:rPr lang="en-US" dirty="0"/>
              <a:t>(in some format), that then you store in binary</a:t>
            </a:r>
          </a:p>
          <a:p>
            <a:endParaRPr lang="en-US" dirty="0"/>
          </a:p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3818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6DCA7-1142-5453-5A5C-D3AC0754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297E-1BBE-2351-D36E-1B8E8A03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encoding a DFA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217AC6-E873-48D4-F014-20016666E0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Think of </a:t>
                </a:r>
                <a:r>
                  <a:rPr lang="en-US" dirty="0">
                    <a:solidFill>
                      <a:srgbClr val="FF0000"/>
                    </a:solidFill>
                  </a:rPr>
                  <a:t>encoding</a:t>
                </a:r>
                <a:r>
                  <a:rPr lang="en-US" dirty="0"/>
                  <a:t> as a </a:t>
                </a:r>
                <a:r>
                  <a:rPr lang="en-US" dirty="0">
                    <a:solidFill>
                      <a:srgbClr val="FF0000"/>
                    </a:solidFill>
                  </a:rPr>
                  <a:t>text file</a:t>
                </a:r>
                <a:r>
                  <a:rPr lang="en-US" dirty="0"/>
                  <a:t> that encodes your data </a:t>
                </a:r>
                <a:br>
                  <a:rPr lang="en-US" dirty="0"/>
                </a:br>
                <a:r>
                  <a:rPr lang="en-US" dirty="0"/>
                  <a:t>(in some format), that then you store in binary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Example:</a:t>
                </a:r>
                <a:r>
                  <a:rPr lang="en-US" dirty="0"/>
                  <a:t> encode a DFA=(Q,∑,</a:t>
                </a:r>
                <a:r>
                  <a:rPr lang="el-GR" dirty="0"/>
                  <a:t>δ</a:t>
                </a:r>
                <a:r>
                  <a:rPr lang="en-US" dirty="0"/>
                  <a:t>,q</a:t>
                </a:r>
                <a:r>
                  <a:rPr lang="en-US" baseline="-25000" dirty="0"/>
                  <a:t>0</a:t>
                </a:r>
                <a:r>
                  <a:rPr lang="en-US" dirty="0"/>
                  <a:t>,F) using JSON</a:t>
                </a:r>
              </a:p>
              <a:p>
                <a:pPr marL="0" indent="0">
                  <a:buNone/>
                </a:pPr>
                <a:r>
                  <a:rPr lang="en-US" dirty="0"/>
                  <a:t>{</a:t>
                </a:r>
              </a:p>
              <a:p>
                <a:pPr marL="0" indent="0">
                  <a:buNone/>
                </a:pPr>
                <a:r>
                  <a:rPr lang="en-US" dirty="0"/>
                  <a:t>  “states”: [1,2,3,4,5],			</a:t>
                </a:r>
                <a:r>
                  <a:rPr lang="en-US" dirty="0">
                    <a:solidFill>
                      <a:srgbClr val="0070C0"/>
                    </a:solidFill>
                  </a:rPr>
                  <a:t>// Q={1,2,3,4,5}</a:t>
                </a:r>
              </a:p>
              <a:p>
                <a:pPr marL="0" indent="0">
                  <a:buNone/>
                </a:pPr>
                <a:r>
                  <a:rPr lang="en-US" dirty="0"/>
                  <a:t>  “alphabet”: [0,1],			</a:t>
                </a:r>
                <a:r>
                  <a:rPr lang="en-US" dirty="0">
                    <a:solidFill>
                      <a:srgbClr val="0070C0"/>
                    </a:solidFill>
                  </a:rPr>
                  <a:t>// ∑={0,1}</a:t>
                </a:r>
              </a:p>
              <a:p>
                <a:pPr marL="0" indent="0">
                  <a:buNone/>
                </a:pPr>
                <a:r>
                  <a:rPr lang="en-US" dirty="0"/>
                  <a:t>  “transition”: [((1,0),2), (1,1), 3), … ],	</a:t>
                </a:r>
                <a:r>
                  <a:rPr lang="en-US" dirty="0">
                    <a:solidFill>
                      <a:srgbClr val="0070C0"/>
                    </a:solidFill>
                  </a:rPr>
                  <a:t>//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=3,…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“</a:t>
                </a:r>
                <a:r>
                  <a:rPr lang="en-US" dirty="0" err="1"/>
                  <a:t>initial_state</a:t>
                </a:r>
                <a:r>
                  <a:rPr lang="en-US" dirty="0"/>
                  <a:t>”: 1,			</a:t>
                </a:r>
                <a:r>
                  <a:rPr lang="en-US" dirty="0">
                    <a:solidFill>
                      <a:srgbClr val="0070C0"/>
                    </a:solidFill>
                  </a:rPr>
                  <a:t>// q</a:t>
                </a:r>
                <a:r>
                  <a:rPr lang="en-US" baseline="-25000" dirty="0">
                    <a:solidFill>
                      <a:srgbClr val="0070C0"/>
                    </a:solidFill>
                  </a:rPr>
                  <a:t>0</a:t>
                </a:r>
                <a:r>
                  <a:rPr lang="en-US" dirty="0">
                    <a:solidFill>
                      <a:srgbClr val="0070C0"/>
                    </a:solidFill>
                  </a:rPr>
                  <a:t>=1</a:t>
                </a:r>
              </a:p>
              <a:p>
                <a:pPr marL="0" indent="0">
                  <a:buNone/>
                </a:pPr>
                <a:r>
                  <a:rPr lang="en-US" dirty="0"/>
                  <a:t>  “</a:t>
                </a:r>
                <a:r>
                  <a:rPr lang="en-US" dirty="0" err="1"/>
                  <a:t>accept_states</a:t>
                </a:r>
                <a:r>
                  <a:rPr lang="en-US" dirty="0"/>
                  <a:t>”: [4,5],		</a:t>
                </a:r>
                <a:r>
                  <a:rPr lang="en-US" dirty="0">
                    <a:solidFill>
                      <a:srgbClr val="0070C0"/>
                    </a:solidFill>
                  </a:rPr>
                  <a:t>// F={4,5}</a:t>
                </a:r>
              </a:p>
              <a:p>
                <a:pPr marL="0" indent="0">
                  <a:buNone/>
                </a:pPr>
                <a:r>
                  <a:rPr lang="en-US" dirty="0"/>
                  <a:t>}</a:t>
                </a:r>
              </a:p>
              <a:p>
                <a:pPr marL="0" indent="0">
                  <a:buNone/>
                </a:pP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217AC6-E873-48D4-F014-20016666E0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2833" b="-31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6169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 computational problem is </a:t>
            </a:r>
            <a:r>
              <a:rPr lang="en-US" b="1">
                <a:solidFill>
                  <a:schemeClr val="tx2"/>
                </a:solidFill>
              </a:rPr>
              <a:t>decidable</a:t>
            </a:r>
            <a:r>
              <a:rPr lang="en-US"/>
              <a:t> iff the language encoding the problem instances is decidable </a:t>
            </a:r>
          </a:p>
        </p:txBody>
      </p:sp>
    </p:spTree>
    <p:extLst>
      <p:ext uri="{BB962C8B-B14F-4D97-AF65-F5344CB8AC3E}">
        <p14:creationId xmlns:p14="http://schemas.microsoft.com/office/powerpoint/2010/main" val="3763733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Sample computational problems and their encodings:</a:t>
            </a: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A</a:t>
            </a:r>
            <a:r>
              <a:rPr lang="en-US" b="1" baseline="-25000" dirty="0">
                <a:solidFill>
                  <a:schemeClr val="accent1"/>
                </a:solidFill>
              </a:rPr>
              <a:t>DFA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a string is accepted by a DFA."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</a:t>
            </a:r>
            <a:r>
              <a:rPr lang="en-US" dirty="0" err="1">
                <a:solidFill>
                  <a:srgbClr val="4128D2"/>
                </a:solidFill>
              </a:rPr>
              <a:t>B,w</a:t>
            </a:r>
            <a:r>
              <a:rPr lang="en-US" dirty="0">
                <a:solidFill>
                  <a:srgbClr val="4128D2"/>
                </a:solidFill>
              </a:rPr>
              <a:t>&gt; | B is a DFA over Σ, w in Σ*, and w is in L(B)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</a:t>
            </a:r>
            <a:r>
              <a:rPr lang="en-US" b="1" baseline="-25000" dirty="0">
                <a:solidFill>
                  <a:schemeClr val="accent1"/>
                </a:solidFill>
              </a:rPr>
              <a:t>DFA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 of a DFA is empty."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&lt;A&gt; | A is a DFA over Σ, L(A) is empty 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EQ</a:t>
            </a:r>
            <a:r>
              <a:rPr lang="en-US" b="1" baseline="-25000" dirty="0">
                <a:solidFill>
                  <a:schemeClr val="accent1"/>
                </a:solidFill>
              </a:rPr>
              <a:t>DFA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languages of two DFAs are equal."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&lt;A, B&gt; | A and B are DFAs over Σ, L(A) = L(B)}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FACT: all of these problems are decidable!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704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Claim: </a:t>
            </a:r>
            <a:r>
              <a:rPr lang="en-US" sz="2000"/>
              <a:t>A</a:t>
            </a:r>
            <a:r>
              <a:rPr lang="en-US" sz="2000" baseline="-25000"/>
              <a:t>DFA</a:t>
            </a:r>
            <a:r>
              <a:rPr lang="en-US" sz="2000"/>
              <a:t> is decidable</a:t>
            </a:r>
          </a:p>
          <a:p>
            <a:pPr marL="0" indent="0">
              <a:buNone/>
            </a:pPr>
            <a:r>
              <a:rPr lang="en-US" sz="2000" b="1"/>
              <a:t>Proof: </a:t>
            </a:r>
            <a:r>
              <a:rPr lang="en-US" sz="2000"/>
              <a:t>WTS that { &lt;B,w&gt; | B is a DFA over Σ, w in Σ*, and w is in L(B) } is decidable. </a:t>
            </a: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</a:rPr>
              <a:t>Step 1: construction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i="1"/>
              <a:t>How would you check if w is in L(B)?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12947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Define TM M</a:t>
            </a:r>
            <a:r>
              <a:rPr lang="en-US" baseline="-25000"/>
              <a:t>1</a:t>
            </a:r>
            <a:r>
              <a:rPr lang="en-US"/>
              <a:t> by: M</a:t>
            </a:r>
            <a:r>
              <a:rPr lang="en-US" baseline="-25000"/>
              <a:t>1</a:t>
            </a:r>
            <a:r>
              <a:rPr lang="en-US"/>
              <a:t> = "On input &lt;B,w&gt;</a:t>
            </a:r>
          </a:p>
          <a:p>
            <a:pPr marL="457200" indent="-457200">
              <a:buAutoNum type="arabicPeriod"/>
            </a:pPr>
            <a:r>
              <a:rPr lang="en-US"/>
              <a:t>Check whether B is a valid encoding of a DFA and w is a valid input for B.  If not, reject.</a:t>
            </a:r>
          </a:p>
          <a:p>
            <a:pPr marL="457200" indent="-457200">
              <a:buAutoNum type="arabicPeriod"/>
            </a:pPr>
            <a:r>
              <a:rPr lang="en-US"/>
              <a:t>Simulate running B on w</a:t>
            </a:r>
            <a:r>
              <a:rPr lang="en-US">
                <a:solidFill>
                  <a:schemeClr val="accent1"/>
                </a:solidFill>
              </a:rPr>
              <a:t> (by keeping track of states in B, transition function of B, etc.) </a:t>
            </a:r>
            <a:endParaRPr lang="en-US"/>
          </a:p>
          <a:p>
            <a:pPr marL="457200" indent="-457200">
              <a:buAutoNum type="arabicPeriod"/>
            </a:pPr>
            <a:r>
              <a:rPr lang="en-US"/>
              <a:t>When the simulation ends, by finishing to process all of w, check current state of B: if it is final, </a:t>
            </a:r>
            <a:r>
              <a:rPr lang="en-US" i="1"/>
              <a:t>accept</a:t>
            </a:r>
            <a:r>
              <a:rPr lang="en-US"/>
              <a:t>; if it is not, reject."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475508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chemeClr val="tx2"/>
                </a:solidFill>
              </a:rPr>
              <a:t>Step 1: construction</a:t>
            </a:r>
          </a:p>
          <a:p>
            <a:pPr marL="0" indent="0">
              <a:buNone/>
            </a:pPr>
            <a:r>
              <a:rPr lang="en-US"/>
              <a:t>Define TM M</a:t>
            </a:r>
            <a:r>
              <a:rPr lang="en-US" baseline="-25000"/>
              <a:t>1</a:t>
            </a:r>
            <a:r>
              <a:rPr lang="en-US"/>
              <a:t> by M</a:t>
            </a:r>
            <a:r>
              <a:rPr lang="en-US" baseline="-25000"/>
              <a:t>1</a:t>
            </a:r>
            <a:r>
              <a:rPr lang="en-US"/>
              <a:t> = "On input &lt;B,w&gt;</a:t>
            </a:r>
          </a:p>
          <a:p>
            <a:pPr marL="457200" indent="-457200">
              <a:buAutoNum type="arabicPeriod"/>
            </a:pPr>
            <a:r>
              <a:rPr lang="en-US"/>
              <a:t>Check whether B is a valid encoding of a DFA and w is a valid input for B.  If not, reject.</a:t>
            </a:r>
          </a:p>
          <a:p>
            <a:pPr marL="457200" indent="-457200">
              <a:buAutoNum type="arabicPeriod"/>
            </a:pPr>
            <a:r>
              <a:rPr lang="en-US"/>
              <a:t>Simulate running B on w</a:t>
            </a:r>
            <a:r>
              <a:rPr lang="en-US">
                <a:solidFill>
                  <a:schemeClr val="accent1"/>
                </a:solidFill>
              </a:rPr>
              <a:t> (by keeping track of states in B, transition function of B, etc.) </a:t>
            </a:r>
            <a:endParaRPr lang="en-US"/>
          </a:p>
          <a:p>
            <a:pPr marL="457200" indent="-457200">
              <a:buAutoNum type="arabicPeriod"/>
            </a:pPr>
            <a:r>
              <a:rPr lang="en-US"/>
              <a:t>When the simulation ends, by finishing to process all of w, check current state of B: if it is final, </a:t>
            </a:r>
            <a:r>
              <a:rPr lang="en-US" i="1"/>
              <a:t>accept</a:t>
            </a:r>
            <a:r>
              <a:rPr lang="en-US"/>
              <a:t>; if it is not, reject."</a:t>
            </a:r>
          </a:p>
          <a:p>
            <a:pPr marL="0" indent="0">
              <a:buNone/>
            </a:pP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2"/>
                </a:solidFill>
              </a:rPr>
              <a:t>Step 2: correctness proof</a:t>
            </a:r>
          </a:p>
          <a:p>
            <a:pPr marL="0" indent="0">
              <a:buNone/>
            </a:pPr>
            <a:r>
              <a:rPr lang="en-US"/>
              <a:t>WTS</a:t>
            </a:r>
            <a:r>
              <a:rPr lang="en-US">
                <a:solidFill>
                  <a:srgbClr val="4128D2"/>
                </a:solidFill>
              </a:rPr>
              <a:t> (1) </a:t>
            </a:r>
            <a:r>
              <a:rPr lang="en-US"/>
              <a:t>L(M</a:t>
            </a:r>
            <a:r>
              <a:rPr lang="en-US" baseline="-25000"/>
              <a:t>1</a:t>
            </a:r>
            <a:r>
              <a:rPr lang="en-US"/>
              <a:t>) = A</a:t>
            </a:r>
            <a:r>
              <a:rPr lang="en-US" baseline="-25000"/>
              <a:t>DFA</a:t>
            </a:r>
            <a:r>
              <a:rPr lang="en-US"/>
              <a:t> and </a:t>
            </a:r>
            <a:r>
              <a:rPr lang="en-US">
                <a:solidFill>
                  <a:srgbClr val="4128D2"/>
                </a:solidFill>
              </a:rPr>
              <a:t>(2) </a:t>
            </a:r>
            <a:r>
              <a:rPr lang="en-US"/>
              <a:t>M</a:t>
            </a:r>
            <a:r>
              <a:rPr lang="en-US" baseline="-25000"/>
              <a:t>1</a:t>
            </a:r>
            <a:r>
              <a:rPr lang="en-US"/>
              <a:t> is a decider.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67096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Claim: </a:t>
            </a:r>
            <a:r>
              <a:rPr lang="en-US" sz="2000" dirty="0"/>
              <a:t>E</a:t>
            </a:r>
            <a:r>
              <a:rPr lang="en-US" sz="2000" baseline="-25000" dirty="0"/>
              <a:t>DFA</a:t>
            </a:r>
            <a:r>
              <a:rPr lang="en-US" sz="2000" dirty="0"/>
              <a:t> is decidable</a:t>
            </a:r>
          </a:p>
          <a:p>
            <a:pPr marL="0" indent="0">
              <a:buNone/>
            </a:pPr>
            <a:r>
              <a:rPr lang="en-US" sz="2000" b="1" dirty="0"/>
              <a:t>Proof: </a:t>
            </a:r>
            <a:r>
              <a:rPr lang="en-US" sz="2000" dirty="0"/>
              <a:t>WTS that { &lt;A&gt; | A is a DFA over Σ, L(A) is empty } is decidable.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aseline="-25000" dirty="0"/>
          </a:p>
          <a:p>
            <a:pPr marL="0" indent="0">
              <a:buNone/>
            </a:pPr>
            <a:endParaRPr lang="en-US" sz="2000" baseline="-25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7632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B8656-0652-F8AD-9B4D-B56AED26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80C5-C17F-A173-9DF4-D8A9EC2EC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A9DB9-2D5C-956B-CB60-06A3937FB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Claim: </a:t>
            </a:r>
            <a:r>
              <a:rPr lang="en-US" sz="2000" dirty="0"/>
              <a:t>E</a:t>
            </a:r>
            <a:r>
              <a:rPr lang="en-US" sz="2000" baseline="-25000" dirty="0"/>
              <a:t>DFA</a:t>
            </a:r>
            <a:r>
              <a:rPr lang="en-US" sz="2000" dirty="0"/>
              <a:t> is decidable</a:t>
            </a:r>
          </a:p>
          <a:p>
            <a:pPr marL="0" indent="0">
              <a:buNone/>
            </a:pPr>
            <a:r>
              <a:rPr lang="en-US" sz="2000" b="1" dirty="0"/>
              <a:t>Proof: </a:t>
            </a:r>
            <a:r>
              <a:rPr lang="en-US" sz="2000" dirty="0"/>
              <a:t>WTS that { &lt;A&gt; | A is a DFA over Σ, L(A) is empty } is decidable.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aseline="-25000" dirty="0"/>
          </a:p>
          <a:p>
            <a:pPr marL="0" indent="0">
              <a:buNone/>
            </a:pPr>
            <a:endParaRPr lang="en-US" sz="2000" baseline="-25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4B4225-DF24-458F-1215-5F285062AF8A}"/>
              </a:ext>
            </a:extLst>
          </p:cNvPr>
          <p:cNvSpPr/>
          <p:nvPr/>
        </p:nvSpPr>
        <p:spPr>
          <a:xfrm>
            <a:off x="1016000" y="2360705"/>
            <a:ext cx="2480235" cy="1598707"/>
          </a:xfrm>
          <a:prstGeom prst="rect">
            <a:avLst/>
          </a:prstGeom>
          <a:noFill/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B1681F-6764-F167-C50F-388FC274633C}"/>
              </a:ext>
            </a:extLst>
          </p:cNvPr>
          <p:cNvSpPr/>
          <p:nvPr/>
        </p:nvSpPr>
        <p:spPr>
          <a:xfrm>
            <a:off x="4604871" y="2360704"/>
            <a:ext cx="2480235" cy="1598707"/>
          </a:xfrm>
          <a:prstGeom prst="rect">
            <a:avLst/>
          </a:prstGeom>
          <a:noFill/>
          <a:ln>
            <a:solidFill>
              <a:srgbClr val="412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DED97B-EC4C-59B5-3AA1-6A24DBC27E67}"/>
              </a:ext>
            </a:extLst>
          </p:cNvPr>
          <p:cNvSpPr txBox="1"/>
          <p:nvPr/>
        </p:nvSpPr>
        <p:spPr>
          <a:xfrm>
            <a:off x="1365579" y="4359782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should accept</a:t>
            </a:r>
            <a:endParaRPr lang="en-IL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48896-5B73-9BC3-5824-2D776C83ECF2}"/>
              </a:ext>
            </a:extLst>
          </p:cNvPr>
          <p:cNvSpPr txBox="1"/>
          <p:nvPr/>
        </p:nvSpPr>
        <p:spPr>
          <a:xfrm>
            <a:off x="5020753" y="4359782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should reject</a:t>
            </a:r>
            <a:endParaRPr lang="en-IL" dirty="0">
              <a:solidFill>
                <a:srgbClr val="00B05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8BC457-68A0-D083-1AD8-EA1F9EFD1D1F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2169645" y="3959412"/>
            <a:ext cx="1" cy="4003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86876B-8E74-2EFA-B465-8A0B60496C7F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767111" y="4016561"/>
            <a:ext cx="0" cy="34322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hw1.png">
            <a:extLst>
              <a:ext uri="{FF2B5EF4-FFF2-40B4-BE49-F238E27FC236}">
                <a16:creationId xmlns:a16="http://schemas.microsoft.com/office/drawing/2014/main" id="{C078801F-305C-0402-9CC8-6173BB13AF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" r="23375"/>
          <a:stretch/>
        </p:blipFill>
        <p:spPr>
          <a:xfrm>
            <a:off x="4885764" y="2428178"/>
            <a:ext cx="1957293" cy="1486647"/>
          </a:xfrm>
          <a:prstGeom prst="rect">
            <a:avLst/>
          </a:prstGeom>
        </p:spPr>
      </p:pic>
      <p:pic>
        <p:nvPicPr>
          <p:cNvPr id="11" name="Picture 10" descr="reachable.png">
            <a:extLst>
              <a:ext uri="{FF2B5EF4-FFF2-40B4-BE49-F238E27FC236}">
                <a16:creationId xmlns:a16="http://schemas.microsoft.com/office/drawing/2014/main" id="{4B807EE1-5EBC-330F-C685-3D036608F60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1" b="22843"/>
          <a:stretch/>
        </p:blipFill>
        <p:spPr>
          <a:xfrm>
            <a:off x="1116108" y="2428178"/>
            <a:ext cx="2126127" cy="148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6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2311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Claim: </a:t>
            </a:r>
            <a:r>
              <a:rPr lang="en-US" sz="2000" dirty="0"/>
              <a:t>E</a:t>
            </a:r>
            <a:r>
              <a:rPr lang="en-US" sz="2000" baseline="-25000" dirty="0"/>
              <a:t>DFA</a:t>
            </a:r>
            <a:r>
              <a:rPr lang="en-US" sz="2000" dirty="0"/>
              <a:t> is decidable</a:t>
            </a:r>
          </a:p>
          <a:p>
            <a:pPr marL="0" indent="0">
              <a:buNone/>
            </a:pPr>
            <a:r>
              <a:rPr lang="en-US" sz="2000" b="1" dirty="0"/>
              <a:t>Proof: </a:t>
            </a:r>
            <a:r>
              <a:rPr lang="en-US" sz="2000" dirty="0"/>
              <a:t>WTS that { &lt;A&gt; | A is a DFA over Σ, L(A) is empty } is decidable.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br>
              <a:rPr lang="en-US" sz="2000" b="1" dirty="0"/>
            </a:b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e.g.&lt;		            &gt; is in E</a:t>
            </a:r>
            <a:r>
              <a:rPr lang="en-US" sz="2000" baseline="-25000" dirty="0"/>
              <a:t>DFA</a:t>
            </a:r>
            <a:r>
              <a:rPr lang="en-US" sz="2000" dirty="0"/>
              <a:t> ; &lt;		            &gt; is not in E</a:t>
            </a:r>
            <a:r>
              <a:rPr lang="en-US" sz="2000" baseline="-25000" dirty="0"/>
              <a:t>DFA</a:t>
            </a:r>
          </a:p>
          <a:p>
            <a:pPr marL="0" indent="0">
              <a:buNone/>
            </a:pPr>
            <a:endParaRPr lang="en-US" sz="2000" baseline="-25000" dirty="0"/>
          </a:p>
          <a:p>
            <a:pPr marL="0" indent="0">
              <a:buNone/>
            </a:pPr>
            <a:endParaRPr lang="en-US" sz="2000" baseline="-25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hw1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" r="23375"/>
          <a:stretch/>
        </p:blipFill>
        <p:spPr>
          <a:xfrm>
            <a:off x="4885764" y="2428178"/>
            <a:ext cx="1957293" cy="1486647"/>
          </a:xfrm>
          <a:prstGeom prst="rect">
            <a:avLst/>
          </a:prstGeom>
        </p:spPr>
      </p:pic>
      <p:pic>
        <p:nvPicPr>
          <p:cNvPr id="6" name="Picture 5" descr="reachable.pn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461" b="22843"/>
          <a:stretch/>
        </p:blipFill>
        <p:spPr>
          <a:xfrm>
            <a:off x="1116108" y="2428178"/>
            <a:ext cx="2126127" cy="1486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6120CD-442A-5F5E-109B-5943E526691D}"/>
              </a:ext>
            </a:extLst>
          </p:cNvPr>
          <p:cNvSpPr txBox="1"/>
          <p:nvPr/>
        </p:nvSpPr>
        <p:spPr>
          <a:xfrm>
            <a:off x="1365579" y="4359782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should accept</a:t>
            </a:r>
            <a:endParaRPr lang="en-IL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9DBF3-FE7A-C3F7-1CF2-629811195B58}"/>
              </a:ext>
            </a:extLst>
          </p:cNvPr>
          <p:cNvSpPr txBox="1"/>
          <p:nvPr/>
        </p:nvSpPr>
        <p:spPr>
          <a:xfrm>
            <a:off x="5020753" y="4359782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should reject</a:t>
            </a:r>
            <a:endParaRPr lang="en-IL" dirty="0">
              <a:solidFill>
                <a:srgbClr val="00B05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BB4948-2D0A-7546-195C-63C91E5D8784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2169645" y="3959412"/>
            <a:ext cx="1" cy="40037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EB5B2F-1419-C98F-C21A-1E534D1289FD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767111" y="4016561"/>
            <a:ext cx="0" cy="34322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538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Claim: </a:t>
            </a:r>
            <a:r>
              <a:rPr lang="en-US" sz="2000"/>
              <a:t>E</a:t>
            </a:r>
            <a:r>
              <a:rPr lang="en-US" sz="2000" baseline="-25000"/>
              <a:t>DFA</a:t>
            </a:r>
            <a:r>
              <a:rPr lang="en-US" sz="2000"/>
              <a:t> is decidable</a:t>
            </a:r>
          </a:p>
          <a:p>
            <a:pPr marL="0" indent="0">
              <a:buNone/>
            </a:pPr>
            <a:r>
              <a:rPr lang="en-US" sz="2000" b="1"/>
              <a:t>Proof: </a:t>
            </a:r>
            <a:r>
              <a:rPr lang="en-US" sz="2000"/>
              <a:t>WTS that { &lt;A&gt; | A is a DFA over Σ, L(A) is empty } is decidable. </a:t>
            </a:r>
            <a:r>
              <a:rPr lang="en-US" sz="2000">
                <a:solidFill>
                  <a:schemeClr val="accent1"/>
                </a:solidFill>
              </a:rPr>
              <a:t>Idea: give high-level description</a:t>
            </a:r>
            <a:endParaRPr lang="en-US" sz="2000"/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</a:rPr>
              <a:t>Step 1: construction</a:t>
            </a:r>
          </a:p>
          <a:p>
            <a:pPr marL="0" indent="0">
              <a:buNone/>
            </a:pPr>
            <a:r>
              <a:rPr lang="en-US" sz="2200" i="1"/>
              <a:t>What condition distinguishes between DFA that accept *some* string and those that don't accept *any*?</a:t>
            </a:r>
          </a:p>
          <a:p>
            <a:pPr marL="0" indent="0">
              <a:buNone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976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Claim: </a:t>
            </a:r>
            <a:r>
              <a:rPr lang="en-US" sz="2000" dirty="0"/>
              <a:t>E</a:t>
            </a:r>
            <a:r>
              <a:rPr lang="en-US" sz="2000" baseline="-25000" dirty="0"/>
              <a:t>DFA</a:t>
            </a:r>
            <a:r>
              <a:rPr lang="en-US" sz="2000" dirty="0"/>
              <a:t> is decidable</a:t>
            </a:r>
          </a:p>
          <a:p>
            <a:pPr marL="0" indent="0">
              <a:buNone/>
            </a:pPr>
            <a:r>
              <a:rPr lang="en-US" sz="2000" b="1" dirty="0"/>
              <a:t>Proof: </a:t>
            </a:r>
            <a:r>
              <a:rPr lang="en-US" sz="2000" dirty="0"/>
              <a:t>WTS that { &lt;A&gt; | A is a DFA over Σ, L(A) is empty } is decidable. </a:t>
            </a:r>
            <a:r>
              <a:rPr lang="en-US" sz="2000" dirty="0">
                <a:solidFill>
                  <a:schemeClr val="accent1"/>
                </a:solidFill>
              </a:rPr>
              <a:t>Idea: give high-level description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Step 1: construction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200" i="1" dirty="0"/>
              <a:t>What condition distinguishes between DFA that accept *some* string and those that don't accept *any*?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Cloud Callout 3"/>
          <p:cNvSpPr/>
          <p:nvPr/>
        </p:nvSpPr>
        <p:spPr>
          <a:xfrm>
            <a:off x="4077566" y="1850405"/>
            <a:ext cx="4609234" cy="1583822"/>
          </a:xfrm>
          <a:prstGeom prst="cloudCallout">
            <a:avLst>
              <a:gd name="adj1" fmla="val -43614"/>
              <a:gd name="adj2" fmla="val 53589"/>
            </a:avLst>
          </a:prstGeom>
          <a:solidFill>
            <a:srgbClr val="FEF2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4128D2"/>
                </a:solidFill>
              </a:rPr>
              <a:t>Breadth first search in transition diagram to look for path from state </a:t>
            </a:r>
            <a:r>
              <a:rPr lang="en-US" dirty="0" err="1">
                <a:solidFill>
                  <a:srgbClr val="4128D2"/>
                </a:solidFill>
              </a:rPr>
              <a:t>state</a:t>
            </a:r>
            <a:r>
              <a:rPr lang="en-US" dirty="0">
                <a:solidFill>
                  <a:srgbClr val="4128D2"/>
                </a:solidFill>
              </a:rPr>
              <a:t> to an accepting state</a:t>
            </a:r>
          </a:p>
        </p:txBody>
      </p:sp>
    </p:spTree>
    <p:extLst>
      <p:ext uri="{BB962C8B-B14F-4D97-AF65-F5344CB8AC3E}">
        <p14:creationId xmlns:p14="http://schemas.microsoft.com/office/powerpoint/2010/main" val="1638568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Claim: </a:t>
            </a:r>
            <a:r>
              <a:rPr lang="en-US" dirty="0"/>
              <a:t>E</a:t>
            </a:r>
            <a:r>
              <a:rPr lang="en-US" baseline="-25000" dirty="0"/>
              <a:t>DFA</a:t>
            </a:r>
            <a:r>
              <a:rPr lang="en-US" dirty="0"/>
              <a:t> is decidable</a:t>
            </a:r>
          </a:p>
          <a:p>
            <a:pPr marL="0" indent="0">
              <a:buNone/>
            </a:pPr>
            <a:r>
              <a:rPr lang="en-US" b="1" dirty="0"/>
              <a:t>Proof: </a:t>
            </a:r>
            <a:r>
              <a:rPr lang="en-US" dirty="0"/>
              <a:t>WTS that { &lt;A&gt; | A is a DFA over Σ, L(A) is empty } is decidable. </a:t>
            </a:r>
            <a:r>
              <a:rPr lang="en-US" dirty="0">
                <a:solidFill>
                  <a:schemeClr val="accent1"/>
                </a:solidFill>
              </a:rPr>
              <a:t>Idea: give high-level description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Step 1: construction</a:t>
            </a:r>
          </a:p>
          <a:p>
            <a:pPr marL="0" indent="0">
              <a:buNone/>
            </a:pPr>
            <a:r>
              <a:rPr lang="en-US" dirty="0"/>
              <a:t>Define TM M</a:t>
            </a:r>
            <a:r>
              <a:rPr lang="en-US" baseline="-25000" dirty="0"/>
              <a:t>2</a:t>
            </a:r>
            <a:r>
              <a:rPr lang="en-US" dirty="0"/>
              <a:t> by: M</a:t>
            </a:r>
            <a:r>
              <a:rPr lang="en-US" baseline="-25000" dirty="0"/>
              <a:t>2</a:t>
            </a:r>
            <a:r>
              <a:rPr lang="en-US" dirty="0"/>
              <a:t> = "On input &lt;A&gt;: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accent5"/>
                </a:solidFill>
              </a:rPr>
              <a:t>Check whether A is a valid encoding of a DFA; if not, reject.</a:t>
            </a:r>
          </a:p>
          <a:p>
            <a:pPr marL="457200" indent="-457200">
              <a:buAutoNum type="arabicPeriod"/>
            </a:pPr>
            <a:r>
              <a:rPr lang="en-US" dirty="0"/>
              <a:t>Mark the start state of A.</a:t>
            </a:r>
          </a:p>
          <a:p>
            <a:pPr marL="457200" indent="-457200">
              <a:buAutoNum type="arabicPeriod"/>
            </a:pPr>
            <a:r>
              <a:rPr lang="en-US" dirty="0"/>
              <a:t>Repeat until no new states get marked:</a:t>
            </a:r>
          </a:p>
          <a:p>
            <a:pPr marL="788670" lvl="1" indent="-514350">
              <a:buFont typeface="+mj-lt"/>
              <a:buAutoNum type="romanLcPeriod"/>
            </a:pPr>
            <a:r>
              <a:rPr lang="en-US" dirty="0"/>
              <a:t>Loop over states of A and mark any unmarked state that has an </a:t>
            </a:r>
            <a:r>
              <a:rPr lang="en-US" b="1" dirty="0"/>
              <a:t>incoming</a:t>
            </a:r>
            <a:r>
              <a:rPr lang="en-US" dirty="0"/>
              <a:t> edge from a marked state.</a:t>
            </a:r>
          </a:p>
          <a:p>
            <a:pPr marL="457200" indent="-457200">
              <a:buAutoNum type="arabicPeriod"/>
            </a:pPr>
            <a:r>
              <a:rPr lang="en-US" dirty="0"/>
              <a:t>If no accept state of A is marked, </a:t>
            </a:r>
            <a:r>
              <a:rPr lang="en-US" i="1" dirty="0"/>
              <a:t>accept</a:t>
            </a:r>
            <a:r>
              <a:rPr lang="en-US" dirty="0"/>
              <a:t>; otherwise, </a:t>
            </a:r>
            <a:r>
              <a:rPr lang="en-US" i="1" dirty="0"/>
              <a:t>reject.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9195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decidability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Step 1: construction</a:t>
            </a:r>
          </a:p>
          <a:p>
            <a:pPr marL="0" indent="0">
              <a:buNone/>
            </a:pPr>
            <a:r>
              <a:rPr lang="en-US" dirty="0"/>
              <a:t>Define TM M</a:t>
            </a:r>
            <a:r>
              <a:rPr lang="en-US" baseline="-25000" dirty="0"/>
              <a:t>2</a:t>
            </a:r>
            <a:r>
              <a:rPr lang="en-US" dirty="0"/>
              <a:t> by: M</a:t>
            </a:r>
            <a:r>
              <a:rPr lang="en-US" baseline="-25000" dirty="0"/>
              <a:t>2</a:t>
            </a:r>
            <a:r>
              <a:rPr lang="en-US" dirty="0"/>
              <a:t> = "On input &lt;A&gt;: 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accent5"/>
                </a:solidFill>
              </a:rPr>
              <a:t>Check whether A is a valid encoding of a DFA; if not, reject.</a:t>
            </a:r>
          </a:p>
          <a:p>
            <a:pPr marL="457200" indent="-457200">
              <a:buAutoNum type="arabicPeriod"/>
            </a:pPr>
            <a:r>
              <a:rPr lang="en-US" dirty="0"/>
              <a:t>Mark the state </a:t>
            </a:r>
            <a:r>
              <a:rPr lang="en-US" dirty="0" err="1"/>
              <a:t>state</a:t>
            </a:r>
            <a:r>
              <a:rPr lang="en-US" dirty="0"/>
              <a:t> of A.</a:t>
            </a:r>
          </a:p>
          <a:p>
            <a:pPr marL="457200" indent="-457200">
              <a:buAutoNum type="arabicPeriod"/>
            </a:pPr>
            <a:r>
              <a:rPr lang="en-US" dirty="0"/>
              <a:t>Repeat until no new states get marked:</a:t>
            </a:r>
          </a:p>
          <a:p>
            <a:pPr marL="788670" lvl="1" indent="-514350">
              <a:buFont typeface="+mj-lt"/>
              <a:buAutoNum type="romanLcPeriod"/>
            </a:pPr>
            <a:r>
              <a:rPr lang="en-US" dirty="0"/>
              <a:t>Loop over states of A and mark any unmarked state that has an </a:t>
            </a:r>
            <a:r>
              <a:rPr lang="en-US" b="1" dirty="0"/>
              <a:t>incoming</a:t>
            </a:r>
            <a:r>
              <a:rPr lang="en-US" dirty="0"/>
              <a:t> edge from a marked state.</a:t>
            </a:r>
          </a:p>
          <a:p>
            <a:pPr marL="457200" indent="-457200">
              <a:buAutoNum type="arabicPeriod"/>
            </a:pPr>
            <a:r>
              <a:rPr lang="en-US" dirty="0"/>
              <a:t>If </a:t>
            </a:r>
            <a:r>
              <a:rPr lang="en-US"/>
              <a:t>no accept </a:t>
            </a:r>
            <a:r>
              <a:rPr lang="en-US" dirty="0"/>
              <a:t>state of A is marked, </a:t>
            </a:r>
            <a:r>
              <a:rPr lang="en-US" i="1" dirty="0"/>
              <a:t>accept</a:t>
            </a:r>
            <a:r>
              <a:rPr lang="en-US" dirty="0"/>
              <a:t>; otherwise, </a:t>
            </a:r>
            <a:r>
              <a:rPr lang="en-US" i="1" dirty="0"/>
              <a:t>reject.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Step 2: correctness proof</a:t>
            </a:r>
          </a:p>
          <a:p>
            <a:pPr marL="0" indent="0">
              <a:buNone/>
            </a:pPr>
            <a:r>
              <a:rPr lang="en-US" dirty="0"/>
              <a:t>WTS</a:t>
            </a:r>
            <a:r>
              <a:rPr lang="en-US" dirty="0">
                <a:solidFill>
                  <a:srgbClr val="4128D2"/>
                </a:solidFill>
              </a:rPr>
              <a:t> (1) </a:t>
            </a:r>
            <a:r>
              <a:rPr lang="en-US" dirty="0"/>
              <a:t>L(M</a:t>
            </a:r>
            <a:r>
              <a:rPr lang="en-US" baseline="-25000" dirty="0"/>
              <a:t>2</a:t>
            </a:r>
            <a:r>
              <a:rPr lang="en-US" dirty="0"/>
              <a:t>) = E</a:t>
            </a:r>
            <a:r>
              <a:rPr lang="en-US" baseline="-25000" dirty="0"/>
              <a:t>DFA</a:t>
            </a:r>
            <a:r>
              <a:rPr lang="en-US" dirty="0"/>
              <a:t> and </a:t>
            </a:r>
            <a:r>
              <a:rPr lang="en-US" dirty="0">
                <a:solidFill>
                  <a:srgbClr val="4128D2"/>
                </a:solidFill>
              </a:rPr>
              <a:t>(2) </a:t>
            </a:r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 is a decider.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0620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					</a:t>
            </a:r>
            <a:r>
              <a:rPr lang="en-US" sz="1600" i="1" dirty="0" err="1">
                <a:solidFill>
                  <a:schemeClr val="accent6"/>
                </a:solidFill>
              </a:rPr>
              <a:t>Sipser</a:t>
            </a:r>
            <a:r>
              <a:rPr lang="en-US" sz="1600" i="1" dirty="0">
                <a:solidFill>
                  <a:schemeClr val="accent6"/>
                </a:solidFill>
              </a:rPr>
              <a:t> 4.1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Subroutines</a:t>
            </a:r>
            <a:r>
              <a:rPr lang="en-US" dirty="0"/>
              <a:t>: can use decision procedures of decidable problems as subroutines in other algorithms</a:t>
            </a:r>
          </a:p>
          <a:p>
            <a:pPr lvl="1"/>
            <a:r>
              <a:rPr lang="en-US" dirty="0"/>
              <a:t>A</a:t>
            </a:r>
            <a:r>
              <a:rPr lang="en-US" baseline="-25000" dirty="0"/>
              <a:t>DFA</a:t>
            </a:r>
          </a:p>
          <a:p>
            <a:pPr lvl="1"/>
            <a:r>
              <a:rPr lang="en-US" dirty="0"/>
              <a:t>E</a:t>
            </a:r>
            <a:r>
              <a:rPr lang="en-US" baseline="-25000" dirty="0"/>
              <a:t>DFA</a:t>
            </a:r>
          </a:p>
          <a:p>
            <a:pPr lvl="1"/>
            <a:r>
              <a:rPr lang="en-US" dirty="0"/>
              <a:t>EQ</a:t>
            </a:r>
            <a:r>
              <a:rPr lang="en-US" baseline="-25000" dirty="0"/>
              <a:t>DFA</a:t>
            </a:r>
            <a:endParaRPr lang="en-US" dirty="0"/>
          </a:p>
          <a:p>
            <a:r>
              <a:rPr lang="en-US" b="1" dirty="0">
                <a:solidFill>
                  <a:srgbClr val="4128D2"/>
                </a:solidFill>
              </a:rPr>
              <a:t>Constructions</a:t>
            </a:r>
            <a:r>
              <a:rPr lang="en-US" dirty="0"/>
              <a:t>: can use algorithms for constructions as subroutines in other algorithms</a:t>
            </a:r>
          </a:p>
          <a:p>
            <a:pPr lvl="1"/>
            <a:r>
              <a:rPr lang="en-US" dirty="0"/>
              <a:t>Converting DFA to DFA recognizing complement (or Kleene star).</a:t>
            </a:r>
          </a:p>
          <a:p>
            <a:pPr lvl="1"/>
            <a:r>
              <a:rPr lang="en-US" dirty="0"/>
              <a:t>Converting two DFA/NFA to one recognizing union (or intersection, concatenation).</a:t>
            </a:r>
          </a:p>
          <a:p>
            <a:pPr lvl="1"/>
            <a:r>
              <a:rPr lang="en-US" dirty="0"/>
              <a:t>Converting NFA to equivalent DFA.</a:t>
            </a:r>
          </a:p>
          <a:p>
            <a:pPr lvl="1"/>
            <a:r>
              <a:rPr lang="en-US" dirty="0"/>
              <a:t>Converting regular expression to equivalent NFA.</a:t>
            </a:r>
          </a:p>
          <a:p>
            <a:pPr lvl="1"/>
            <a:r>
              <a:rPr lang="en-US" dirty="0"/>
              <a:t>Converting DFA to equivalent regular expression.</a:t>
            </a:r>
          </a:p>
        </p:txBody>
      </p:sp>
    </p:spTree>
    <p:extLst>
      <p:ext uri="{BB962C8B-B14F-4D97-AF65-F5344CB8AC3E}">
        <p14:creationId xmlns:p14="http://schemas.microsoft.com/office/powerpoint/2010/main" val="39583388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 computational problem is </a:t>
            </a:r>
            <a:r>
              <a:rPr lang="en-US" b="1">
                <a:solidFill>
                  <a:schemeClr val="tx2"/>
                </a:solidFill>
              </a:rPr>
              <a:t>decidable</a:t>
            </a:r>
            <a:r>
              <a:rPr lang="en-US"/>
              <a:t> iff the language encoding the problem instances is decidable </a:t>
            </a:r>
          </a:p>
        </p:txBody>
      </p:sp>
      <p:sp>
        <p:nvSpPr>
          <p:cNvPr id="4" name="Rectangle 3"/>
          <p:cNvSpPr/>
          <p:nvPr/>
        </p:nvSpPr>
        <p:spPr>
          <a:xfrm>
            <a:off x="728345" y="1217713"/>
            <a:ext cx="3230865" cy="388610"/>
          </a:xfrm>
          <a:prstGeom prst="rect">
            <a:avLst/>
          </a:prstGeom>
          <a:noFill/>
          <a:ln>
            <a:solidFill>
              <a:srgbClr val="F2AF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46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Sample computational problems and their encodings:</a:t>
            </a: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A</a:t>
            </a:r>
            <a:r>
              <a:rPr lang="en-US" b="1" baseline="-25000" dirty="0">
                <a:solidFill>
                  <a:schemeClr val="accent1"/>
                </a:solidFill>
              </a:rPr>
              <a:t>DFA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a string is accepted by a DFA."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</a:t>
            </a:r>
            <a:r>
              <a:rPr lang="en-US" dirty="0" err="1">
                <a:solidFill>
                  <a:srgbClr val="4128D2"/>
                </a:solidFill>
              </a:rPr>
              <a:t>B,w</a:t>
            </a:r>
            <a:r>
              <a:rPr lang="en-US" dirty="0">
                <a:solidFill>
                  <a:srgbClr val="4128D2"/>
                </a:solidFill>
              </a:rPr>
              <a:t>&gt; | B is a DFA over Σ, w in Σ*, and w is in L(B)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</a:t>
            </a:r>
            <a:r>
              <a:rPr lang="en-US" b="1" baseline="-25000" dirty="0">
                <a:solidFill>
                  <a:schemeClr val="accent1"/>
                </a:solidFill>
              </a:rPr>
              <a:t>DFA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 of a DFA is empty."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&lt;A&gt; | A is a DFA over Σ, L(A) is empty 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EQ</a:t>
            </a:r>
            <a:r>
              <a:rPr lang="en-US" b="1" baseline="-25000" dirty="0">
                <a:solidFill>
                  <a:schemeClr val="accent1"/>
                </a:solidFill>
              </a:rPr>
              <a:t>DFA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languages of two DFAs are equal."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&lt;A, B&gt; | A and B are DFA over Σ, L(A) = L(B)}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FACT: all of these problems are decidable!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07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Sample computational problems and their encodings:</a:t>
            </a: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A</a:t>
            </a:r>
            <a:r>
              <a:rPr lang="en-US" b="1" baseline="-25000" dirty="0">
                <a:solidFill>
                  <a:schemeClr val="accent1"/>
                </a:solidFill>
              </a:rPr>
              <a:t>PDA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a string is accepted by a PDA."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</a:t>
            </a:r>
            <a:r>
              <a:rPr lang="en-US" dirty="0" err="1">
                <a:solidFill>
                  <a:srgbClr val="4128D2"/>
                </a:solidFill>
              </a:rPr>
              <a:t>B,w</a:t>
            </a:r>
            <a:r>
              <a:rPr lang="en-US" dirty="0">
                <a:solidFill>
                  <a:srgbClr val="4128D2"/>
                </a:solidFill>
              </a:rPr>
              <a:t>&gt; | B is a PDA over Σ, w in Σ*, and w is in L(B)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</a:t>
            </a:r>
            <a:r>
              <a:rPr lang="en-US" b="1" baseline="-25000" dirty="0">
                <a:solidFill>
                  <a:schemeClr val="accent1"/>
                </a:solidFill>
              </a:rPr>
              <a:t>PDA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 of a PDA is empty."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&lt;A&gt; | A is a PDA over Σ, L(A) is empty 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EQ</a:t>
            </a:r>
            <a:r>
              <a:rPr lang="en-US" b="1" baseline="-25000" dirty="0">
                <a:solidFill>
                  <a:schemeClr val="accent1"/>
                </a:solidFill>
              </a:rPr>
              <a:t>PDA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languages of two PDAs are equal."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&lt;A, B&gt; | A and B are PDA over Σ, L(A) = L(B)}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FACT: some of these problems are decidable, and some are not!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224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/>
              <a:t>Sample computational problems and their encodings:</a:t>
            </a: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A</a:t>
            </a:r>
            <a:r>
              <a:rPr lang="en-US" b="1" baseline="-25000" dirty="0">
                <a:solidFill>
                  <a:schemeClr val="accent1"/>
                </a:solidFill>
              </a:rPr>
              <a:t>TM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a string is accepted by a TM."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</a:t>
            </a:r>
            <a:r>
              <a:rPr lang="en-US" dirty="0" err="1">
                <a:solidFill>
                  <a:srgbClr val="4128D2"/>
                </a:solidFill>
              </a:rPr>
              <a:t>B,w</a:t>
            </a:r>
            <a:r>
              <a:rPr lang="en-US" dirty="0">
                <a:solidFill>
                  <a:srgbClr val="4128D2"/>
                </a:solidFill>
              </a:rPr>
              <a:t>&gt; | B is a TM over Σ, w in Σ*, and w is in L(B) 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</a:t>
            </a:r>
            <a:r>
              <a:rPr lang="en-US" b="1" baseline="-25000" dirty="0">
                <a:solidFill>
                  <a:schemeClr val="accent1"/>
                </a:solidFill>
              </a:rPr>
              <a:t>TM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 of a TM is empty."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&lt;A&gt; | A is a TM over Σ, L(A) is empty 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1"/>
                </a:solidFill>
              </a:rPr>
              <a:t>EQ</a:t>
            </a:r>
            <a:r>
              <a:rPr lang="en-US" b="1" baseline="-25000" dirty="0">
                <a:solidFill>
                  <a:schemeClr val="accent1"/>
                </a:solidFill>
              </a:rPr>
              <a:t>TM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"Check whether the languages of two TMs are equal."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4128D2"/>
                </a:solidFill>
              </a:rPr>
              <a:t>{ &lt;A, B&gt; | A and B are TM over Σ, L(A) = L(B)}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FACT: all of these problems are undecidable!</a:t>
            </a:r>
          </a:p>
          <a:p>
            <a:pPr marL="0" indent="0">
              <a:buNone/>
            </a:pPr>
            <a:endParaRPr lang="en-US" dirty="0">
              <a:solidFill>
                <a:srgbClr val="4128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0908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Undecidable?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are many ways to prove that a problem </a:t>
            </a:r>
            <a:r>
              <a:rPr lang="en-US" b="1" i="1"/>
              <a:t>is</a:t>
            </a:r>
            <a:r>
              <a:rPr lang="en-US"/>
              <a:t> decidable.</a:t>
            </a:r>
          </a:p>
          <a:p>
            <a:r>
              <a:rPr lang="en-US"/>
              <a:t>How do we find (and prove) that a problem </a:t>
            </a:r>
            <a:r>
              <a:rPr lang="en-US" b="1" i="1"/>
              <a:t>is not</a:t>
            </a:r>
            <a:r>
              <a:rPr lang="en-US" i="1"/>
              <a:t> </a:t>
            </a:r>
            <a:r>
              <a:rPr lang="en-US"/>
              <a:t>decidable?</a:t>
            </a:r>
          </a:p>
        </p:txBody>
      </p:sp>
    </p:spTree>
    <p:extLst>
      <p:ext uri="{BB962C8B-B14F-4D97-AF65-F5344CB8AC3E}">
        <p14:creationId xmlns:p14="http://schemas.microsoft.com/office/powerpoint/2010/main" val="824836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en-US" baseline="-25000"/>
              <a:t>TM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chemeClr val="accent4"/>
                </a:solidFill>
              </a:rPr>
              <a:t>Recall A</a:t>
            </a:r>
            <a:r>
              <a:rPr lang="en-US" baseline="-25000">
                <a:solidFill>
                  <a:schemeClr val="accent4"/>
                </a:solidFill>
              </a:rPr>
              <a:t>DFA</a:t>
            </a:r>
            <a:r>
              <a:rPr lang="en-US">
                <a:solidFill>
                  <a:schemeClr val="accent4"/>
                </a:solidFill>
              </a:rPr>
              <a:t> = {&lt;B,w&gt; | B is a DFA and w is in L(B) }</a:t>
            </a:r>
            <a:endParaRPr lang="en-US"/>
          </a:p>
          <a:p>
            <a:pPr marL="0" indent="0">
              <a:buNone/>
            </a:pPr>
            <a:r>
              <a:rPr lang="en-US">
                <a:solidFill>
                  <a:schemeClr val="accent4"/>
                </a:solidFill>
              </a:rPr>
              <a:t>	</a:t>
            </a:r>
            <a:r>
              <a:rPr lang="en-US">
                <a:solidFill>
                  <a:srgbClr val="FF0000"/>
                </a:solidFill>
              </a:rPr>
              <a:t>Decider for this set simulates arbitrary DFA</a:t>
            </a:r>
            <a:endParaRPr lang="en-US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A</a:t>
            </a:r>
            <a:r>
              <a:rPr lang="en-US" baseline="-25000">
                <a:solidFill>
                  <a:srgbClr val="292934"/>
                </a:solidFill>
              </a:rPr>
              <a:t>TM</a:t>
            </a:r>
            <a:r>
              <a:rPr lang="en-US">
                <a:solidFill>
                  <a:srgbClr val="292934"/>
                </a:solidFill>
              </a:rPr>
              <a:t> = {&lt;M,w&gt; | M is a TM and w is in L(M) } 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	Decider for this set simulates arbitrary TMs ???</a:t>
            </a:r>
            <a:endParaRPr lang="en-US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866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en-US" baseline="-25000"/>
              <a:t>TM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A</a:t>
            </a:r>
            <a:r>
              <a:rPr lang="en-US" baseline="-25000">
                <a:solidFill>
                  <a:srgbClr val="292934"/>
                </a:solidFill>
              </a:rPr>
              <a:t>TM</a:t>
            </a:r>
            <a:r>
              <a:rPr lang="en-US">
                <a:solidFill>
                  <a:srgbClr val="292934"/>
                </a:solidFill>
              </a:rPr>
              <a:t> = {&lt;M,w&gt; | M is a TM and w is in L(M) }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Define the TM N = "On input &lt;M,w&gt;: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rgbClr val="292934"/>
                </a:solidFill>
              </a:rPr>
              <a:t>Simulate M on w.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rgbClr val="292934"/>
                </a:solidFill>
              </a:rPr>
              <a:t>If M accepts, accept.  If M rejects, reject."</a:t>
            </a:r>
          </a:p>
        </p:txBody>
      </p:sp>
    </p:spTree>
    <p:extLst>
      <p:ext uri="{BB962C8B-B14F-4D97-AF65-F5344CB8AC3E}">
        <p14:creationId xmlns:p14="http://schemas.microsoft.com/office/powerpoint/2010/main" val="3016769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en-US" baseline="-25000"/>
              <a:t>TM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A</a:t>
            </a:r>
            <a:r>
              <a:rPr lang="en-US" baseline="-25000">
                <a:solidFill>
                  <a:srgbClr val="292934"/>
                </a:solidFill>
              </a:rPr>
              <a:t>TM</a:t>
            </a:r>
            <a:r>
              <a:rPr lang="en-US">
                <a:solidFill>
                  <a:srgbClr val="292934"/>
                </a:solidFill>
              </a:rPr>
              <a:t> = {&lt;M,w&gt; | M is a TM and w is in L(M) }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Define the TM N = "On input &lt;M,w&gt;: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rgbClr val="292934"/>
                </a:solidFill>
              </a:rPr>
              <a:t>Simulate M on w.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rgbClr val="292934"/>
                </a:solidFill>
              </a:rPr>
              <a:t>If M accepts, accept.  If M rejects, reject."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21125"/>
            <a:ext cx="207052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>
                <a:solidFill>
                  <a:srgbClr val="4128D2"/>
                </a:solidFill>
              </a:rPr>
              <a:t>What is L(N)? </a:t>
            </a:r>
          </a:p>
        </p:txBody>
      </p:sp>
    </p:spTree>
    <p:extLst>
      <p:ext uri="{BB962C8B-B14F-4D97-AF65-F5344CB8AC3E}">
        <p14:creationId xmlns:p14="http://schemas.microsoft.com/office/powerpoint/2010/main" val="820371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en-US" baseline="-25000"/>
              <a:t>TM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A</a:t>
            </a:r>
            <a:r>
              <a:rPr lang="en-US" baseline="-25000">
                <a:solidFill>
                  <a:srgbClr val="292934"/>
                </a:solidFill>
              </a:rPr>
              <a:t>TM</a:t>
            </a:r>
            <a:r>
              <a:rPr lang="en-US">
                <a:solidFill>
                  <a:srgbClr val="292934"/>
                </a:solidFill>
              </a:rPr>
              <a:t> = {&lt;M,w&gt; | M is a TM and w is in L(M) }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Define the TM N = "On input &lt;M,w&gt;: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rgbClr val="292934"/>
                </a:solidFill>
              </a:rPr>
              <a:t>Simulate M on w.</a:t>
            </a:r>
          </a:p>
          <a:p>
            <a:pPr marL="457200" indent="-457200">
              <a:buAutoNum type="arabicPeriod"/>
            </a:pPr>
            <a:r>
              <a:rPr lang="en-US">
                <a:solidFill>
                  <a:srgbClr val="292934"/>
                </a:solidFill>
              </a:rPr>
              <a:t>If M accepts, accept.  If M rejects, reject."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21125"/>
            <a:ext cx="29246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>
                <a:solidFill>
                  <a:srgbClr val="4128D2"/>
                </a:solidFill>
              </a:rPr>
              <a:t>Does N decide A</a:t>
            </a:r>
            <a:r>
              <a:rPr lang="en-US" sz="2200" b="1" i="1" baseline="-25000">
                <a:solidFill>
                  <a:srgbClr val="4128D2"/>
                </a:solidFill>
              </a:rPr>
              <a:t>TM</a:t>
            </a:r>
            <a:r>
              <a:rPr lang="en-US" sz="2200" b="1" i="1">
                <a:solidFill>
                  <a:srgbClr val="4128D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7849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en-US" baseline="-25000"/>
              <a:t>TM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A</a:t>
            </a:r>
            <a:r>
              <a:rPr lang="en-US" baseline="-25000" dirty="0">
                <a:solidFill>
                  <a:srgbClr val="292934"/>
                </a:solidFill>
              </a:rPr>
              <a:t>TM</a:t>
            </a:r>
            <a:r>
              <a:rPr lang="en-US" dirty="0">
                <a:solidFill>
                  <a:srgbClr val="292934"/>
                </a:solidFill>
              </a:rPr>
              <a:t> = {&lt;</a:t>
            </a:r>
            <a:r>
              <a:rPr lang="en-US" dirty="0" err="1">
                <a:solidFill>
                  <a:srgbClr val="292934"/>
                </a:solidFill>
              </a:rPr>
              <a:t>M,w</a:t>
            </a:r>
            <a:r>
              <a:rPr lang="en-US" dirty="0">
                <a:solidFill>
                  <a:srgbClr val="292934"/>
                </a:solidFill>
              </a:rPr>
              <a:t>&gt; | M is a TM and w is in L(M) }</a:t>
            </a:r>
          </a:p>
          <a:p>
            <a:pPr marL="0" indent="0">
              <a:buNone/>
            </a:pPr>
            <a:endParaRPr lang="en-US" dirty="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Define the TM N = "On input &lt;</a:t>
            </a:r>
            <a:r>
              <a:rPr lang="en-US" dirty="0" err="1">
                <a:solidFill>
                  <a:srgbClr val="292934"/>
                </a:solidFill>
              </a:rPr>
              <a:t>M,w</a:t>
            </a:r>
            <a:r>
              <a:rPr lang="en-US" dirty="0">
                <a:solidFill>
                  <a:srgbClr val="292934"/>
                </a:solidFill>
              </a:rPr>
              <a:t>&gt;: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292934"/>
                </a:solidFill>
              </a:rPr>
              <a:t>Simulate M on w.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292934"/>
                </a:solidFill>
              </a:rPr>
              <a:t>If M accepts, accept.  If M rejects, reject."</a:t>
            </a:r>
          </a:p>
          <a:p>
            <a:pPr marL="457200" indent="-457200">
              <a:buAutoNum type="arabicPeriod"/>
            </a:pPr>
            <a:endParaRPr lang="en-US" dirty="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Conclusion</a:t>
            </a:r>
            <a:r>
              <a:rPr lang="en-US" dirty="0">
                <a:solidFill>
                  <a:schemeClr val="tx2"/>
                </a:solidFill>
              </a:rPr>
              <a:t>: </a:t>
            </a:r>
            <a:r>
              <a:rPr lang="en-US" dirty="0">
                <a:solidFill>
                  <a:srgbClr val="292934"/>
                </a:solidFill>
              </a:rPr>
              <a:t>A</a:t>
            </a:r>
            <a:r>
              <a:rPr lang="en-US" baseline="-25000" dirty="0">
                <a:solidFill>
                  <a:srgbClr val="292934"/>
                </a:solidFill>
              </a:rPr>
              <a:t>TM</a:t>
            </a:r>
            <a:r>
              <a:rPr lang="en-US" dirty="0">
                <a:solidFill>
                  <a:srgbClr val="292934"/>
                </a:solidFill>
              </a:rPr>
              <a:t> is Turing-recognizable.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Is it decidable?</a:t>
            </a:r>
          </a:p>
        </p:txBody>
      </p:sp>
    </p:spTree>
    <p:extLst>
      <p:ext uri="{BB962C8B-B14F-4D97-AF65-F5344CB8AC3E}">
        <p14:creationId xmlns:p14="http://schemas.microsoft.com/office/powerpoint/2010/main" val="2769313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Diagonalization proof: A</a:t>
            </a:r>
            <a:r>
              <a:rPr lang="en-US" sz="3600" baseline="-25000"/>
              <a:t>TM</a:t>
            </a:r>
            <a:r>
              <a:rPr lang="en-US" sz="3600"/>
              <a:t> not decidable </a:t>
            </a:r>
            <a:r>
              <a:rPr lang="en-US" sz="1800" i="1">
                <a:solidFill>
                  <a:schemeClr val="accent6"/>
                </a:solidFill>
              </a:rPr>
              <a:t>Sipser 4.11</a:t>
            </a:r>
            <a:endParaRPr lang="en-US" sz="18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Assume, </a:t>
            </a:r>
            <a:r>
              <a:rPr lang="en-US">
                <a:solidFill>
                  <a:srgbClr val="FF0000"/>
                </a:solidFill>
              </a:rPr>
              <a:t>towards a contradiction</a:t>
            </a:r>
            <a:r>
              <a:rPr lang="en-US"/>
              <a:t>, that it is.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Call </a:t>
            </a:r>
            <a:r>
              <a:rPr lang="en-US" b="1"/>
              <a:t>M</a:t>
            </a:r>
            <a:r>
              <a:rPr lang="en-US" b="1" baseline="-25000"/>
              <a:t>ATM</a:t>
            </a:r>
            <a:r>
              <a:rPr lang="en-US"/>
              <a:t> the decider for A</a:t>
            </a:r>
            <a:r>
              <a:rPr lang="en-US" baseline="-25000"/>
              <a:t>TM</a:t>
            </a:r>
            <a:r>
              <a:rPr lang="en-US"/>
              <a:t>: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For every TM M and every string w,</a:t>
            </a:r>
          </a:p>
          <a:p>
            <a:pPr>
              <a:buFontTx/>
              <a:buChar char="•"/>
            </a:pPr>
            <a:r>
              <a:rPr lang="en-US" sz="2000"/>
              <a:t>Computation of M</a:t>
            </a:r>
            <a:r>
              <a:rPr lang="en-US" sz="2000" baseline="-25000"/>
              <a:t>ATM</a:t>
            </a:r>
            <a:r>
              <a:rPr lang="en-US" sz="2000"/>
              <a:t> on &lt;M,w&gt; halts and accepts if w is in L(M).</a:t>
            </a:r>
          </a:p>
          <a:p>
            <a:pPr>
              <a:buFontTx/>
              <a:buChar char="•"/>
            </a:pPr>
            <a:r>
              <a:rPr lang="en-US" sz="2000"/>
              <a:t>Computation of M</a:t>
            </a:r>
            <a:r>
              <a:rPr lang="en-US" sz="2000" baseline="-25000"/>
              <a:t>ATM </a:t>
            </a:r>
            <a:r>
              <a:rPr lang="en-US" sz="2000"/>
              <a:t>on &lt;M,w&gt; halts and rejects if w is not in L(M).</a:t>
            </a:r>
          </a:p>
        </p:txBody>
      </p:sp>
      <p:sp>
        <p:nvSpPr>
          <p:cNvPr id="4" name="Explosion 2 3"/>
          <p:cNvSpPr/>
          <p:nvPr/>
        </p:nvSpPr>
        <p:spPr>
          <a:xfrm>
            <a:off x="6088219" y="1942529"/>
            <a:ext cx="2782652" cy="1158047"/>
          </a:xfrm>
          <a:prstGeom prst="irregularSeal2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</a:t>
            </a:r>
            <a:r>
              <a:rPr lang="en-US" b="1" baseline="-25000">
                <a:solidFill>
                  <a:schemeClr val="tx2"/>
                </a:solidFill>
              </a:rPr>
              <a:t>ATM</a:t>
            </a:r>
            <a:r>
              <a:rPr lang="en-US" b="1">
                <a:solidFill>
                  <a:schemeClr val="tx2"/>
                </a:solidFill>
              </a:rPr>
              <a:t> ≠ N</a:t>
            </a:r>
          </a:p>
        </p:txBody>
      </p:sp>
    </p:spTree>
    <p:extLst>
      <p:ext uri="{BB962C8B-B14F-4D97-AF65-F5344CB8AC3E}">
        <p14:creationId xmlns:p14="http://schemas.microsoft.com/office/powerpoint/2010/main" val="629998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Diagonalization proof: A</a:t>
            </a:r>
            <a:r>
              <a:rPr lang="en-US" sz="3600" baseline="-25000"/>
              <a:t>TM</a:t>
            </a:r>
            <a:r>
              <a:rPr lang="en-US" sz="3600"/>
              <a:t> not decidable </a:t>
            </a:r>
            <a:r>
              <a:rPr lang="en-US" sz="1800" i="1">
                <a:solidFill>
                  <a:schemeClr val="accent6"/>
                </a:solidFill>
              </a:rPr>
              <a:t>Sipser 4.11</a:t>
            </a:r>
            <a:endParaRPr lang="en-US" sz="18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Assume, towards a contradiction, that M</a:t>
            </a:r>
            <a:r>
              <a:rPr lang="en-US" sz="2200" baseline="-25000"/>
              <a:t>ATM</a:t>
            </a:r>
            <a:r>
              <a:rPr lang="en-US" sz="2200"/>
              <a:t> decides A</a:t>
            </a:r>
            <a:r>
              <a:rPr lang="en-US" sz="2200" baseline="-25000"/>
              <a:t>TM</a:t>
            </a: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Define the TM D = "On input &lt;M&gt;:</a:t>
            </a:r>
          </a:p>
          <a:p>
            <a:pPr marL="457200" indent="-457200">
              <a:buAutoNum type="arabicPeriod"/>
            </a:pPr>
            <a:r>
              <a:rPr lang="en-US" sz="2200"/>
              <a:t>Run M</a:t>
            </a:r>
            <a:r>
              <a:rPr lang="en-US" sz="2200" baseline="-25000"/>
              <a:t>ATM</a:t>
            </a:r>
            <a:r>
              <a:rPr lang="en-US" sz="2200"/>
              <a:t> on &lt;M, &lt;M&gt;&gt;.</a:t>
            </a:r>
          </a:p>
          <a:p>
            <a:pPr marL="457200" indent="-457200">
              <a:buAutoNum type="arabicPeriod"/>
            </a:pPr>
            <a:r>
              <a:rPr lang="en-US" sz="2200"/>
              <a:t>If M</a:t>
            </a:r>
            <a:r>
              <a:rPr lang="en-US" sz="2200" baseline="-25000"/>
              <a:t>ATM</a:t>
            </a:r>
            <a:r>
              <a:rPr lang="en-US" sz="2200"/>
              <a:t> accepts, reject; if M</a:t>
            </a:r>
            <a:r>
              <a:rPr lang="en-US" sz="2200" baseline="-25000"/>
              <a:t>ATM</a:t>
            </a:r>
            <a:r>
              <a:rPr lang="en-US" sz="2200"/>
              <a:t> rejects, accept."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692731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Diagonalization proof: A</a:t>
            </a:r>
            <a:r>
              <a:rPr lang="en-US" sz="3600" baseline="-25000"/>
              <a:t>TM</a:t>
            </a:r>
            <a:r>
              <a:rPr lang="en-US" sz="3600"/>
              <a:t> not decidable </a:t>
            </a:r>
            <a:r>
              <a:rPr lang="en-US" sz="1800" i="1">
                <a:solidFill>
                  <a:schemeClr val="accent6"/>
                </a:solidFill>
              </a:rPr>
              <a:t>Sipser 4.11</a:t>
            </a:r>
            <a:endParaRPr lang="en-US" sz="18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Assume, towards a contradiction, that M</a:t>
            </a:r>
            <a:r>
              <a:rPr lang="en-US" baseline="-25000"/>
              <a:t>ATM</a:t>
            </a:r>
            <a:r>
              <a:rPr lang="en-US"/>
              <a:t> decides A</a:t>
            </a:r>
            <a:r>
              <a:rPr lang="en-US" baseline="-25000"/>
              <a:t>TM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Define the TM D = "On input &lt;M&gt;:</a:t>
            </a:r>
          </a:p>
          <a:p>
            <a:pPr marL="457200" indent="-457200">
              <a:buAutoNum type="arabicPeriod"/>
            </a:pPr>
            <a:r>
              <a:rPr lang="en-US"/>
              <a:t>Run M</a:t>
            </a:r>
            <a:r>
              <a:rPr lang="en-US" baseline="-25000"/>
              <a:t>ATM</a:t>
            </a:r>
            <a:r>
              <a:rPr lang="en-US"/>
              <a:t> on &lt;M, &lt;M&gt;&gt;.</a:t>
            </a:r>
          </a:p>
          <a:p>
            <a:pPr marL="457200" indent="-457200">
              <a:buAutoNum type="arabicPeriod"/>
            </a:pPr>
            <a:r>
              <a:rPr lang="en-US"/>
              <a:t>If M</a:t>
            </a:r>
            <a:r>
              <a:rPr lang="en-US" baseline="-25000"/>
              <a:t>ATM</a:t>
            </a:r>
            <a:r>
              <a:rPr lang="en-US"/>
              <a:t> accepts, reject; if M</a:t>
            </a:r>
            <a:r>
              <a:rPr lang="en-US" baseline="-25000"/>
              <a:t>ATM</a:t>
            </a:r>
            <a:r>
              <a:rPr lang="en-US"/>
              <a:t> rejects, accept."</a:t>
            </a:r>
          </a:p>
          <a:p>
            <a:pPr marL="457200" indent="-457200"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Consider </a:t>
            </a:r>
            <a:r>
              <a:rPr lang="en-US" b="1">
                <a:solidFill>
                  <a:schemeClr val="tx2"/>
                </a:solidFill>
              </a:rPr>
              <a:t>running D on input &lt;D&gt;</a:t>
            </a:r>
            <a:r>
              <a:rPr lang="en-US"/>
              <a:t>. Because D is a decider:</a:t>
            </a:r>
          </a:p>
          <a:p>
            <a:pPr>
              <a:buFont typeface="Wingdings" charset="2"/>
              <a:buChar char="Ø"/>
            </a:pPr>
            <a:r>
              <a:rPr lang="en-US" b="1">
                <a:solidFill>
                  <a:schemeClr val="tx2"/>
                </a:solidFill>
              </a:rPr>
              <a:t> either computation halts and accepts </a:t>
            </a:r>
            <a:r>
              <a:rPr lang="en-US">
                <a:solidFill>
                  <a:schemeClr val="tx2"/>
                </a:solidFill>
              </a:rPr>
              <a:t>…</a:t>
            </a:r>
            <a:endParaRPr lang="en-US" b="1">
              <a:solidFill>
                <a:schemeClr val="tx2"/>
              </a:solidFill>
            </a:endParaRPr>
          </a:p>
          <a:p>
            <a:pPr>
              <a:buFont typeface="Wingdings" charset="2"/>
              <a:buChar char="Ø"/>
            </a:pPr>
            <a:r>
              <a:rPr lang="en-US" b="1">
                <a:solidFill>
                  <a:schemeClr val="tx2"/>
                </a:solidFill>
              </a:rPr>
              <a:t> or computation halts and rejects </a:t>
            </a:r>
            <a:r>
              <a:rPr lang="en-US">
                <a:solidFill>
                  <a:schemeClr val="tx2"/>
                </a:solidFill>
              </a:rPr>
              <a:t> …</a:t>
            </a:r>
            <a:endParaRPr lang="en-US" b="1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52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8C025-B1D8-9798-A006-6B78A2D6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8C959-2687-674E-A512-E70227B7B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Diagonalization proof: A</a:t>
            </a:r>
            <a:r>
              <a:rPr lang="en-US" sz="3600" baseline="-25000" dirty="0"/>
              <a:t>TM</a:t>
            </a:r>
            <a:r>
              <a:rPr lang="en-US" sz="3600" dirty="0"/>
              <a:t> not decidable </a:t>
            </a:r>
            <a:r>
              <a:rPr lang="en-US" sz="1800" i="1" dirty="0" err="1">
                <a:solidFill>
                  <a:schemeClr val="accent6"/>
                </a:solidFill>
              </a:rPr>
              <a:t>Sipser</a:t>
            </a:r>
            <a:r>
              <a:rPr lang="en-US" sz="1800" i="1" dirty="0">
                <a:solidFill>
                  <a:schemeClr val="accent6"/>
                </a:solidFill>
              </a:rPr>
              <a:t> 4.11</a:t>
            </a:r>
            <a:endParaRPr lang="en-US" sz="18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E66E6-73B4-0A02-5298-CD566B03D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Assume, towards a contradiction, that M</a:t>
            </a:r>
            <a:r>
              <a:rPr lang="en-US" baseline="-25000" dirty="0"/>
              <a:t>ATM</a:t>
            </a:r>
            <a:r>
              <a:rPr lang="en-US" dirty="0"/>
              <a:t> decides A</a:t>
            </a:r>
            <a:r>
              <a:rPr lang="en-US" baseline="-25000" dirty="0"/>
              <a:t>TM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Define the TM D = "On input &lt;M&gt;:</a:t>
            </a:r>
          </a:p>
          <a:p>
            <a:pPr marL="457200" indent="-457200">
              <a:buAutoNum type="arabicPeriod"/>
            </a:pPr>
            <a:r>
              <a:rPr lang="en-US" dirty="0"/>
              <a:t>Run M</a:t>
            </a:r>
            <a:r>
              <a:rPr lang="en-US" baseline="-25000" dirty="0"/>
              <a:t>ATM</a:t>
            </a:r>
            <a:r>
              <a:rPr lang="en-US" dirty="0"/>
              <a:t> on &lt;M, &lt;M&gt;&gt;.</a:t>
            </a:r>
          </a:p>
          <a:p>
            <a:pPr marL="457200" indent="-457200">
              <a:buAutoNum type="arabicPeriod"/>
            </a:pPr>
            <a:r>
              <a:rPr lang="en-US" dirty="0"/>
              <a:t>If M</a:t>
            </a:r>
            <a:r>
              <a:rPr lang="en-US" baseline="-25000" dirty="0"/>
              <a:t>ATM</a:t>
            </a:r>
            <a:r>
              <a:rPr lang="en-US" dirty="0"/>
              <a:t> accepts, reject; if M</a:t>
            </a:r>
            <a:r>
              <a:rPr lang="en-US" baseline="-25000" dirty="0"/>
              <a:t>ATM</a:t>
            </a:r>
            <a:r>
              <a:rPr lang="en-US" dirty="0"/>
              <a:t> rejects, accept."</a:t>
            </a:r>
          </a:p>
          <a:p>
            <a:pPr marL="457200" indent="-457200">
              <a:buAutoNum type="arabicPeriod"/>
            </a:pPr>
            <a:endParaRPr lang="en-US" dirty="0"/>
          </a:p>
          <a:p>
            <a:r>
              <a:rPr lang="en-US" dirty="0"/>
              <a:t>If D(&lt;D&gt;) </a:t>
            </a:r>
            <a:r>
              <a:rPr lang="en-US" dirty="0">
                <a:solidFill>
                  <a:srgbClr val="00B050"/>
                </a:solidFill>
              </a:rPr>
              <a:t>accepts</a:t>
            </a:r>
            <a:r>
              <a:rPr lang="en-US" dirty="0"/>
              <a:t>, then M</a:t>
            </a:r>
            <a:r>
              <a:rPr lang="en-US" baseline="-25000" dirty="0"/>
              <a:t>ATM</a:t>
            </a:r>
            <a:r>
              <a:rPr lang="en-US" dirty="0"/>
              <a:t>(&lt;D&gt;,&lt;D&gt;) </a:t>
            </a:r>
            <a:r>
              <a:rPr lang="en-US" dirty="0">
                <a:solidFill>
                  <a:srgbClr val="FF0000"/>
                </a:solidFill>
              </a:rPr>
              <a:t>rejects</a:t>
            </a:r>
            <a:r>
              <a:rPr lang="en-US" dirty="0"/>
              <a:t>, which means D(&lt;D&gt;) should have </a:t>
            </a:r>
            <a:r>
              <a:rPr lang="en-US" dirty="0">
                <a:solidFill>
                  <a:srgbClr val="FF0000"/>
                </a:solidFill>
              </a:rPr>
              <a:t>rejected</a:t>
            </a:r>
          </a:p>
          <a:p>
            <a:r>
              <a:rPr lang="en-US" dirty="0"/>
              <a:t>If D(&lt;D&gt;) </a:t>
            </a:r>
            <a:r>
              <a:rPr lang="en-US" dirty="0">
                <a:solidFill>
                  <a:srgbClr val="FF0000"/>
                </a:solidFill>
              </a:rPr>
              <a:t>rejects</a:t>
            </a:r>
            <a:r>
              <a:rPr lang="en-US" dirty="0"/>
              <a:t>, then M</a:t>
            </a:r>
            <a:r>
              <a:rPr lang="en-US" baseline="-25000" dirty="0"/>
              <a:t>ATM</a:t>
            </a:r>
            <a:r>
              <a:rPr lang="en-US" dirty="0"/>
              <a:t>(&lt;D&gt;,&lt;D&gt;) </a:t>
            </a:r>
            <a:r>
              <a:rPr lang="en-US" dirty="0">
                <a:solidFill>
                  <a:srgbClr val="00B050"/>
                </a:solidFill>
              </a:rPr>
              <a:t>accepts</a:t>
            </a:r>
            <a:r>
              <a:rPr lang="en-US" dirty="0"/>
              <a:t>, which means D(&lt;D&gt;) should have </a:t>
            </a:r>
            <a:r>
              <a:rPr lang="en-US" dirty="0">
                <a:solidFill>
                  <a:srgbClr val="00B050"/>
                </a:solidFill>
              </a:rPr>
              <a:t>accepted</a:t>
            </a:r>
          </a:p>
          <a:p>
            <a:r>
              <a:rPr lang="en-US" dirty="0"/>
              <a:t>Either way, we reached a </a:t>
            </a:r>
            <a:r>
              <a:rPr lang="en-US" b="1" dirty="0">
                <a:solidFill>
                  <a:srgbClr val="0070C0"/>
                </a:solidFill>
              </a:rPr>
              <a:t>contradiction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73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Diagonalization proof: A</a:t>
            </a:r>
            <a:r>
              <a:rPr lang="en-US" sz="3600" baseline="-25000"/>
              <a:t>TM</a:t>
            </a:r>
            <a:r>
              <a:rPr lang="en-US" sz="3600"/>
              <a:t> not decidable </a:t>
            </a:r>
            <a:r>
              <a:rPr lang="en-US" sz="1800" i="1">
                <a:solidFill>
                  <a:schemeClr val="accent6"/>
                </a:solidFill>
              </a:rPr>
              <a:t>Sipser 4.11</a:t>
            </a:r>
            <a:endParaRPr lang="en-US" sz="1800" i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Assume, towards a contradiction, that M</a:t>
            </a:r>
            <a:r>
              <a:rPr lang="en-US" baseline="-25000"/>
              <a:t>ATM</a:t>
            </a:r>
            <a:r>
              <a:rPr lang="en-US"/>
              <a:t> decides A</a:t>
            </a:r>
            <a:r>
              <a:rPr lang="en-US" baseline="-25000"/>
              <a:t>TM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Define the TM D = "On input &lt;M&gt;:</a:t>
            </a:r>
          </a:p>
          <a:p>
            <a:pPr marL="457200" indent="-457200">
              <a:buAutoNum type="arabicPeriod"/>
            </a:pPr>
            <a:r>
              <a:rPr lang="en-US"/>
              <a:t>Run M</a:t>
            </a:r>
            <a:r>
              <a:rPr lang="en-US" baseline="-25000"/>
              <a:t>ATM</a:t>
            </a:r>
            <a:r>
              <a:rPr lang="en-US"/>
              <a:t> on &lt;M, &lt;M&gt;&gt;.</a:t>
            </a:r>
          </a:p>
          <a:p>
            <a:pPr marL="457200" indent="-457200">
              <a:buAutoNum type="arabicPeriod"/>
            </a:pPr>
            <a:r>
              <a:rPr lang="en-US"/>
              <a:t>If M</a:t>
            </a:r>
            <a:r>
              <a:rPr lang="en-US" baseline="-25000"/>
              <a:t>ATM</a:t>
            </a:r>
            <a:r>
              <a:rPr lang="en-US"/>
              <a:t> accepts, reject; if M</a:t>
            </a:r>
            <a:r>
              <a:rPr lang="en-US" baseline="-25000"/>
              <a:t>ATM</a:t>
            </a:r>
            <a:r>
              <a:rPr lang="en-US"/>
              <a:t> rejects, accept."</a:t>
            </a:r>
          </a:p>
          <a:p>
            <a:pPr marL="457200" indent="-457200"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Consider </a:t>
            </a:r>
            <a:r>
              <a:rPr lang="en-US" b="1">
                <a:solidFill>
                  <a:schemeClr val="tx2"/>
                </a:solidFill>
              </a:rPr>
              <a:t>running D on input &lt;D&gt;</a:t>
            </a:r>
            <a:r>
              <a:rPr lang="en-US"/>
              <a:t>. Because D is a decider:</a:t>
            </a:r>
          </a:p>
          <a:p>
            <a:pPr>
              <a:buFont typeface="Wingdings" charset="2"/>
              <a:buChar char="Ø"/>
            </a:pPr>
            <a:r>
              <a:rPr lang="en-US" b="1">
                <a:solidFill>
                  <a:schemeClr val="tx2"/>
                </a:solidFill>
              </a:rPr>
              <a:t> either computation halts and accepts </a:t>
            </a:r>
            <a:r>
              <a:rPr lang="en-US">
                <a:solidFill>
                  <a:schemeClr val="tx2"/>
                </a:solidFill>
              </a:rPr>
              <a:t>…</a:t>
            </a:r>
            <a:endParaRPr lang="en-US" b="1">
              <a:solidFill>
                <a:schemeClr val="tx2"/>
              </a:solidFill>
            </a:endParaRPr>
          </a:p>
          <a:p>
            <a:pPr>
              <a:buFont typeface="Wingdings" charset="2"/>
              <a:buChar char="Ø"/>
            </a:pPr>
            <a:r>
              <a:rPr lang="en-US" b="1">
                <a:solidFill>
                  <a:schemeClr val="tx2"/>
                </a:solidFill>
              </a:rPr>
              <a:t> or computation halts and rejects </a:t>
            </a:r>
            <a:r>
              <a:rPr lang="en-US">
                <a:solidFill>
                  <a:schemeClr val="tx2"/>
                </a:solidFill>
              </a:rPr>
              <a:t> …</a:t>
            </a:r>
            <a:endParaRPr lang="en-US" b="1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Cloud Callout 3"/>
          <p:cNvSpPr/>
          <p:nvPr/>
        </p:nvSpPr>
        <p:spPr>
          <a:xfrm>
            <a:off x="957055" y="832159"/>
            <a:ext cx="7979934" cy="2934165"/>
          </a:xfrm>
          <a:prstGeom prst="cloudCallout">
            <a:avLst>
              <a:gd name="adj1" fmla="val -34152"/>
              <a:gd name="adj2" fmla="val 73776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Diagonalization???</a:t>
            </a:r>
          </a:p>
          <a:p>
            <a:pPr algn="ctr"/>
            <a:endParaRPr lang="en-US" sz="2400" b="1"/>
          </a:p>
          <a:p>
            <a:pPr algn="ctr"/>
            <a:r>
              <a:rPr lang="en-US" sz="2400" b="1"/>
              <a:t>Self-reference</a:t>
            </a:r>
          </a:p>
          <a:p>
            <a:pPr algn="ctr"/>
            <a:endParaRPr lang="en-US" sz="2400" b="1"/>
          </a:p>
          <a:p>
            <a:pPr algn="ctr"/>
            <a:r>
              <a:rPr lang="en-US" sz="2400" b="1"/>
              <a:t>"Is &lt;D&gt; an element of L(D)?"</a:t>
            </a:r>
          </a:p>
        </p:txBody>
      </p:sp>
    </p:spTree>
    <p:extLst>
      <p:ext uri="{BB962C8B-B14F-4D97-AF65-F5344CB8AC3E}">
        <p14:creationId xmlns:p14="http://schemas.microsoft.com/office/powerpoint/2010/main" val="1873101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B4388-2F52-89C0-A956-76411D88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called diagonalization?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1ECFA-EF52-AC93-0739-A0E9031F4E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236601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Let M</a:t>
                </a:r>
                <a:r>
                  <a:rPr lang="en-US" baseline="-25000" dirty="0"/>
                  <a:t>1</a:t>
                </a:r>
                <a:r>
                  <a:rPr lang="en-US" dirty="0"/>
                  <a:t>, M</a:t>
                </a:r>
                <a:r>
                  <a:rPr lang="en-US" baseline="-25000" dirty="0"/>
                  <a:t>2</a:t>
                </a:r>
                <a:r>
                  <a:rPr lang="en-US" dirty="0"/>
                  <a:t>, … be an enumeration of </a:t>
                </a:r>
                <a:r>
                  <a:rPr lang="en-US" b="1" dirty="0">
                    <a:solidFill>
                      <a:srgbClr val="0070C0"/>
                    </a:solidFill>
                  </a:rPr>
                  <a:t>all TMs</a:t>
                </a:r>
              </a:p>
              <a:p>
                <a:r>
                  <a:rPr lang="en-US" dirty="0"/>
                  <a:t>Let w</a:t>
                </a:r>
                <a:r>
                  <a:rPr lang="en-US" baseline="-25000" dirty="0"/>
                  <a:t>1</a:t>
                </a:r>
                <a:r>
                  <a:rPr lang="en-US" dirty="0"/>
                  <a:t>, w</a:t>
                </a:r>
                <a:r>
                  <a:rPr lang="en-US" baseline="-25000" dirty="0"/>
                  <a:t>2</a:t>
                </a:r>
                <a:r>
                  <a:rPr lang="en-US" dirty="0"/>
                  <a:t>, … be an enumeration of </a:t>
                </a:r>
                <a:r>
                  <a:rPr lang="en-US" b="1" dirty="0">
                    <a:solidFill>
                      <a:srgbClr val="0070C0"/>
                    </a:solidFill>
                  </a:rPr>
                  <a:t>all inputs</a:t>
                </a:r>
              </a:p>
              <a:p>
                <a:r>
                  <a:rPr lang="en-US" dirty="0"/>
                  <a:t>Construct table: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𝑎𝑐𝑐𝑒𝑝𝑡𝑠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𝑜𝑡ℎ𝑒𝑟𝑤𝑖𝑠𝑒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01ECFA-EF52-AC93-0739-A0E9031F4E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2366010"/>
              </a:xfrm>
              <a:blipFill>
                <a:blip r:embed="rId2"/>
                <a:stretch>
                  <a:fillRect l="-66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838317-491F-16BD-49FD-A081339D87E4}"/>
              </a:ext>
            </a:extLst>
          </p:cNvPr>
          <p:cNvGraphicFramePr>
            <a:graphicFrameLocks noGrp="1"/>
          </p:cNvGraphicFramePr>
          <p:nvPr/>
        </p:nvGraphicFramePr>
        <p:xfrm>
          <a:off x="2390851" y="3085897"/>
          <a:ext cx="3761230" cy="1854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52246">
                  <a:extLst>
                    <a:ext uri="{9D8B030D-6E8A-4147-A177-3AD203B41FA5}">
                      <a16:colId xmlns:a16="http://schemas.microsoft.com/office/drawing/2014/main" val="2525242006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3366004871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990085985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2871606282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1033807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w</a:t>
                      </a:r>
                      <a:r>
                        <a:rPr lang="en-US" baseline="-25000" dirty="0"/>
                        <a:t>1</a:t>
                      </a:r>
                      <a:endParaRPr lang="en-IL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w</a:t>
                      </a:r>
                      <a:r>
                        <a:rPr lang="en-US" baseline="-25000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w</a:t>
                      </a:r>
                      <a:r>
                        <a:rPr lang="en-US" baseline="-25000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0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27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99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24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94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115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6831-30A3-4CBF-F9B4-74261A35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770C-228E-B5DB-B001-95BEAAE2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called diagonalization?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0940-93EA-62B4-02CA-8FE76843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10406"/>
            <a:ext cx="8229600" cy="185420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Rows of table describe </a:t>
            </a:r>
            <a:r>
              <a:rPr lang="en-US" b="1" dirty="0">
                <a:solidFill>
                  <a:srgbClr val="0070C0"/>
                </a:solidFill>
              </a:rPr>
              <a:t>all recognizable languages</a:t>
            </a:r>
          </a:p>
          <a:p>
            <a:r>
              <a:rPr lang="en-US" dirty="0"/>
              <a:t>Any other row (=language) </a:t>
            </a:r>
            <a:r>
              <a:rPr lang="en-US" dirty="0">
                <a:solidFill>
                  <a:srgbClr val="FF0000"/>
                </a:solidFill>
              </a:rPr>
              <a:t>cannot be recognizable</a:t>
            </a:r>
          </a:p>
          <a:p>
            <a:r>
              <a:rPr lang="en-US" dirty="0"/>
              <a:t>We will construct such a language</a:t>
            </a:r>
            <a:endParaRPr lang="en-IL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6B390C-2A12-1602-70F6-CD5A38D97AEC}"/>
              </a:ext>
            </a:extLst>
          </p:cNvPr>
          <p:cNvGraphicFramePr>
            <a:graphicFrameLocks noGrp="1"/>
          </p:cNvGraphicFramePr>
          <p:nvPr/>
        </p:nvGraphicFramePr>
        <p:xfrm>
          <a:off x="2529840" y="1119937"/>
          <a:ext cx="3761230" cy="1854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52246">
                  <a:extLst>
                    <a:ext uri="{9D8B030D-6E8A-4147-A177-3AD203B41FA5}">
                      <a16:colId xmlns:a16="http://schemas.microsoft.com/office/drawing/2014/main" val="2525242006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3366004871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990085985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2871606282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1033807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w</a:t>
                      </a:r>
                      <a:r>
                        <a:rPr lang="en-US" baseline="-25000" dirty="0"/>
                        <a:t>1</a:t>
                      </a:r>
                      <a:endParaRPr lang="en-IL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w</a:t>
                      </a:r>
                      <a:r>
                        <a:rPr lang="en-US" baseline="-25000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w</a:t>
                      </a:r>
                      <a:r>
                        <a:rPr lang="en-US" baseline="-25000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0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27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99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24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94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8061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799A9-E3CD-55C6-89C3-730529EC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8D3AA-4CC5-2B15-8485-9CA5C14E4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called diagonalization?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FF846-56C6-1A98-7ACA-0BBEE02D4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86404"/>
          </a:xfrm>
        </p:spPr>
        <p:txBody>
          <a:bodyPr>
            <a:normAutofit/>
          </a:bodyPr>
          <a:lstStyle/>
          <a:p>
            <a:r>
              <a:rPr lang="en-US" dirty="0"/>
              <a:t>Next idea: specialize only to inputs &lt;M</a:t>
            </a:r>
            <a:r>
              <a:rPr lang="en-US" baseline="-25000" dirty="0"/>
              <a:t>i</a:t>
            </a:r>
            <a:r>
              <a:rPr lang="en-US" dirty="0"/>
              <a:t>&gt;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Suffices to construct row (=language) that </a:t>
            </a:r>
            <a:r>
              <a:rPr lang="en-US" dirty="0">
                <a:solidFill>
                  <a:srgbClr val="FF0000"/>
                </a:solidFill>
              </a:rPr>
              <a:t>differs from any row on some of these inputs</a:t>
            </a:r>
          </a:p>
          <a:p>
            <a:pPr marL="0" indent="0" algn="ctr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26116F-9D32-C4D1-F941-24D63E92E5E7}"/>
              </a:ext>
            </a:extLst>
          </p:cNvPr>
          <p:cNvGraphicFramePr>
            <a:graphicFrameLocks noGrp="1"/>
          </p:cNvGraphicFramePr>
          <p:nvPr/>
        </p:nvGraphicFramePr>
        <p:xfrm>
          <a:off x="2244547" y="1829614"/>
          <a:ext cx="3761230" cy="1854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52246">
                  <a:extLst>
                    <a:ext uri="{9D8B030D-6E8A-4147-A177-3AD203B41FA5}">
                      <a16:colId xmlns:a16="http://schemas.microsoft.com/office/drawing/2014/main" val="2525242006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3366004871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990085985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2871606282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1033807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&lt;M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&gt;</a:t>
                      </a:r>
                      <a:endParaRPr lang="en-IL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&lt;M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&gt;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&lt;M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&gt;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0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27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99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b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24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94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8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E4C8-1B92-24B6-AE1E-F265AEDD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2FAD-2020-E5D2-39CC-A489966EA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called diagonalization?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8C71B-FE52-A518-7925-B69BF82DF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0"/>
            <a:ext cx="8350301" cy="3686404"/>
          </a:xfrm>
        </p:spPr>
        <p:txBody>
          <a:bodyPr>
            <a:normAutofit fontScale="92500"/>
          </a:bodyPr>
          <a:lstStyle/>
          <a:p>
            <a:r>
              <a:rPr lang="en-US" dirty="0"/>
              <a:t>Consider the </a:t>
            </a:r>
            <a:r>
              <a:rPr lang="en-US" b="1" dirty="0">
                <a:solidFill>
                  <a:srgbClr val="FF0000"/>
                </a:solidFill>
              </a:rPr>
              <a:t>diagonal</a:t>
            </a:r>
            <a:r>
              <a:rPr lang="en-US" dirty="0"/>
              <a:t>: running M</a:t>
            </a:r>
            <a:r>
              <a:rPr lang="en-US" baseline="-25000" dirty="0"/>
              <a:t>i</a:t>
            </a:r>
            <a:r>
              <a:rPr lang="en-US" dirty="0"/>
              <a:t> on &lt;M</a:t>
            </a:r>
            <a:r>
              <a:rPr lang="en-US" baseline="-25000" dirty="0"/>
              <a:t>i</a:t>
            </a:r>
            <a:r>
              <a:rPr lang="en-US" dirty="0"/>
              <a:t>&gt;; then </a:t>
            </a:r>
            <a:r>
              <a:rPr lang="en-US" b="1" dirty="0">
                <a:solidFill>
                  <a:srgbClr val="0070C0"/>
                </a:solidFill>
              </a:rPr>
              <a:t>flip it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L = {&lt;M&gt;: M doesn’t accept &lt;M&gt;}</a:t>
            </a:r>
          </a:p>
          <a:p>
            <a:r>
              <a:rPr lang="en-US" dirty="0"/>
              <a:t>L cannot be recognized by any M</a:t>
            </a:r>
            <a:r>
              <a:rPr lang="en-US" baseline="-25000" dirty="0"/>
              <a:t>i</a:t>
            </a:r>
            <a:r>
              <a:rPr lang="en-US" dirty="0"/>
              <a:t> – they disagree on input &lt;M</a:t>
            </a:r>
            <a:r>
              <a:rPr lang="en-US" baseline="-25000" dirty="0"/>
              <a:t>i</a:t>
            </a:r>
            <a:r>
              <a:rPr lang="en-US" dirty="0"/>
              <a:t>&gt;</a:t>
            </a:r>
          </a:p>
          <a:p>
            <a:r>
              <a:rPr lang="en-US" dirty="0"/>
              <a:t>Since we consider all TMs, L must be </a:t>
            </a:r>
            <a:r>
              <a:rPr lang="en-US" b="1" dirty="0">
                <a:solidFill>
                  <a:srgbClr val="FF0000"/>
                </a:solidFill>
              </a:rPr>
              <a:t>un-recognizable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CED156-4CA6-1571-7993-F3C66D03A683}"/>
              </a:ext>
            </a:extLst>
          </p:cNvPr>
          <p:cNvGraphicFramePr>
            <a:graphicFrameLocks noGrp="1"/>
          </p:cNvGraphicFramePr>
          <p:nvPr/>
        </p:nvGraphicFramePr>
        <p:xfrm>
          <a:off x="2493264" y="1668677"/>
          <a:ext cx="3761230" cy="18542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752246">
                  <a:extLst>
                    <a:ext uri="{9D8B030D-6E8A-4147-A177-3AD203B41FA5}">
                      <a16:colId xmlns:a16="http://schemas.microsoft.com/office/drawing/2014/main" val="2525242006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3366004871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990085985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2871606282"/>
                    </a:ext>
                  </a:extLst>
                </a:gridCol>
                <a:gridCol w="752246">
                  <a:extLst>
                    <a:ext uri="{9D8B030D-6E8A-4147-A177-3AD203B41FA5}">
                      <a16:colId xmlns:a16="http://schemas.microsoft.com/office/drawing/2014/main" val="1033807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&lt;M</a:t>
                      </a:r>
                      <a:r>
                        <a:rPr lang="en-US" baseline="-25000" dirty="0"/>
                        <a:t>1</a:t>
                      </a:r>
                      <a:r>
                        <a:rPr lang="en-US" baseline="0" dirty="0"/>
                        <a:t>&gt;</a:t>
                      </a:r>
                      <a:endParaRPr lang="en-IL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&lt;M</a:t>
                      </a:r>
                      <a:r>
                        <a:rPr lang="en-US" baseline="-25000" dirty="0"/>
                        <a:t>2</a:t>
                      </a:r>
                      <a:r>
                        <a:rPr lang="en-US" baseline="0" dirty="0"/>
                        <a:t>&gt;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/>
                        <a:t>&lt;M</a:t>
                      </a:r>
                      <a:r>
                        <a:rPr lang="en-US" baseline="-25000" dirty="0"/>
                        <a:t>3</a:t>
                      </a:r>
                      <a:r>
                        <a:rPr lang="en-US" baseline="0" dirty="0"/>
                        <a:t>&gt;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086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27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99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US" baseline="-25000" dirty="0"/>
                        <a:t>3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IL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246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94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72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A772-81BE-3381-2140-04165FEB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perspective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F246F-3B61-8E0E-3BED-7BF764AA9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 language: </a:t>
            </a:r>
            <a:r>
              <a:rPr lang="en-US" dirty="0">
                <a:solidFill>
                  <a:srgbClr val="0070C0"/>
                </a:solidFill>
              </a:rPr>
              <a:t>L = {&lt;M&gt;: M doesn’t accept &lt;M&gt;}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Assume towards a contradiction some </a:t>
            </a:r>
            <a:r>
              <a:rPr lang="en-US" dirty="0">
                <a:solidFill>
                  <a:srgbClr val="FF0000"/>
                </a:solidFill>
              </a:rPr>
              <a:t>TM M decides L</a:t>
            </a:r>
          </a:p>
          <a:p>
            <a:r>
              <a:rPr lang="en-US" dirty="0"/>
              <a:t>There are two options: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&lt;M&gt; in L, then M(&lt;M&gt;) accepts, but then &lt;M&gt; not in 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&lt;M&gt; not in L, then M(&lt;M&gt;) rejects, but then &lt;M&gt; in L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Conclusion: no TM can decide L</a:t>
            </a:r>
          </a:p>
        </p:txBody>
      </p:sp>
    </p:spTree>
    <p:extLst>
      <p:ext uri="{BB962C8B-B14F-4D97-AF65-F5344CB8AC3E}">
        <p14:creationId xmlns:p14="http://schemas.microsoft.com/office/powerpoint/2010/main" val="116940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</a:t>
            </a:r>
            <a:r>
              <a:rPr lang="en-US" baseline="-25000"/>
              <a:t>TM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Recognizable</a:t>
            </a:r>
          </a:p>
          <a:p>
            <a:r>
              <a:rPr lang="en-US" dirty="0"/>
              <a:t>Not decidable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Fact</a:t>
            </a:r>
            <a:r>
              <a:rPr lang="en-US" dirty="0"/>
              <a:t>: A language is decidable </a:t>
            </a:r>
            <a:r>
              <a:rPr lang="en-US" dirty="0" err="1"/>
              <a:t>iff</a:t>
            </a:r>
            <a:r>
              <a:rPr lang="en-US" dirty="0"/>
              <a:t> it and its complement are both </a:t>
            </a:r>
            <a:r>
              <a:rPr lang="en-US" dirty="0" err="1"/>
              <a:t>recgonizable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Corollary</a:t>
            </a:r>
            <a:r>
              <a:rPr lang="en-US" dirty="0"/>
              <a:t>: The complement of A</a:t>
            </a:r>
            <a:r>
              <a:rPr lang="en-US" baseline="-25000" dirty="0"/>
              <a:t>TM </a:t>
            </a:r>
            <a:r>
              <a:rPr lang="en-US" dirty="0"/>
              <a:t>is </a:t>
            </a:r>
            <a:r>
              <a:rPr lang="en-US" b="1" dirty="0">
                <a:solidFill>
                  <a:schemeClr val="tx2"/>
                </a:solidFill>
              </a:rPr>
              <a:t>unrecognizable</a:t>
            </a:r>
          </a:p>
          <a:p>
            <a:pPr marL="0" indent="0">
              <a:buNone/>
            </a:pPr>
            <a:r>
              <a:rPr lang="en-US" dirty="0">
                <a:solidFill>
                  <a:srgbClr val="292934"/>
                </a:solidFill>
              </a:rPr>
              <a:t>A</a:t>
            </a:r>
            <a:r>
              <a:rPr lang="en-US" baseline="-25000" dirty="0">
                <a:solidFill>
                  <a:srgbClr val="292934"/>
                </a:solidFill>
              </a:rPr>
              <a:t>TM</a:t>
            </a:r>
            <a:r>
              <a:rPr lang="en-US" baseline="30000" dirty="0">
                <a:solidFill>
                  <a:srgbClr val="292934"/>
                </a:solidFill>
              </a:rPr>
              <a:t>C</a:t>
            </a:r>
            <a:r>
              <a:rPr lang="en-US" dirty="0">
                <a:solidFill>
                  <a:srgbClr val="292934"/>
                </a:solidFill>
              </a:rPr>
              <a:t>= {&lt;</a:t>
            </a:r>
            <a:r>
              <a:rPr lang="en-US" dirty="0" err="1">
                <a:solidFill>
                  <a:srgbClr val="292934"/>
                </a:solidFill>
              </a:rPr>
              <a:t>M,w</a:t>
            </a:r>
            <a:r>
              <a:rPr lang="en-US" dirty="0">
                <a:solidFill>
                  <a:srgbClr val="292934"/>
                </a:solidFill>
              </a:rPr>
              <a:t>&gt; | M is a TM and w is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292934"/>
                </a:solidFill>
              </a:rPr>
              <a:t> in L(M) 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772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3550</TotalTime>
  <Words>3252</Words>
  <Application>Microsoft Office PowerPoint</Application>
  <PresentationFormat>On-screen Show (16:9)</PresentationFormat>
  <Paragraphs>452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Cambria Math</vt:lpstr>
      <vt:lpstr>Wingdings</vt:lpstr>
      <vt:lpstr>Clarity</vt:lpstr>
      <vt:lpstr>CSE331 Automata and computability</vt:lpstr>
      <vt:lpstr>Today's learning goals Sipser 3.1,3.2</vt:lpstr>
      <vt:lpstr>Review</vt:lpstr>
      <vt:lpstr>Describing TMs   Sipser Section 3.3, p. 184</vt:lpstr>
      <vt:lpstr>Subroutines</vt:lpstr>
      <vt:lpstr>High-level description = Algorithm</vt:lpstr>
      <vt:lpstr>At start of CSE 331…</vt:lpstr>
      <vt:lpstr>Encoding input for TMs  Sipser p. 159</vt:lpstr>
      <vt:lpstr>Encoding inputs</vt:lpstr>
      <vt:lpstr>Example: encoding a DFA</vt:lpstr>
      <vt:lpstr>Example: encoding a DFA</vt:lpstr>
      <vt:lpstr>Computational problems</vt:lpstr>
      <vt:lpstr>Computational problems</vt:lpstr>
      <vt:lpstr>Proving decidability</vt:lpstr>
      <vt:lpstr>Proving decidability</vt:lpstr>
      <vt:lpstr>Proving decidability</vt:lpstr>
      <vt:lpstr>Proving decidability</vt:lpstr>
      <vt:lpstr>Proving decidability</vt:lpstr>
      <vt:lpstr>Proving decidability</vt:lpstr>
      <vt:lpstr>Proving decidability</vt:lpstr>
      <vt:lpstr>Proving decidability</vt:lpstr>
      <vt:lpstr>Proving decidability</vt:lpstr>
      <vt:lpstr>Proving decidability</vt:lpstr>
      <vt:lpstr>Techniques     Sipser 4.1</vt:lpstr>
      <vt:lpstr>Computational problems</vt:lpstr>
      <vt:lpstr>Computational problems</vt:lpstr>
      <vt:lpstr>Computational problems</vt:lpstr>
      <vt:lpstr>Computational problems</vt:lpstr>
      <vt:lpstr>Undecidable?</vt:lpstr>
      <vt:lpstr>ATM</vt:lpstr>
      <vt:lpstr>ATM</vt:lpstr>
      <vt:lpstr>ATM</vt:lpstr>
      <vt:lpstr>ATM</vt:lpstr>
      <vt:lpstr>ATM</vt:lpstr>
      <vt:lpstr>Diagonalization proof: ATM not decidable Sipser 4.11</vt:lpstr>
      <vt:lpstr>Diagonalization proof: ATM not decidable Sipser 4.11</vt:lpstr>
      <vt:lpstr>Diagonalization proof: ATM not decidable Sipser 4.11</vt:lpstr>
      <vt:lpstr>Diagonalization proof: ATM not decidable Sipser 4.11</vt:lpstr>
      <vt:lpstr>Diagonalization proof: ATM not decidable Sipser 4.11</vt:lpstr>
      <vt:lpstr>Why is this called diagonalization?</vt:lpstr>
      <vt:lpstr>Why is this called diagonalization?</vt:lpstr>
      <vt:lpstr>Why is this called diagonalization?</vt:lpstr>
      <vt:lpstr>Why is this called diagonalization?</vt:lpstr>
      <vt:lpstr>Another perspective</vt:lpstr>
      <vt:lpstr>ATM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 Theory of Computation</dc:title>
  <dc:subject/>
  <dc:creator>Mia Minnes Kemp</dc:creator>
  <cp:keywords/>
  <dc:description/>
  <cp:lastModifiedBy>Zayed Humayun</cp:lastModifiedBy>
  <cp:revision>706</cp:revision>
  <dcterms:created xsi:type="dcterms:W3CDTF">2014-10-03T04:30:04Z</dcterms:created>
  <dcterms:modified xsi:type="dcterms:W3CDTF">2026-09-05T10:41:26Z</dcterms:modified>
  <cp:category/>
</cp:coreProperties>
</file>