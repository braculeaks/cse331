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6" r:id="rId3"/>
    <p:sldId id="397" r:id="rId4"/>
    <p:sldId id="399" r:id="rId5"/>
    <p:sldId id="398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21" r:id="rId14"/>
    <p:sldId id="407" r:id="rId15"/>
    <p:sldId id="408" r:id="rId16"/>
    <p:sldId id="409" r:id="rId17"/>
    <p:sldId id="410" r:id="rId18"/>
    <p:sldId id="411" r:id="rId19"/>
    <p:sldId id="419" r:id="rId20"/>
    <p:sldId id="414" r:id="rId21"/>
    <p:sldId id="415" r:id="rId22"/>
    <p:sldId id="416" r:id="rId23"/>
    <p:sldId id="417" r:id="rId24"/>
    <p:sldId id="418" r:id="rId25"/>
    <p:sldId id="420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AD8D9-44AA-4C43-B72A-E77977E4A999}" v="1" dt="2025-10-07T17:47:30.78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688AAD5A-E871-452C-B22E-B6AB0B0CBD56}"/>
    <pc:docChg chg="modSld">
      <pc:chgData name="Shachar Lovett" userId="0c6d1e87c56e93c6" providerId="LiveId" clId="{688AAD5A-E871-452C-B22E-B6AB0B0CBD56}" dt="2019-04-01T12:18:55.081" v="0"/>
      <pc:docMkLst>
        <pc:docMk/>
      </pc:docMkLst>
      <pc:sldChg chg="modSp">
        <pc:chgData name="Shachar Lovett" userId="0c6d1e87c56e93c6" providerId="LiveId" clId="{688AAD5A-E871-452C-B22E-B6AB0B0CBD56}" dt="2019-04-01T12:18:55.081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28E273FA-C0C2-4BD8-BE5D-90968C0060C9}"/>
    <pc:docChg chg="modSld">
      <pc:chgData name="Shachar Lovett" userId="0c6d1e87c56e93c6" providerId="LiveId" clId="{28E273FA-C0C2-4BD8-BE5D-90968C0060C9}" dt="2019-09-06T15:16:09.581" v="0"/>
      <pc:docMkLst>
        <pc:docMk/>
      </pc:docMkLst>
      <pc:sldChg chg="modSp">
        <pc:chgData name="Shachar Lovett" userId="0c6d1e87c56e93c6" providerId="LiveId" clId="{28E273FA-C0C2-4BD8-BE5D-90968C0060C9}" dt="2019-09-06T15:16:09.581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D115BFFD-887E-493A-9C55-8316AABAD0E9}"/>
    <pc:docChg chg="custSel addSld modSld">
      <pc:chgData name="Shachar Lovett" userId="0c6d1e87c56e93c6" providerId="LiveId" clId="{D115BFFD-887E-493A-9C55-8316AABAD0E9}" dt="2025-10-07T17:47:37.086" v="7" actId="478"/>
      <pc:docMkLst>
        <pc:docMk/>
      </pc:docMkLst>
      <pc:sldChg chg="modSp mod">
        <pc:chgData name="Shachar Lovett" userId="0c6d1e87c56e93c6" providerId="LiveId" clId="{D115BFFD-887E-493A-9C55-8316AABAD0E9}" dt="2025-09-11T04:25:26.153" v="5" actId="207"/>
        <pc:sldMkLst>
          <pc:docMk/>
          <pc:sldMk cId="1882651833" sldId="256"/>
        </pc:sldMkLst>
        <pc:spChg chg="mod">
          <ac:chgData name="Shachar Lovett" userId="0c6d1e87c56e93c6" providerId="LiveId" clId="{D115BFFD-887E-493A-9C55-8316AABAD0E9}" dt="2025-09-11T04:25:26.153" v="5" actId="207"/>
          <ac:spMkLst>
            <pc:docMk/>
            <pc:sldMk cId="1882651833" sldId="256"/>
            <ac:spMk id="3" creationId="{00000000-0000-0000-0000-000000000000}"/>
          </ac:spMkLst>
        </pc:spChg>
      </pc:sldChg>
      <pc:sldChg chg="delSp add mod">
        <pc:chgData name="Shachar Lovett" userId="0c6d1e87c56e93c6" providerId="LiveId" clId="{D115BFFD-887E-493A-9C55-8316AABAD0E9}" dt="2025-10-07T17:47:37.086" v="7" actId="478"/>
        <pc:sldMkLst>
          <pc:docMk/>
          <pc:sldMk cId="3781365095" sldId="421"/>
        </pc:sldMkLst>
        <pc:spChg chg="del">
          <ac:chgData name="Shachar Lovett" userId="0c6d1e87c56e93c6" providerId="LiveId" clId="{D115BFFD-887E-493A-9C55-8316AABAD0E9}" dt="2025-10-07T17:47:37.086" v="7" actId="478"/>
          <ac:spMkLst>
            <pc:docMk/>
            <pc:sldMk cId="3781365095" sldId="421"/>
            <ac:spMk id="6" creationId="{9DEF36E1-D867-0931-C859-ED6FF3B9205A}"/>
          </ac:spMkLst>
        </pc:spChg>
      </pc:sldChg>
    </pc:docChg>
  </pc:docChgLst>
  <pc:docChgLst>
    <pc:chgData name="Shachar Lovett" userId="0c6d1e87c56e93c6" providerId="LiveId" clId="{80287B5C-0FA7-4D38-8804-C99520515E69}"/>
    <pc:docChg chg="modSld">
      <pc:chgData name="Shachar Lovett" userId="0c6d1e87c56e93c6" providerId="LiveId" clId="{80287B5C-0FA7-4D38-8804-C99520515E69}" dt="2025-03-06T01:22:01.244" v="0"/>
      <pc:docMkLst>
        <pc:docMk/>
      </pc:docMkLst>
      <pc:sldChg chg="modSp mod">
        <pc:chgData name="Shachar Lovett" userId="0c6d1e87c56e93c6" providerId="LiveId" clId="{80287B5C-0FA7-4D38-8804-C99520515E69}" dt="2025-03-06T01:22:01.244" v="0"/>
        <pc:sldMkLst>
          <pc:docMk/>
          <pc:sldMk cId="1882651833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Thursday, July 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Thursday, July 2,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028700"/>
            <a:ext cx="7965831" cy="1445419"/>
          </a:xfrm>
        </p:spPr>
        <p:txBody>
          <a:bodyPr>
            <a:normAutofit fontScale="90000"/>
          </a:bodyPr>
          <a:lstStyle/>
          <a:p>
            <a:r>
              <a:rPr lang="en-US" dirty="0"/>
              <a:t>CSE 331</a:t>
            </a:r>
            <a:br>
              <a:rPr lang="en-US" dirty="0"/>
            </a:br>
            <a:r>
              <a:rPr lang="en-US" sz="4400" dirty="0"/>
              <a:t>Automata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NFAs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Summer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Today's learning goals	</a:t>
            </a:r>
            <a:r>
              <a:rPr lang="en-US" sz="2400"/>
              <a:t>Sipser Ch 1.1, 1.2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Distinguish between an NFA and a DFA</a:t>
            </a:r>
          </a:p>
          <a:p>
            <a:r>
              <a:rPr lang="en-US"/>
              <a:t>Define nondeterminism and why it may be helpful</a:t>
            </a:r>
          </a:p>
          <a:p>
            <a:r>
              <a:rPr lang="en-US"/>
              <a:t>Design NFA recognizing a given language</a:t>
            </a:r>
          </a:p>
          <a:p>
            <a:r>
              <a:rPr lang="en-US"/>
              <a:t>Precisely specify general constructions for NFA recognizing languages output by operations</a:t>
            </a:r>
          </a:p>
        </p:txBody>
      </p:sp>
    </p:spTree>
    <p:extLst>
      <p:ext uri="{BB962C8B-B14F-4D97-AF65-F5344CB8AC3E}">
        <p14:creationId xmlns:p14="http://schemas.microsoft.com/office/powerpoint/2010/main" val="206396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proof structure/strategy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4128D2"/>
                </a:solidFill>
              </a:rPr>
              <a:t>Theorem:</a:t>
            </a:r>
            <a:r>
              <a:rPr lang="en-US" b="1"/>
              <a:t> For any L over Σ, if L is regular then </a:t>
            </a:r>
            <a:r>
              <a:rPr lang="en-US"/>
              <a:t>[ the result of some operation on L ] </a:t>
            </a:r>
            <a:r>
              <a:rPr lang="en-US" b="1"/>
              <a:t>is also regular.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Proof: 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Given </a:t>
            </a:r>
            <a:r>
              <a:rPr lang="en-US"/>
              <a:t>name variables for sets, machines assumed to exist.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WTS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>
                <a:solidFill>
                  <a:srgbClr val="292934"/>
                </a:solidFill>
              </a:rPr>
              <a:t>state goal and outline plan.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Construction </a:t>
            </a:r>
            <a:r>
              <a:rPr lang="en-US">
                <a:solidFill>
                  <a:srgbClr val="292934"/>
                </a:solidFill>
              </a:rPr>
              <a:t>using objects previously defined + new tools working towards goal.  Give formal definition and explain.</a:t>
            </a:r>
          </a:p>
          <a:p>
            <a:pPr marL="0" indent="0">
              <a:buNone/>
            </a:pPr>
            <a:r>
              <a:rPr lang="en-US" b="1">
                <a:solidFill>
                  <a:srgbClr val="4128D2"/>
                </a:solidFill>
              </a:rPr>
              <a:t>Correctness</a:t>
            </a:r>
            <a:r>
              <a:rPr lang="en-US" b="1">
                <a:solidFill>
                  <a:srgbClr val="292934"/>
                </a:solidFill>
              </a:rPr>
              <a:t> </a:t>
            </a:r>
            <a:r>
              <a:rPr lang="en-US">
                <a:solidFill>
                  <a:srgbClr val="292934"/>
                </a:solidFill>
              </a:rPr>
              <a:t>prove that construction works.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Conclusion</a:t>
            </a:r>
            <a:r>
              <a:rPr lang="en-US">
                <a:solidFill>
                  <a:srgbClr val="292934"/>
                </a:solidFill>
              </a:rPr>
              <a:t> recap what you've proved.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90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Over any fixed alphabet,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Each finite language is regular</a:t>
            </a:r>
          </a:p>
          <a:p>
            <a:r>
              <a:rPr lang="en-US"/>
              <a:t>There are infinite regular languages</a:t>
            </a:r>
          </a:p>
          <a:p>
            <a:r>
              <a:rPr lang="en-US"/>
              <a:t>If a set is regular, its complement is also regular</a:t>
            </a:r>
          </a:p>
          <a:p>
            <a:r>
              <a:rPr lang="en-US"/>
              <a:t>If two sets are regular, their union is also regular</a:t>
            </a:r>
          </a:p>
          <a:p>
            <a:r>
              <a:rPr lang="en-US"/>
              <a:t>If two sets are regular, their intersection is also regular</a:t>
            </a:r>
          </a:p>
        </p:txBody>
      </p:sp>
    </p:spTree>
    <p:extLst>
      <p:ext uri="{BB962C8B-B14F-4D97-AF65-F5344CB8AC3E}">
        <p14:creationId xmlns:p14="http://schemas.microsoft.com/office/powerpoint/2010/main" val="347805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regular operations	</a:t>
            </a:r>
            <a:r>
              <a:rPr lang="en-US" sz="2000"/>
              <a:t>Sipser Def 1.23 p.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For A, B languages over same alphabet, define:</a:t>
            </a:r>
          </a:p>
          <a:p>
            <a:pPr marL="0" indent="0">
              <a:buNone/>
            </a:pPr>
            <a:r>
              <a:rPr lang="en-US">
                <a:latin typeface="Zapf Dingbats"/>
                <a:ea typeface="Zapf Dingbats"/>
                <a:cs typeface="Zapf Dingbats"/>
              </a:rPr>
              <a:t>							✔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	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" name="Cloud Callout 8"/>
          <p:cNvSpPr/>
          <p:nvPr/>
        </p:nvSpPr>
        <p:spPr>
          <a:xfrm>
            <a:off x="2240254" y="3638085"/>
            <a:ext cx="6866819" cy="1332919"/>
          </a:xfrm>
          <a:prstGeom prst="cloudCallout">
            <a:avLst>
              <a:gd name="adj1" fmla="val -33847"/>
              <a:gd name="adj2" fmla="val -833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How can we prove that the concatenation of two regular languages is a regular language?</a:t>
            </a:r>
          </a:p>
        </p:txBody>
      </p:sp>
      <p:pic>
        <p:nvPicPr>
          <p:cNvPr id="12" name="Picture 11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54" y="1738700"/>
            <a:ext cx="3797300" cy="317500"/>
          </a:xfrm>
          <a:prstGeom prst="rect">
            <a:avLst/>
          </a:prstGeom>
        </p:spPr>
      </p:pic>
      <p:pic>
        <p:nvPicPr>
          <p:cNvPr id="13" name="Picture 12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54" y="2244377"/>
            <a:ext cx="4305300" cy="317500"/>
          </a:xfrm>
          <a:prstGeom prst="rect">
            <a:avLst/>
          </a:prstGeom>
        </p:spPr>
      </p:pic>
      <p:pic>
        <p:nvPicPr>
          <p:cNvPr id="14" name="Picture 13" descr="latex-image-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840" y="2679583"/>
            <a:ext cx="5511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3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How would this work for A = { a</a:t>
            </a:r>
            <a:r>
              <a:rPr lang="en-US" baseline="30000"/>
              <a:t>n</a:t>
            </a:r>
            <a:r>
              <a:rPr lang="en-US"/>
              <a:t> | n ≥ 0 }, B = {b</a:t>
            </a:r>
            <a:r>
              <a:rPr lang="en-US" baseline="30000"/>
              <a:t>m</a:t>
            </a:r>
            <a:r>
              <a:rPr lang="en-US"/>
              <a:t> | m ≥ 0 }?</a:t>
            </a:r>
          </a:p>
        </p:txBody>
      </p:sp>
      <p:sp>
        <p:nvSpPr>
          <p:cNvPr id="4" name="Cloud 3"/>
          <p:cNvSpPr/>
          <p:nvPr/>
        </p:nvSpPr>
        <p:spPr>
          <a:xfrm>
            <a:off x="2018197" y="2217543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5" name="Cloud 4"/>
          <p:cNvSpPr/>
          <p:nvPr/>
        </p:nvSpPr>
        <p:spPr>
          <a:xfrm>
            <a:off x="4542448" y="2084329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499883" y="2217543"/>
            <a:ext cx="1042565" cy="197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280395" y="2415502"/>
            <a:ext cx="1262053" cy="19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18196" y="1883079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450596" y="241550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0116" y="201135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32423" y="241550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75" y="1254855"/>
            <a:ext cx="4305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2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 nondeterminism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Allow transitions that don't "consume" any input</a:t>
            </a:r>
          </a:p>
          <a:p>
            <a:endParaRPr lang="en-US"/>
          </a:p>
          <a:p>
            <a:r>
              <a:rPr lang="en-US"/>
              <a:t>Instead of exactly one outgoing transition from each state labelled by each symbol</a:t>
            </a:r>
          </a:p>
          <a:p>
            <a:endParaRPr lang="en-US"/>
          </a:p>
          <a:p>
            <a:pPr lvl="1"/>
            <a:r>
              <a:rPr lang="en-US"/>
              <a:t>Can have 0 transitions</a:t>
            </a:r>
          </a:p>
          <a:p>
            <a:pPr lvl="1"/>
            <a:r>
              <a:rPr lang="en-US"/>
              <a:t>Can have &gt; 1 transitions</a:t>
            </a:r>
          </a:p>
        </p:txBody>
      </p:sp>
    </p:spTree>
    <p:extLst>
      <p:ext uri="{BB962C8B-B14F-4D97-AF65-F5344CB8AC3E}">
        <p14:creationId xmlns:p14="http://schemas.microsoft.com/office/powerpoint/2010/main" val="88077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How would this work for A = { a</a:t>
            </a:r>
            <a:r>
              <a:rPr lang="en-US" baseline="30000"/>
              <a:t>n</a:t>
            </a:r>
            <a:r>
              <a:rPr lang="en-US"/>
              <a:t> | n ≥ 0 }, B = {b</a:t>
            </a:r>
            <a:r>
              <a:rPr lang="en-US" baseline="30000"/>
              <a:t>m</a:t>
            </a:r>
            <a:r>
              <a:rPr lang="en-US"/>
              <a:t> | m ≥ 0 }?</a:t>
            </a:r>
          </a:p>
        </p:txBody>
      </p:sp>
      <p:sp>
        <p:nvSpPr>
          <p:cNvPr id="4" name="Cloud 3"/>
          <p:cNvSpPr/>
          <p:nvPr/>
        </p:nvSpPr>
        <p:spPr>
          <a:xfrm>
            <a:off x="2018197" y="2217543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5" name="Cloud 4"/>
          <p:cNvSpPr/>
          <p:nvPr/>
        </p:nvSpPr>
        <p:spPr>
          <a:xfrm>
            <a:off x="4542448" y="2084329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499883" y="2217543"/>
            <a:ext cx="1042565" cy="197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280395" y="2415502"/>
            <a:ext cx="1262053" cy="19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18196" y="1883079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450596" y="241550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0116" y="201135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32423" y="241550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75" y="1254855"/>
            <a:ext cx="43053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90210" y="1883079"/>
            <a:ext cx="28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3570" y="2442281"/>
            <a:ext cx="28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ε</a:t>
            </a:r>
          </a:p>
        </p:txBody>
      </p:sp>
    </p:spTree>
    <p:extLst>
      <p:ext uri="{BB962C8B-B14F-4D97-AF65-F5344CB8AC3E}">
        <p14:creationId xmlns:p14="http://schemas.microsoft.com/office/powerpoint/2010/main" val="990684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– easier – construction for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"Guess" one of finite list of criteria to meet</a:t>
            </a:r>
          </a:p>
          <a:p>
            <a:endParaRPr lang="en-US"/>
          </a:p>
        </p:txBody>
      </p:sp>
      <p:sp>
        <p:nvSpPr>
          <p:cNvPr id="4" name="Cloud 3"/>
          <p:cNvSpPr/>
          <p:nvPr/>
        </p:nvSpPr>
        <p:spPr>
          <a:xfrm>
            <a:off x="3124115" y="2943802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5" name="Cloud 4"/>
          <p:cNvSpPr/>
          <p:nvPr/>
        </p:nvSpPr>
        <p:spPr>
          <a:xfrm>
            <a:off x="3124115" y="3453525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3454" y="2691228"/>
            <a:ext cx="2916046" cy="16935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142152" y="346479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5373" y="305634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05373" y="346479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49257" y="2779344"/>
            <a:ext cx="2749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Accept if </a:t>
            </a:r>
          </a:p>
          <a:p>
            <a:r>
              <a:rPr lang="en-US" b="1"/>
              <a:t>either (or both) accepts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183454" y="3160928"/>
            <a:ext cx="940661" cy="3143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183454" y="3484889"/>
            <a:ext cx="940661" cy="3143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927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Caveat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nondeterminism trick doesn't help us with closure arguments.</a:t>
            </a:r>
          </a:p>
          <a:p>
            <a:endParaRPr lang="en-US"/>
          </a:p>
          <a:p>
            <a:pPr marL="0" indent="0" algn="ctr">
              <a:buNone/>
            </a:pPr>
            <a:r>
              <a:rPr lang="en-US">
                <a:solidFill>
                  <a:schemeClr val="tx2"/>
                </a:solidFill>
              </a:rPr>
              <a:t>Why? </a:t>
            </a:r>
          </a:p>
          <a:p>
            <a:endParaRPr lang="en-US"/>
          </a:p>
          <a:p>
            <a:r>
              <a:rPr lang="en-US"/>
              <a:t>To prove that the </a:t>
            </a:r>
            <a:r>
              <a:rPr lang="en-US" b="1"/>
              <a:t>class of regular languages</a:t>
            </a:r>
            <a:r>
              <a:rPr lang="en-US"/>
              <a:t> is closed under OP, needs that OP(L) is recognized by a </a:t>
            </a:r>
            <a:r>
              <a:rPr lang="en-US" b="1">
                <a:solidFill>
                  <a:srgbClr val="FF0000"/>
                </a:solidFill>
              </a:rPr>
              <a:t>DFA</a:t>
            </a:r>
          </a:p>
        </p:txBody>
      </p:sp>
    </p:spTree>
    <p:extLst>
      <p:ext uri="{BB962C8B-B14F-4D97-AF65-F5344CB8AC3E}">
        <p14:creationId xmlns:p14="http://schemas.microsoft.com/office/powerpoint/2010/main" val="3756158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Caveat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nondeterminism trick doesn't help us with closure arguments </a:t>
            </a:r>
            <a:r>
              <a:rPr lang="en-US" b="1">
                <a:solidFill>
                  <a:srgbClr val="FF0000"/>
                </a:solidFill>
              </a:rPr>
              <a:t>YET!</a:t>
            </a:r>
            <a:endParaRPr lang="en-US"/>
          </a:p>
          <a:p>
            <a:endParaRPr lang="en-US"/>
          </a:p>
          <a:p>
            <a:pPr marL="0" indent="0" algn="ctr">
              <a:buNone/>
            </a:pPr>
            <a:r>
              <a:rPr lang="en-US">
                <a:solidFill>
                  <a:schemeClr val="tx2"/>
                </a:solidFill>
              </a:rPr>
              <a:t>Why? </a:t>
            </a:r>
          </a:p>
          <a:p>
            <a:endParaRPr lang="en-US"/>
          </a:p>
          <a:p>
            <a:r>
              <a:rPr lang="en-US"/>
              <a:t>We'll prove that any language recognized by some NFA is also recognized by some (different) DFA.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964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Differences between NFA and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DFA</a:t>
            </a:r>
            <a:r>
              <a:rPr lang="en-US"/>
              <a:t>: unique computation path for each input</a:t>
            </a:r>
          </a:p>
          <a:p>
            <a:r>
              <a:rPr lang="en-US" b="1"/>
              <a:t>NFA</a:t>
            </a:r>
            <a:r>
              <a:rPr lang="en-US"/>
              <a:t>: allow several (or zero) alternative computations on </a:t>
            </a:r>
            <a:r>
              <a:rPr lang="en-US" i="1"/>
              <a:t>same input</a:t>
            </a:r>
            <a:endParaRPr lang="en-US" b="1" i="1"/>
          </a:p>
          <a:p>
            <a:pPr lvl="1"/>
            <a:r>
              <a:rPr lang="en-US"/>
              <a:t>δ(q,x) may specify </a:t>
            </a:r>
            <a:r>
              <a:rPr lang="en-US" b="1">
                <a:solidFill>
                  <a:srgbClr val="4128D2"/>
                </a:solidFill>
              </a:rPr>
              <a:t>more than one</a:t>
            </a:r>
            <a:r>
              <a:rPr lang="en-US">
                <a:solidFill>
                  <a:srgbClr val="4128D2"/>
                </a:solidFill>
              </a:rPr>
              <a:t> </a:t>
            </a:r>
            <a:r>
              <a:rPr lang="en-US"/>
              <a:t>possible next states</a:t>
            </a:r>
          </a:p>
          <a:p>
            <a:pPr lvl="1"/>
            <a:r>
              <a:rPr lang="en-US"/>
              <a:t>ε transitions allow the machine to </a:t>
            </a:r>
            <a:r>
              <a:rPr lang="en-US" b="1">
                <a:solidFill>
                  <a:schemeClr val="tx2"/>
                </a:solidFill>
              </a:rPr>
              <a:t>transition between states spontaneously</a:t>
            </a:r>
            <a:r>
              <a:rPr lang="en-US"/>
              <a:t>, without consuming any input symbols</a:t>
            </a:r>
          </a:p>
        </p:txBody>
      </p:sp>
    </p:spTree>
    <p:extLst>
      <p:ext uri="{BB962C8B-B14F-4D97-AF65-F5344CB8AC3E}">
        <p14:creationId xmlns:p14="http://schemas.microsoft.com/office/powerpoint/2010/main" val="289371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4F5E-270F-5DF7-9985-793EED32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C9B2-BEBC-73D1-B07C-5C6C2BA9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definition of NFA</a:t>
            </a:r>
          </a:p>
        </p:txBody>
      </p:sp>
      <p:pic>
        <p:nvPicPr>
          <p:cNvPr id="4" name="Picture 3" descr="latex-image-1.png">
            <a:extLst>
              <a:ext uri="{FF2B5EF4-FFF2-40B4-BE49-F238E27FC236}">
                <a16:creationId xmlns:a16="http://schemas.microsoft.com/office/drawing/2014/main" id="{7E1AB09A-B78A-48BC-59A5-FAF48FF4A0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9284"/>
            <a:ext cx="75438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65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definition of NFA</a:t>
            </a:r>
          </a:p>
        </p:txBody>
      </p:sp>
      <p:pic>
        <p:nvPicPr>
          <p:cNvPr id="4" name="Picture 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9284"/>
            <a:ext cx="7543800" cy="250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61763" y="1807134"/>
            <a:ext cx="356275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Which piece of the definition of NFA means there might be </a:t>
            </a:r>
            <a:r>
              <a:rPr lang="en-US" b="1"/>
              <a:t>more than one</a:t>
            </a:r>
            <a:r>
              <a:rPr lang="en-US"/>
              <a:t> possible next state from a given state, when reading symbol x from the alphabet?</a:t>
            </a:r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Line 2, the size of Σ</a:t>
            </a:r>
          </a:p>
          <a:p>
            <a:pPr marL="342900" indent="-342900">
              <a:buAutoNum type="alphaUcPeriod"/>
            </a:pPr>
            <a:r>
              <a:rPr lang="en-US"/>
              <a:t>Line 3, the domain of δ</a:t>
            </a:r>
          </a:p>
          <a:p>
            <a:pPr marL="342900" indent="-342900">
              <a:buAutoNum type="alphaUcPeriod"/>
            </a:pPr>
            <a:r>
              <a:rPr lang="en-US"/>
              <a:t>Line 3, the codomain of δ</a:t>
            </a:r>
          </a:p>
          <a:p>
            <a:pPr marL="342900" indent="-342900">
              <a:buFontTx/>
              <a:buAutoNum type="alphaUcPeriod"/>
            </a:pPr>
            <a:r>
              <a:rPr lang="en-US"/>
              <a:t>Line 5, that F is a set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479190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Tracing NFA execution</a:t>
            </a:r>
          </a:p>
        </p:txBody>
      </p:sp>
      <p:pic>
        <p:nvPicPr>
          <p:cNvPr id="4" name="Content Placeholder 3" descr="end1.jp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9" t="25931" r="41166" b="31691"/>
          <a:stretch/>
        </p:blipFill>
        <p:spPr>
          <a:xfrm>
            <a:off x="3183840" y="1019290"/>
            <a:ext cx="4230423" cy="1881770"/>
          </a:xfrm>
        </p:spPr>
      </p:pic>
      <p:sp>
        <p:nvSpPr>
          <p:cNvPr id="3" name="TextBox 2"/>
          <p:cNvSpPr txBox="1"/>
          <p:nvPr/>
        </p:nvSpPr>
        <p:spPr>
          <a:xfrm>
            <a:off x="658462" y="2901060"/>
            <a:ext cx="34804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Is 0 accepted?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Is 1 accepted?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Is 0101 accepted?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Is 110 accepted?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Is the empty string accepted?</a:t>
            </a:r>
          </a:p>
        </p:txBody>
      </p:sp>
    </p:spTree>
    <p:extLst>
      <p:ext uri="{BB962C8B-B14F-4D97-AF65-F5344CB8AC3E}">
        <p14:creationId xmlns:p14="http://schemas.microsoft.com/office/powerpoint/2010/main" val="1297762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Acceptance in an NFA</a:t>
            </a:r>
          </a:p>
        </p:txBody>
      </p:sp>
      <p:pic>
        <p:nvPicPr>
          <p:cNvPr id="7" name="Picture 6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19199"/>
            <a:ext cx="78486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89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More differences between NFA and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5"/>
                </a:solidFill>
              </a:rPr>
              <a:t>DFA</a:t>
            </a:r>
            <a:r>
              <a:rPr lang="en-US">
                <a:solidFill>
                  <a:schemeClr val="accent5"/>
                </a:solidFill>
              </a:rPr>
              <a:t>: unique computation path for each input</a:t>
            </a:r>
          </a:p>
          <a:p>
            <a:r>
              <a:rPr lang="en-US" b="1">
                <a:solidFill>
                  <a:schemeClr val="accent5"/>
                </a:solidFill>
              </a:rPr>
              <a:t>NFA</a:t>
            </a:r>
            <a:r>
              <a:rPr lang="en-US">
                <a:solidFill>
                  <a:schemeClr val="accent5"/>
                </a:solidFill>
              </a:rPr>
              <a:t>: allow several (or zero) alternative computations on </a:t>
            </a:r>
            <a:r>
              <a:rPr lang="en-US" i="1">
                <a:solidFill>
                  <a:schemeClr val="accent5"/>
                </a:solidFill>
              </a:rPr>
              <a:t>same input</a:t>
            </a:r>
            <a:endParaRPr lang="en-US" b="1" i="1">
              <a:solidFill>
                <a:schemeClr val="accent5"/>
              </a:solidFill>
            </a:endParaRPr>
          </a:p>
          <a:p>
            <a:pPr lvl="1"/>
            <a:r>
              <a:rPr lang="en-US">
                <a:solidFill>
                  <a:schemeClr val="accent5"/>
                </a:solidFill>
              </a:rPr>
              <a:t>δ(q,x) may specify </a:t>
            </a:r>
            <a:r>
              <a:rPr lang="en-US" b="1">
                <a:solidFill>
                  <a:schemeClr val="accent5"/>
                </a:solidFill>
              </a:rPr>
              <a:t>more than one</a:t>
            </a:r>
            <a:r>
              <a:rPr lang="en-US">
                <a:solidFill>
                  <a:schemeClr val="accent5"/>
                </a:solidFill>
              </a:rPr>
              <a:t> possible next states</a:t>
            </a:r>
          </a:p>
          <a:p>
            <a:pPr lvl="1"/>
            <a:r>
              <a:rPr lang="en-US">
                <a:solidFill>
                  <a:schemeClr val="accent5"/>
                </a:solidFill>
              </a:rPr>
              <a:t>ε transitions allow the machine to </a:t>
            </a:r>
            <a:r>
              <a:rPr lang="en-US" b="1">
                <a:solidFill>
                  <a:schemeClr val="accent5"/>
                </a:solidFill>
              </a:rPr>
              <a:t>transition between states spontaneously</a:t>
            </a:r>
            <a:r>
              <a:rPr lang="en-US">
                <a:solidFill>
                  <a:schemeClr val="accent5"/>
                </a:solidFill>
              </a:rPr>
              <a:t>, without consuming any input symbols</a:t>
            </a:r>
          </a:p>
          <a:p>
            <a:r>
              <a:rPr lang="en-US">
                <a:solidFill>
                  <a:srgbClr val="292934"/>
                </a:solidFill>
              </a:rPr>
              <a:t>Types of components of formal definition</a:t>
            </a:r>
          </a:p>
          <a:p>
            <a:pPr lvl="1"/>
            <a:r>
              <a:rPr lang="en-US" b="1">
                <a:solidFill>
                  <a:srgbClr val="292934"/>
                </a:solidFill>
              </a:rPr>
              <a:t>DFA</a:t>
            </a:r>
            <a:r>
              <a:rPr lang="en-US">
                <a:solidFill>
                  <a:srgbClr val="292934"/>
                </a:solidFill>
              </a:rPr>
              <a:t> </a:t>
            </a:r>
          </a:p>
          <a:p>
            <a:pPr lvl="1"/>
            <a:r>
              <a:rPr lang="en-US" b="1">
                <a:solidFill>
                  <a:srgbClr val="292934"/>
                </a:solidFill>
              </a:rPr>
              <a:t>NFA</a:t>
            </a:r>
          </a:p>
        </p:txBody>
      </p:sp>
      <p:pic>
        <p:nvPicPr>
          <p:cNvPr id="4" name="Picture 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04" y="3983076"/>
            <a:ext cx="1447800" cy="215900"/>
          </a:xfrm>
          <a:prstGeom prst="rect">
            <a:avLst/>
          </a:prstGeom>
        </p:spPr>
      </p:pic>
      <p:pic>
        <p:nvPicPr>
          <p:cNvPr id="5" name="Picture 4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04" y="4328066"/>
            <a:ext cx="18923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3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Similarities between DFA and NFA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292934"/>
                </a:solidFill>
              </a:rPr>
              <a:t>If L is a language recognized by a DFA, is there some NFA that recognizes it?</a:t>
            </a:r>
          </a:p>
          <a:p>
            <a:endParaRPr lang="en-US" b="1">
              <a:solidFill>
                <a:srgbClr val="292934"/>
              </a:solidFill>
            </a:endParaRPr>
          </a:p>
          <a:p>
            <a:pPr marL="731520" lvl="1" indent="-457200">
              <a:buFont typeface="+mj-lt"/>
              <a:buAutoNum type="alphaUcPeriod"/>
            </a:pPr>
            <a:r>
              <a:rPr lang="en-US">
                <a:solidFill>
                  <a:srgbClr val="292934"/>
                </a:solidFill>
              </a:rPr>
              <a:t>Yes</a:t>
            </a:r>
          </a:p>
          <a:p>
            <a:pPr marL="731520" lvl="1" indent="-457200">
              <a:buFont typeface="+mj-lt"/>
              <a:buAutoNum type="alphaUcPeriod"/>
            </a:pPr>
            <a:r>
              <a:rPr lang="en-US">
                <a:solidFill>
                  <a:srgbClr val="292934"/>
                </a:solidFill>
              </a:rPr>
              <a:t>No</a:t>
            </a:r>
          </a:p>
          <a:p>
            <a:pPr marL="731520" lvl="1" indent="-457200">
              <a:buFont typeface="+mj-lt"/>
              <a:buAutoNum type="alphaUcPeriod"/>
            </a:pPr>
            <a:r>
              <a:rPr lang="en-US">
                <a:solidFill>
                  <a:srgbClr val="292934"/>
                </a:solidFill>
              </a:rPr>
              <a:t>Depends on L</a:t>
            </a:r>
          </a:p>
          <a:p>
            <a:pPr marL="731520" lvl="1" indent="-457200">
              <a:buFont typeface="+mj-lt"/>
              <a:buAutoNum type="alphaUcPeriod"/>
            </a:pPr>
            <a:r>
              <a:rPr lang="en-US">
                <a:solidFill>
                  <a:srgbClr val="292934"/>
                </a:solidFill>
              </a:rPr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9495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Defining NFA in closure constructions formally.</a:t>
            </a:r>
          </a:p>
          <a:p>
            <a:r>
              <a:rPr lang="en-US"/>
              <a:t>Showing that NFA and DFA are equally expressive</a:t>
            </a:r>
          </a:p>
        </p:txBody>
      </p:sp>
    </p:spTree>
    <p:extLst>
      <p:ext uri="{BB962C8B-B14F-4D97-AF65-F5344CB8AC3E}">
        <p14:creationId xmlns:p14="http://schemas.microsoft.com/office/powerpoint/2010/main" val="1351278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"Guess" some stage of input at which switch modes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Given DFAs M1 = (Q1,Σ,δ1,q1,F1), M2 = (Q2,Σ,δ2,q2,F2)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build NFA N = (Q1 U Q2, Σ, δ, q1, F2) with δ…</a:t>
            </a:r>
          </a:p>
        </p:txBody>
      </p:sp>
      <p:sp>
        <p:nvSpPr>
          <p:cNvPr id="16" name="Cloud 15"/>
          <p:cNvSpPr/>
          <p:nvPr/>
        </p:nvSpPr>
        <p:spPr>
          <a:xfrm>
            <a:off x="1841980" y="1988795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17" name="Cloud 16"/>
          <p:cNvSpPr/>
          <p:nvPr/>
        </p:nvSpPr>
        <p:spPr>
          <a:xfrm>
            <a:off x="4366231" y="1855581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323666" y="1988795"/>
            <a:ext cx="1042565" cy="197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104178" y="2186754"/>
            <a:ext cx="1262053" cy="19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41979" y="1654331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274379" y="2186754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3899" y="178260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56206" y="2186754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283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δ( q, x ) = 				if q is in Q1, x is in Σ</a:t>
            </a:r>
          </a:p>
          <a:p>
            <a:pPr marL="0" indent="0">
              <a:buNone/>
            </a:pPr>
            <a:r>
              <a:rPr lang="en-US"/>
              <a:t>					if q is in Q2, x is in Σ</a:t>
            </a:r>
          </a:p>
          <a:p>
            <a:pPr marL="0" indent="0">
              <a:buNone/>
            </a:pPr>
            <a:r>
              <a:rPr lang="en-US"/>
              <a:t>					?</a:t>
            </a:r>
          </a:p>
        </p:txBody>
      </p:sp>
      <p:sp>
        <p:nvSpPr>
          <p:cNvPr id="16" name="Cloud 15"/>
          <p:cNvSpPr/>
          <p:nvPr/>
        </p:nvSpPr>
        <p:spPr>
          <a:xfrm>
            <a:off x="2590903" y="1516611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17" name="Cloud 16"/>
          <p:cNvSpPr/>
          <p:nvPr/>
        </p:nvSpPr>
        <p:spPr>
          <a:xfrm>
            <a:off x="5115154" y="1383397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072589" y="1516611"/>
            <a:ext cx="1042565" cy="197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853101" y="1714570"/>
            <a:ext cx="1262053" cy="19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90902" y="1182147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023302" y="171457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12822" y="131041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105129" y="171457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08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δ( q, x ) = {δ1(q, x)}			if q is in Q1, x is in Σ</a:t>
            </a:r>
          </a:p>
          <a:p>
            <a:pPr marL="0" indent="0">
              <a:buNone/>
            </a:pPr>
            <a:r>
              <a:rPr lang="en-US" dirty="0"/>
              <a:t>	      {δ2(q, x)}			if q is in Q2, x is in Σ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Cloud 15"/>
          <p:cNvSpPr/>
          <p:nvPr/>
        </p:nvSpPr>
        <p:spPr>
          <a:xfrm>
            <a:off x="2590903" y="1516611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17" name="Cloud 16"/>
          <p:cNvSpPr/>
          <p:nvPr/>
        </p:nvSpPr>
        <p:spPr>
          <a:xfrm>
            <a:off x="5115154" y="1383397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072589" y="1516611"/>
            <a:ext cx="1042565" cy="197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853101" y="1714570"/>
            <a:ext cx="1262053" cy="19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90902" y="1182147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023302" y="171457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12822" y="131041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105129" y="171457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183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δ( q, x ) = {δ1(q, x)}			if q is in Q1, x is in Σ</a:t>
            </a:r>
          </a:p>
          <a:p>
            <a:pPr marL="0" indent="0">
              <a:buNone/>
            </a:pPr>
            <a:r>
              <a:rPr lang="en-US" dirty="0"/>
              <a:t>	      {δ2(q, x)}			if q is in Q2, x is in Σ</a:t>
            </a:r>
          </a:p>
          <a:p>
            <a:pPr marL="0" indent="0">
              <a:buNone/>
            </a:pPr>
            <a:r>
              <a:rPr lang="en-US" dirty="0"/>
              <a:t>	      {q2}			if q is in F1, x = ε</a:t>
            </a:r>
          </a:p>
          <a:p>
            <a:pPr marL="0" indent="0">
              <a:buNone/>
            </a:pPr>
            <a:r>
              <a:rPr lang="en-US" dirty="0"/>
              <a:t>	        				otherwise</a:t>
            </a:r>
          </a:p>
          <a:p>
            <a:pPr marL="0" indent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Correctness proof in the book (page 61)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Cloud 15"/>
          <p:cNvSpPr/>
          <p:nvPr/>
        </p:nvSpPr>
        <p:spPr>
          <a:xfrm>
            <a:off x="2590903" y="1516611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17" name="Cloud 16"/>
          <p:cNvSpPr/>
          <p:nvPr/>
        </p:nvSpPr>
        <p:spPr>
          <a:xfrm>
            <a:off x="5115154" y="1383397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072589" y="1516611"/>
            <a:ext cx="1042565" cy="197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853101" y="1714570"/>
            <a:ext cx="1262053" cy="19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90902" y="1182147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023302" y="171457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12822" y="131041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105129" y="171457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313" y="3896770"/>
            <a:ext cx="139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15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 operation</a:t>
            </a:r>
          </a:p>
        </p:txBody>
      </p:sp>
      <p:sp>
        <p:nvSpPr>
          <p:cNvPr id="4" name="Cloud 3"/>
          <p:cNvSpPr/>
          <p:nvPr/>
        </p:nvSpPr>
        <p:spPr>
          <a:xfrm>
            <a:off x="3942788" y="1779633"/>
            <a:ext cx="2782932" cy="58128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831" y="1443903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011230" y="203161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00750" y="162745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093057" y="2031610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78830" y="1814727"/>
            <a:ext cx="368572" cy="36412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947402" y="2035905"/>
            <a:ext cx="1473701" cy="0"/>
          </a:xfrm>
          <a:prstGeom prst="straightConnector1">
            <a:avLst/>
          </a:prstGeom>
          <a:ln>
            <a:solidFill>
              <a:srgbClr val="4F81B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61889" y="1904069"/>
            <a:ext cx="191446" cy="185443"/>
          </a:xfrm>
          <a:prstGeom prst="ellipse">
            <a:avLst/>
          </a:prstGeom>
          <a:noFill/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 flipH="1">
            <a:off x="4436780" y="1066325"/>
            <a:ext cx="1677511" cy="940895"/>
          </a:xfrm>
          <a:custGeom>
            <a:avLst/>
            <a:gdLst>
              <a:gd name="connsiteX0" fmla="*/ 1677511 w 1677511"/>
              <a:gd name="connsiteY0" fmla="*/ 925213 h 940895"/>
              <a:gd name="connsiteX1" fmla="*/ 611429 w 1677511"/>
              <a:gd name="connsiteY1" fmla="*/ 10 h 940895"/>
              <a:gd name="connsiteX2" fmla="*/ 0 w 1677511"/>
              <a:gd name="connsiteY2" fmla="*/ 940895 h 940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7511" h="940895">
                <a:moveTo>
                  <a:pt x="1677511" y="925213"/>
                </a:moveTo>
                <a:cubicBezTo>
                  <a:pt x="1284262" y="461304"/>
                  <a:pt x="891014" y="-2604"/>
                  <a:pt x="611429" y="10"/>
                </a:cubicBezTo>
                <a:cubicBezTo>
                  <a:pt x="331844" y="2624"/>
                  <a:pt x="165922" y="471759"/>
                  <a:pt x="0" y="940895"/>
                </a:cubicBezTo>
              </a:path>
            </a:pathLst>
          </a:custGeom>
          <a:ln>
            <a:solidFill>
              <a:srgbClr val="4F81BD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423040" y="1666573"/>
            <a:ext cx="300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Lucida Grande"/>
                <a:ea typeface="Lucida Grande"/>
                <a:cs typeface="Lucida Grande"/>
              </a:rPr>
              <a:t>ε</a:t>
            </a: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696893" y="855083"/>
            <a:ext cx="300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Lucida Grande"/>
                <a:ea typeface="Lucida Grande"/>
                <a:cs typeface="Lucida Grande"/>
              </a:rPr>
              <a:t>ε</a:t>
            </a:r>
            <a:endParaRPr lang="en-US"/>
          </a:p>
        </p:txBody>
      </p:sp>
      <p:sp>
        <p:nvSpPr>
          <p:cNvPr id="20" name="Freeform 19"/>
          <p:cNvSpPr/>
          <p:nvPr/>
        </p:nvSpPr>
        <p:spPr>
          <a:xfrm flipH="1" flipV="1">
            <a:off x="4436779" y="2089512"/>
            <a:ext cx="1260113" cy="1035490"/>
          </a:xfrm>
          <a:custGeom>
            <a:avLst/>
            <a:gdLst>
              <a:gd name="connsiteX0" fmla="*/ 1677511 w 1677511"/>
              <a:gd name="connsiteY0" fmla="*/ 925213 h 940895"/>
              <a:gd name="connsiteX1" fmla="*/ 611429 w 1677511"/>
              <a:gd name="connsiteY1" fmla="*/ 10 h 940895"/>
              <a:gd name="connsiteX2" fmla="*/ 0 w 1677511"/>
              <a:gd name="connsiteY2" fmla="*/ 940895 h 940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7511" h="940895">
                <a:moveTo>
                  <a:pt x="1677511" y="925213"/>
                </a:moveTo>
                <a:cubicBezTo>
                  <a:pt x="1284262" y="461304"/>
                  <a:pt x="891014" y="-2604"/>
                  <a:pt x="611429" y="10"/>
                </a:cubicBezTo>
                <a:cubicBezTo>
                  <a:pt x="331844" y="2624"/>
                  <a:pt x="165922" y="471759"/>
                  <a:pt x="0" y="940895"/>
                </a:cubicBezTo>
              </a:path>
            </a:pathLst>
          </a:custGeom>
          <a:ln>
            <a:solidFill>
              <a:srgbClr val="4F81BD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987021" y="3093109"/>
            <a:ext cx="300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Lucida Grande"/>
                <a:ea typeface="Lucida Grande"/>
                <a:cs typeface="Lucida Grande"/>
              </a:rPr>
              <a:t>ε</a:t>
            </a:r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56245" y="2823367"/>
            <a:ext cx="6773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Given M1 = (Q1,Σ,δ1,q1,F1), build</a:t>
            </a:r>
          </a:p>
          <a:p>
            <a:endParaRPr lang="en-US"/>
          </a:p>
          <a:p>
            <a:pPr algn="ctr"/>
            <a:r>
              <a:rPr lang="en-US"/>
              <a:t>N = ( Q1 U {q0}, Σ, δ, q0, F1 U {q0} )</a:t>
            </a:r>
          </a:p>
          <a:p>
            <a:pPr algn="ctr"/>
            <a:endParaRPr lang="en-US"/>
          </a:p>
          <a:p>
            <a:r>
              <a:rPr lang="en-US"/>
              <a:t>and δ(q,x) = …</a:t>
            </a:r>
          </a:p>
          <a:p>
            <a:endParaRPr lang="en-US"/>
          </a:p>
          <a:p>
            <a:r>
              <a:rPr lang="en-US" i="1">
                <a:solidFill>
                  <a:schemeClr val="accent5"/>
                </a:solidFill>
              </a:rPr>
              <a:t>Construction in the book (page 63)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6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Showing that NFA and DFA are equally expressive.</a:t>
            </a:r>
          </a:p>
        </p:txBody>
      </p:sp>
    </p:spTree>
    <p:extLst>
      <p:ext uri="{BB962C8B-B14F-4D97-AF65-F5344CB8AC3E}">
        <p14:creationId xmlns:p14="http://schemas.microsoft.com/office/powerpoint/2010/main" val="3171864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5030</TotalTime>
  <Words>1005</Words>
  <Application>Microsoft Office PowerPoint</Application>
  <PresentationFormat>On-screen Show (16:9)</PresentationFormat>
  <Paragraphs>182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Lucida Grande</vt:lpstr>
      <vt:lpstr>Zapf Dingbats</vt:lpstr>
      <vt:lpstr>Clarity</vt:lpstr>
      <vt:lpstr>CSE 331 Automata and computability</vt:lpstr>
      <vt:lpstr>Today's learning goals Sipser Ch 1.1, 1.2</vt:lpstr>
      <vt:lpstr>General proof structure/strategy</vt:lpstr>
      <vt:lpstr>Regular languages</vt:lpstr>
      <vt:lpstr>The regular operations Sipser Def 1.23 p. 44</vt:lpstr>
      <vt:lpstr>Construction</vt:lpstr>
      <vt:lpstr>Solution: nondeterminism</vt:lpstr>
      <vt:lpstr>Construction</vt:lpstr>
      <vt:lpstr>New – easier – construction for union</vt:lpstr>
      <vt:lpstr>Caveat</vt:lpstr>
      <vt:lpstr>Caveat</vt:lpstr>
      <vt:lpstr>Differences between NFA and DFA</vt:lpstr>
      <vt:lpstr>Formal definition of NFA</vt:lpstr>
      <vt:lpstr>Formal definition of NFA</vt:lpstr>
      <vt:lpstr>Tracing NFA execution</vt:lpstr>
      <vt:lpstr>Acceptance in an NFA</vt:lpstr>
      <vt:lpstr>More differences between NFA and DFA</vt:lpstr>
      <vt:lpstr>Similarities between DFA and NFA</vt:lpstr>
      <vt:lpstr>Next steps</vt:lpstr>
      <vt:lpstr>Concatenation</vt:lpstr>
      <vt:lpstr>Concatenation</vt:lpstr>
      <vt:lpstr>Concatenation</vt:lpstr>
      <vt:lpstr>Concatenation</vt:lpstr>
      <vt:lpstr>Star operation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  Discrete math</dc:title>
  <dc:creator>Mia Minnes Kemp</dc:creator>
  <cp:lastModifiedBy>Zayed Humayun</cp:lastModifiedBy>
  <cp:revision>536</cp:revision>
  <dcterms:created xsi:type="dcterms:W3CDTF">2014-10-03T04:30:04Z</dcterms:created>
  <dcterms:modified xsi:type="dcterms:W3CDTF">2026-07-02T15:52:16Z</dcterms:modified>
</cp:coreProperties>
</file>