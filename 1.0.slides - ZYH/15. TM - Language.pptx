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569" r:id="rId2"/>
    <p:sldId id="526" r:id="rId3"/>
    <p:sldId id="592" r:id="rId4"/>
    <p:sldId id="591" r:id="rId5"/>
    <p:sldId id="595" r:id="rId6"/>
    <p:sldId id="596" r:id="rId7"/>
    <p:sldId id="570" r:id="rId8"/>
    <p:sldId id="572" r:id="rId9"/>
    <p:sldId id="597" r:id="rId10"/>
    <p:sldId id="622" r:id="rId11"/>
    <p:sldId id="623" r:id="rId12"/>
    <p:sldId id="573" r:id="rId13"/>
    <p:sldId id="574" r:id="rId14"/>
    <p:sldId id="577" r:id="rId15"/>
    <p:sldId id="606" r:id="rId16"/>
    <p:sldId id="610" r:id="rId17"/>
    <p:sldId id="609" r:id="rId18"/>
    <p:sldId id="611" r:id="rId19"/>
    <p:sldId id="612" r:id="rId20"/>
    <p:sldId id="604" r:id="rId21"/>
    <p:sldId id="605" r:id="rId22"/>
    <p:sldId id="613" r:id="rId23"/>
    <p:sldId id="614" r:id="rId24"/>
    <p:sldId id="615" r:id="rId25"/>
    <p:sldId id="616" r:id="rId26"/>
    <p:sldId id="618" r:id="rId27"/>
    <p:sldId id="619" r:id="rId28"/>
    <p:sldId id="625" r:id="rId29"/>
    <p:sldId id="620" r:id="rId30"/>
    <p:sldId id="621" r:id="rId31"/>
    <p:sldId id="601" r:id="rId32"/>
    <p:sldId id="599" r:id="rId3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1BFAF-3362-443E-BCEB-54B74584A8B8}" v="404" dt="2025-11-11T02:43:13.3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41064877-C806-4AB4-9CDD-1F501398BFFD}"/>
    <pc:docChg chg="undo custSel addSld delSld modSld sldOrd">
      <pc:chgData name="Shachar Lovett" userId="0c6d1e87c56e93c6" providerId="LiveId" clId="{41064877-C806-4AB4-9CDD-1F501398BFFD}" dt="2025-11-11T02:43:13.353" v="2226"/>
      <pc:docMkLst>
        <pc:docMk/>
      </pc:docMkLst>
      <pc:sldChg chg="modSp mod">
        <pc:chgData name="Shachar Lovett" userId="0c6d1e87c56e93c6" providerId="LiveId" clId="{41064877-C806-4AB4-9CDD-1F501398BFFD}" dt="2025-11-10T17:31:26.989" v="1933" actId="6549"/>
        <pc:sldMkLst>
          <pc:docMk/>
          <pc:sldMk cId="3647260320" sldId="526"/>
        </pc:sldMkLst>
        <pc:spChg chg="mod">
          <ac:chgData name="Shachar Lovett" userId="0c6d1e87c56e93c6" providerId="LiveId" clId="{41064877-C806-4AB4-9CDD-1F501398BFFD}" dt="2025-11-07T22:34:30.580" v="44" actId="20577"/>
          <ac:spMkLst>
            <pc:docMk/>
            <pc:sldMk cId="3647260320" sldId="526"/>
            <ac:spMk id="2" creationId="{00000000-0000-0000-0000-000000000000}"/>
          </ac:spMkLst>
        </pc:spChg>
        <pc:spChg chg="mod">
          <ac:chgData name="Shachar Lovett" userId="0c6d1e87c56e93c6" providerId="LiveId" clId="{41064877-C806-4AB4-9CDD-1F501398BFFD}" dt="2025-11-10T17:31:26.989" v="1933" actId="6549"/>
          <ac:spMkLst>
            <pc:docMk/>
            <pc:sldMk cId="3647260320" sldId="526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1-07T22:34:15.822" v="42" actId="27636"/>
        <pc:sldMkLst>
          <pc:docMk/>
          <pc:sldMk cId="841080439" sldId="569"/>
        </pc:sldMkLst>
        <pc:spChg chg="mod">
          <ac:chgData name="Shachar Lovett" userId="0c6d1e87c56e93c6" providerId="LiveId" clId="{41064877-C806-4AB4-9CDD-1F501398BFFD}" dt="2025-11-07T22:34:15.822" v="42" actId="27636"/>
          <ac:spMkLst>
            <pc:docMk/>
            <pc:sldMk cId="841080439" sldId="569"/>
            <ac:spMk id="3" creationId="{00000000-0000-0000-0000-000000000000}"/>
          </ac:spMkLst>
        </pc:spChg>
      </pc:sldChg>
      <pc:sldChg chg="del">
        <pc:chgData name="Shachar Lovett" userId="0c6d1e87c56e93c6" providerId="LiveId" clId="{41064877-C806-4AB4-9CDD-1F501398BFFD}" dt="2025-11-10T17:39:51.024" v="2069" actId="47"/>
        <pc:sldMkLst>
          <pc:docMk/>
          <pc:sldMk cId="3674942662" sldId="578"/>
        </pc:sldMkLst>
      </pc:sldChg>
      <pc:sldChg chg="addSp modSp">
        <pc:chgData name="Shachar Lovett" userId="0c6d1e87c56e93c6" providerId="LiveId" clId="{41064877-C806-4AB4-9CDD-1F501398BFFD}" dt="2025-11-10T17:31:58.601" v="1934"/>
        <pc:sldMkLst>
          <pc:docMk/>
          <pc:sldMk cId="1894820064" sldId="596"/>
        </pc:sldMkLst>
        <pc:spChg chg="add mod">
          <ac:chgData name="Shachar Lovett" userId="0c6d1e87c56e93c6" providerId="LiveId" clId="{41064877-C806-4AB4-9CDD-1F501398BFFD}" dt="2025-11-10T17:31:58.601" v="1934"/>
          <ac:spMkLst>
            <pc:docMk/>
            <pc:sldMk cId="1894820064" sldId="596"/>
            <ac:spMk id="2" creationId="{511BE0CB-C668-DA54-390E-A8830EA1A02C}"/>
          </ac:spMkLst>
        </pc:spChg>
      </pc:sldChg>
      <pc:sldChg chg="modSp mod ord">
        <pc:chgData name="Shachar Lovett" userId="0c6d1e87c56e93c6" providerId="LiveId" clId="{41064877-C806-4AB4-9CDD-1F501398BFFD}" dt="2025-11-10T17:38:29.678" v="1991" actId="20577"/>
        <pc:sldMkLst>
          <pc:docMk/>
          <pc:sldMk cId="1357492523" sldId="601"/>
        </pc:sldMkLst>
        <pc:spChg chg="mod">
          <ac:chgData name="Shachar Lovett" userId="0c6d1e87c56e93c6" providerId="LiveId" clId="{41064877-C806-4AB4-9CDD-1F501398BFFD}" dt="2025-11-10T17:38:29.678" v="1991" actId="20577"/>
          <ac:spMkLst>
            <pc:docMk/>
            <pc:sldMk cId="1357492523" sldId="601"/>
            <ac:spMk id="4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1-07T22:39:47.051" v="746" actId="20577"/>
        <pc:sldMkLst>
          <pc:docMk/>
          <pc:sldMk cId="3906857191" sldId="604"/>
        </pc:sldMkLst>
        <pc:spChg chg="mod">
          <ac:chgData name="Shachar Lovett" userId="0c6d1e87c56e93c6" providerId="LiveId" clId="{41064877-C806-4AB4-9CDD-1F501398BFFD}" dt="2025-11-07T22:39:47.051" v="746" actId="20577"/>
          <ac:spMkLst>
            <pc:docMk/>
            <pc:sldMk cId="3906857191" sldId="604"/>
            <ac:spMk id="3" creationId="{24C42AC2-F8D3-6CFA-ECF4-B4A27B70EE88}"/>
          </ac:spMkLst>
        </pc:spChg>
      </pc:sldChg>
      <pc:sldChg chg="modAnim">
        <pc:chgData name="Shachar Lovett" userId="0c6d1e87c56e93c6" providerId="LiveId" clId="{41064877-C806-4AB4-9CDD-1F501398BFFD}" dt="2025-11-07T22:39:05.200" v="715"/>
        <pc:sldMkLst>
          <pc:docMk/>
          <pc:sldMk cId="778588063" sldId="606"/>
        </pc:sldMkLst>
      </pc:sldChg>
      <pc:sldChg chg="modSp mod">
        <pc:chgData name="Shachar Lovett" userId="0c6d1e87c56e93c6" providerId="LiveId" clId="{41064877-C806-4AB4-9CDD-1F501398BFFD}" dt="2025-11-07T22:40:28.288" v="747" actId="207"/>
        <pc:sldMkLst>
          <pc:docMk/>
          <pc:sldMk cId="1612279291" sldId="614"/>
        </pc:sldMkLst>
        <pc:spChg chg="mod">
          <ac:chgData name="Shachar Lovett" userId="0c6d1e87c56e93c6" providerId="LiveId" clId="{41064877-C806-4AB4-9CDD-1F501398BFFD}" dt="2025-11-07T22:40:28.288" v="747" actId="207"/>
          <ac:spMkLst>
            <pc:docMk/>
            <pc:sldMk cId="1612279291" sldId="614"/>
            <ac:spMk id="3" creationId="{D58FB5CF-2A5C-2120-36A6-690685ABD1C8}"/>
          </ac:spMkLst>
        </pc:spChg>
      </pc:sldChg>
      <pc:sldChg chg="modSp new mod">
        <pc:chgData name="Shachar Lovett" userId="0c6d1e87c56e93c6" providerId="LiveId" clId="{41064877-C806-4AB4-9CDD-1F501398BFFD}" dt="2025-11-10T17:35:33.332" v="1963" actId="20577"/>
        <pc:sldMkLst>
          <pc:docMk/>
          <pc:sldMk cId="1256843491" sldId="615"/>
        </pc:sldMkLst>
        <pc:spChg chg="mod">
          <ac:chgData name="Shachar Lovett" userId="0c6d1e87c56e93c6" providerId="LiveId" clId="{41064877-C806-4AB4-9CDD-1F501398BFFD}" dt="2025-11-07T22:35:44.560" v="110" actId="20577"/>
          <ac:spMkLst>
            <pc:docMk/>
            <pc:sldMk cId="1256843491" sldId="615"/>
            <ac:spMk id="2" creationId="{204429E9-1096-1C05-ACBC-4D675EE2FD85}"/>
          </ac:spMkLst>
        </pc:spChg>
        <pc:spChg chg="mod">
          <ac:chgData name="Shachar Lovett" userId="0c6d1e87c56e93c6" providerId="LiveId" clId="{41064877-C806-4AB4-9CDD-1F501398BFFD}" dt="2025-11-10T17:35:33.332" v="1963" actId="20577"/>
          <ac:spMkLst>
            <pc:docMk/>
            <pc:sldMk cId="1256843491" sldId="615"/>
            <ac:spMk id="3" creationId="{FE510C22-0EB1-844E-6033-0BE2D3F8EE54}"/>
          </ac:spMkLst>
        </pc:spChg>
      </pc:sldChg>
      <pc:sldChg chg="modSp new mod modAnim">
        <pc:chgData name="Shachar Lovett" userId="0c6d1e87c56e93c6" providerId="LiveId" clId="{41064877-C806-4AB4-9CDD-1F501398BFFD}" dt="2025-11-11T02:17:10.891" v="2077" actId="58"/>
        <pc:sldMkLst>
          <pc:docMk/>
          <pc:sldMk cId="1718007412" sldId="616"/>
        </pc:sldMkLst>
        <pc:spChg chg="mod">
          <ac:chgData name="Shachar Lovett" userId="0c6d1e87c56e93c6" providerId="LiveId" clId="{41064877-C806-4AB4-9CDD-1F501398BFFD}" dt="2025-11-07T22:37:07.513" v="410" actId="20577"/>
          <ac:spMkLst>
            <pc:docMk/>
            <pc:sldMk cId="1718007412" sldId="616"/>
            <ac:spMk id="2" creationId="{E5A4271C-FDC0-AD09-CC1B-BBC9E9D9D63E}"/>
          </ac:spMkLst>
        </pc:spChg>
        <pc:spChg chg="mod">
          <ac:chgData name="Shachar Lovett" userId="0c6d1e87c56e93c6" providerId="LiveId" clId="{41064877-C806-4AB4-9CDD-1F501398BFFD}" dt="2025-11-11T02:17:10.891" v="2077" actId="58"/>
          <ac:spMkLst>
            <pc:docMk/>
            <pc:sldMk cId="1718007412" sldId="616"/>
            <ac:spMk id="3" creationId="{8960A292-8492-FF69-972C-66B4B260C49D}"/>
          </ac:spMkLst>
        </pc:spChg>
      </pc:sldChg>
      <pc:sldChg chg="modSp add mod addAnim delAnim modAnim">
        <pc:chgData name="Shachar Lovett" userId="0c6d1e87c56e93c6" providerId="LiveId" clId="{41064877-C806-4AB4-9CDD-1F501398BFFD}" dt="2025-11-07T23:50:58.254" v="1638" actId="20577"/>
        <pc:sldMkLst>
          <pc:docMk/>
          <pc:sldMk cId="2779608920" sldId="618"/>
        </pc:sldMkLst>
        <pc:spChg chg="mod">
          <ac:chgData name="Shachar Lovett" userId="0c6d1e87c56e93c6" providerId="LiveId" clId="{41064877-C806-4AB4-9CDD-1F501398BFFD}" dt="2025-11-07T23:50:58.254" v="1638" actId="20577"/>
          <ac:spMkLst>
            <pc:docMk/>
            <pc:sldMk cId="2779608920" sldId="618"/>
            <ac:spMk id="2" creationId="{CC349F2C-1006-8B99-4877-06D9FF414E6B}"/>
          </ac:spMkLst>
        </pc:spChg>
        <pc:spChg chg="mod">
          <ac:chgData name="Shachar Lovett" userId="0c6d1e87c56e93c6" providerId="LiveId" clId="{41064877-C806-4AB4-9CDD-1F501398BFFD}" dt="2025-11-07T23:29:42.417" v="1384" actId="27636"/>
          <ac:spMkLst>
            <pc:docMk/>
            <pc:sldMk cId="2779608920" sldId="618"/>
            <ac:spMk id="3" creationId="{0B22558B-86FC-F0BC-848B-16CF2E264884}"/>
          </ac:spMkLst>
        </pc:spChg>
      </pc:sldChg>
      <pc:sldChg chg="addSp modSp add mod addAnim delAnim modAnim">
        <pc:chgData name="Shachar Lovett" userId="0c6d1e87c56e93c6" providerId="LiveId" clId="{41064877-C806-4AB4-9CDD-1F501398BFFD}" dt="2025-11-10T17:37:51.216" v="1990" actId="20577"/>
        <pc:sldMkLst>
          <pc:docMk/>
          <pc:sldMk cId="3680551663" sldId="619"/>
        </pc:sldMkLst>
        <pc:spChg chg="mod">
          <ac:chgData name="Shachar Lovett" userId="0c6d1e87c56e93c6" providerId="LiveId" clId="{41064877-C806-4AB4-9CDD-1F501398BFFD}" dt="2025-11-07T23:51:01.642" v="1639"/>
          <ac:spMkLst>
            <pc:docMk/>
            <pc:sldMk cId="3680551663" sldId="619"/>
            <ac:spMk id="2" creationId="{3205C8A7-D836-46C9-B538-9FCF06942064}"/>
          </ac:spMkLst>
        </pc:spChg>
        <pc:spChg chg="mod">
          <ac:chgData name="Shachar Lovett" userId="0c6d1e87c56e93c6" providerId="LiveId" clId="{41064877-C806-4AB4-9CDD-1F501398BFFD}" dt="2025-11-10T17:37:51.216" v="1990" actId="20577"/>
          <ac:spMkLst>
            <pc:docMk/>
            <pc:sldMk cId="3680551663" sldId="619"/>
            <ac:spMk id="3" creationId="{009FD5D1-75B4-749A-96C9-6FFFFD0D9A83}"/>
          </ac:spMkLst>
        </pc:spChg>
        <pc:spChg chg="add mod">
          <ac:chgData name="Shachar Lovett" userId="0c6d1e87c56e93c6" providerId="LiveId" clId="{41064877-C806-4AB4-9CDD-1F501398BFFD}" dt="2025-11-07T22:49:16.220" v="1371" actId="1036"/>
          <ac:spMkLst>
            <pc:docMk/>
            <pc:sldMk cId="3680551663" sldId="619"/>
            <ac:spMk id="4" creationId="{E3970454-74D2-1CD0-D6E1-8E066D245632}"/>
          </ac:spMkLst>
        </pc:spChg>
      </pc:sldChg>
      <pc:sldChg chg="modSp add mod">
        <pc:chgData name="Shachar Lovett" userId="0c6d1e87c56e93c6" providerId="LiveId" clId="{41064877-C806-4AB4-9CDD-1F501398BFFD}" dt="2025-11-07T23:49:51.786" v="1629" actId="20577"/>
        <pc:sldMkLst>
          <pc:docMk/>
          <pc:sldMk cId="2595932140" sldId="620"/>
        </pc:sldMkLst>
        <pc:spChg chg="mod">
          <ac:chgData name="Shachar Lovett" userId="0c6d1e87c56e93c6" providerId="LiveId" clId="{41064877-C806-4AB4-9CDD-1F501398BFFD}" dt="2025-11-07T23:47:28.985" v="1427" actId="20577"/>
          <ac:spMkLst>
            <pc:docMk/>
            <pc:sldMk cId="2595932140" sldId="620"/>
            <ac:spMk id="2" creationId="{AC82AB44-30A7-F18B-D76E-24126EEFE794}"/>
          </ac:spMkLst>
        </pc:spChg>
        <pc:spChg chg="mod">
          <ac:chgData name="Shachar Lovett" userId="0c6d1e87c56e93c6" providerId="LiveId" clId="{41064877-C806-4AB4-9CDD-1F501398BFFD}" dt="2025-11-07T23:49:51.786" v="1629" actId="20577"/>
          <ac:spMkLst>
            <pc:docMk/>
            <pc:sldMk cId="2595932140" sldId="620"/>
            <ac:spMk id="3" creationId="{3EE38A96-A254-884D-89FA-0F75AFA002D4}"/>
          </ac:spMkLst>
        </pc:spChg>
      </pc:sldChg>
      <pc:sldChg chg="modSp add mod">
        <pc:chgData name="Shachar Lovett" userId="0c6d1e87c56e93c6" providerId="LiveId" clId="{41064877-C806-4AB4-9CDD-1F501398BFFD}" dt="2025-11-07T23:49:47.169" v="1628" actId="20577"/>
        <pc:sldMkLst>
          <pc:docMk/>
          <pc:sldMk cId="486030898" sldId="621"/>
        </pc:sldMkLst>
        <pc:spChg chg="mod">
          <ac:chgData name="Shachar Lovett" userId="0c6d1e87c56e93c6" providerId="LiveId" clId="{41064877-C806-4AB4-9CDD-1F501398BFFD}" dt="2025-11-07T23:49:47.169" v="1628" actId="20577"/>
          <ac:spMkLst>
            <pc:docMk/>
            <pc:sldMk cId="486030898" sldId="621"/>
            <ac:spMk id="3" creationId="{AFED6909-977B-089A-F8E4-7D5FD601CD92}"/>
          </ac:spMkLst>
        </pc:spChg>
      </pc:sldChg>
      <pc:sldChg chg="addSp modSp new mod modAnim">
        <pc:chgData name="Shachar Lovett" userId="0c6d1e87c56e93c6" providerId="LiveId" clId="{41064877-C806-4AB4-9CDD-1F501398BFFD}" dt="2025-11-10T17:33:41.395" v="1959"/>
        <pc:sldMkLst>
          <pc:docMk/>
          <pc:sldMk cId="2544923802" sldId="622"/>
        </pc:sldMkLst>
        <pc:spChg chg="mod">
          <ac:chgData name="Shachar Lovett" userId="0c6d1e87c56e93c6" providerId="LiveId" clId="{41064877-C806-4AB4-9CDD-1F501398BFFD}" dt="2025-11-08T00:11:05.754" v="1667" actId="20577"/>
          <ac:spMkLst>
            <pc:docMk/>
            <pc:sldMk cId="2544923802" sldId="622"/>
            <ac:spMk id="2" creationId="{684F9815-6E79-1105-FDCF-890C432EDD4B}"/>
          </ac:spMkLst>
        </pc:spChg>
        <pc:spChg chg="mod">
          <ac:chgData name="Shachar Lovett" userId="0c6d1e87c56e93c6" providerId="LiveId" clId="{41064877-C806-4AB4-9CDD-1F501398BFFD}" dt="2025-11-08T00:12:32.796" v="1847" actId="207"/>
          <ac:spMkLst>
            <pc:docMk/>
            <pc:sldMk cId="2544923802" sldId="622"/>
            <ac:spMk id="3" creationId="{E9409981-44B0-07A4-BD86-0943DD5959E8}"/>
          </ac:spMkLst>
        </pc:spChg>
        <pc:spChg chg="add mod">
          <ac:chgData name="Shachar Lovett" userId="0c6d1e87c56e93c6" providerId="LiveId" clId="{41064877-C806-4AB4-9CDD-1F501398BFFD}" dt="2025-11-10T17:33:27.682" v="1955" actId="164"/>
          <ac:spMkLst>
            <pc:docMk/>
            <pc:sldMk cId="2544923802" sldId="622"/>
            <ac:spMk id="4" creationId="{A551B3EE-B1B5-B307-520B-085D70FAEFC5}"/>
          </ac:spMkLst>
        </pc:spChg>
        <pc:spChg chg="add mod">
          <ac:chgData name="Shachar Lovett" userId="0c6d1e87c56e93c6" providerId="LiveId" clId="{41064877-C806-4AB4-9CDD-1F501398BFFD}" dt="2025-11-10T17:33:27.682" v="1955" actId="164"/>
          <ac:spMkLst>
            <pc:docMk/>
            <pc:sldMk cId="2544923802" sldId="622"/>
            <ac:spMk id="5" creationId="{8AD8FACF-7D7E-2B76-6AC3-D9F5064AF5D0}"/>
          </ac:spMkLst>
        </pc:spChg>
        <pc:grpChg chg="add mod">
          <ac:chgData name="Shachar Lovett" userId="0c6d1e87c56e93c6" providerId="LiveId" clId="{41064877-C806-4AB4-9CDD-1F501398BFFD}" dt="2025-11-10T17:33:27.682" v="1955" actId="164"/>
          <ac:grpSpMkLst>
            <pc:docMk/>
            <pc:sldMk cId="2544923802" sldId="622"/>
            <ac:grpSpMk id="6" creationId="{C6F81F96-88A7-0699-63FA-ECF9067EE883}"/>
          </ac:grpSpMkLst>
        </pc:grpChg>
      </pc:sldChg>
      <pc:sldChg chg="addSp delSp modSp new mod">
        <pc:chgData name="Shachar Lovett" userId="0c6d1e87c56e93c6" providerId="LiveId" clId="{41064877-C806-4AB4-9CDD-1F501398BFFD}" dt="2025-11-08T00:14:27.222" v="1932" actId="1076"/>
        <pc:sldMkLst>
          <pc:docMk/>
          <pc:sldMk cId="3660505968" sldId="623"/>
        </pc:sldMkLst>
        <pc:spChg chg="mod">
          <ac:chgData name="Shachar Lovett" userId="0c6d1e87c56e93c6" providerId="LiveId" clId="{41064877-C806-4AB4-9CDD-1F501398BFFD}" dt="2025-11-08T00:12:40.162" v="1849"/>
          <ac:spMkLst>
            <pc:docMk/>
            <pc:sldMk cId="3660505968" sldId="623"/>
            <ac:spMk id="2" creationId="{D6859ED2-ED7D-446D-8213-FC2A579DA206}"/>
          </ac:spMkLst>
        </pc:spChg>
        <pc:graphicFrameChg chg="add mod modGraphic">
          <ac:chgData name="Shachar Lovett" userId="0c6d1e87c56e93c6" providerId="LiveId" clId="{41064877-C806-4AB4-9CDD-1F501398BFFD}" dt="2025-11-08T00:14:27.222" v="1932" actId="1076"/>
          <ac:graphicFrameMkLst>
            <pc:docMk/>
            <pc:sldMk cId="3660505968" sldId="623"/>
            <ac:graphicFrameMk id="4" creationId="{C7301AF8-B4FA-0E97-E605-0580A9BDDEDC}"/>
          </ac:graphicFrameMkLst>
        </pc:graphicFrameChg>
      </pc:sldChg>
      <pc:sldChg chg="modSp add mod ord">
        <pc:chgData name="Shachar Lovett" userId="0c6d1e87c56e93c6" providerId="LiveId" clId="{41064877-C806-4AB4-9CDD-1F501398BFFD}" dt="2025-11-10T17:39:47.301" v="2068"/>
        <pc:sldMkLst>
          <pc:docMk/>
          <pc:sldMk cId="2511847047" sldId="624"/>
        </pc:sldMkLst>
        <pc:spChg chg="mod">
          <ac:chgData name="Shachar Lovett" userId="0c6d1e87c56e93c6" providerId="LiveId" clId="{41064877-C806-4AB4-9CDD-1F501398BFFD}" dt="2025-11-10T17:39:34.181" v="2066" actId="20577"/>
          <ac:spMkLst>
            <pc:docMk/>
            <pc:sldMk cId="2511847047" sldId="624"/>
            <ac:spMk id="3" creationId="{B367BE66-B618-3220-3B3C-6028DD030B97}"/>
          </ac:spMkLst>
        </pc:spChg>
      </pc:sldChg>
      <pc:sldChg chg="addSp modSp add mod modAnim">
        <pc:chgData name="Shachar Lovett" userId="0c6d1e87c56e93c6" providerId="LiveId" clId="{41064877-C806-4AB4-9CDD-1F501398BFFD}" dt="2025-11-11T02:43:13.353" v="2226"/>
        <pc:sldMkLst>
          <pc:docMk/>
          <pc:sldMk cId="46208584" sldId="625"/>
        </pc:sldMkLst>
        <pc:spChg chg="add mod">
          <ac:chgData name="Shachar Lovett" userId="0c6d1e87c56e93c6" providerId="LiveId" clId="{41064877-C806-4AB4-9CDD-1F501398BFFD}" dt="2025-11-11T02:42:41.689" v="2219" actId="20577"/>
          <ac:spMkLst>
            <pc:docMk/>
            <pc:sldMk cId="46208584" sldId="625"/>
            <ac:spMk id="5" creationId="{6E76A224-B9CB-B2DF-628D-09D4E6FFBB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Wednesday, May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May 6,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CSE331</a:t>
            </a:r>
            <a:br>
              <a:rPr lang="en-US" sz="3600" dirty="0"/>
            </a:br>
            <a:r>
              <a:rPr lang="en-US" sz="3600" dirty="0"/>
              <a:t>Automata and Computability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8116822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Turing Machines: decidable and recognizable languages</a:t>
            </a:r>
          </a:p>
          <a:p>
            <a:endParaRPr lang="en-US" dirty="0"/>
          </a:p>
          <a:p>
            <a:r>
              <a:rPr lang="en-US" dirty="0"/>
              <a:t>Lecture 15</a:t>
            </a:r>
          </a:p>
          <a:p>
            <a:endParaRPr lang="en-US" dirty="0"/>
          </a:p>
          <a:p>
            <a:r>
              <a:rPr lang="en-US" dirty="0"/>
              <a:t>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8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learning goals	</a:t>
            </a:r>
            <a:r>
              <a:rPr lang="en-US" sz="2400" dirty="0" err="1"/>
              <a:t>Sipser</a:t>
            </a:r>
            <a:r>
              <a:rPr lang="en-US" sz="2400" dirty="0"/>
              <a:t> Ch 3.1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TMs using different levels of descriptions</a:t>
            </a:r>
          </a:p>
          <a:p>
            <a:endParaRPr lang="en-US" dirty="0"/>
          </a:p>
          <a:p>
            <a:r>
              <a:rPr lang="en-US" dirty="0"/>
              <a:t>Give high-level description for TMs used in constructions</a:t>
            </a:r>
          </a:p>
          <a:p>
            <a:endParaRPr lang="en-US" dirty="0"/>
          </a:p>
          <a:p>
            <a:r>
              <a:rPr lang="en-US" dirty="0"/>
              <a:t>Prove properties of the classes of recognizable and decidable sets.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26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/>
              <a:t>L = { w#w | w is in {0,1}</a:t>
            </a:r>
            <a:r>
              <a:rPr lang="en-US" baseline="30000"/>
              <a:t>* </a:t>
            </a:r>
            <a:r>
              <a:rPr lang="en-US"/>
              <a:t>}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tx2"/>
                </a:solidFill>
              </a:rPr>
              <a:t>Idea for Turing machine</a:t>
            </a:r>
            <a:endParaRPr lang="en-US">
              <a:solidFill>
                <a:schemeClr val="tx2"/>
              </a:solidFill>
            </a:endParaRPr>
          </a:p>
          <a:p>
            <a:r>
              <a:rPr lang="en-US"/>
              <a:t>Zig-zag across tape to corresponding positions on either side of '#' to check whether these positions agree.  If they do not, or if there is no '#', </a:t>
            </a:r>
            <a:r>
              <a:rPr lang="en-US" i="1"/>
              <a:t>reject</a:t>
            </a:r>
            <a:r>
              <a:rPr lang="en-US"/>
              <a:t>.  If they do, cross them off.</a:t>
            </a:r>
          </a:p>
          <a:p>
            <a:r>
              <a:rPr lang="en-US"/>
              <a:t>Once all symbols to the left of the '#' are crossed off, check for any symbols to the right of '#': if there are any, </a:t>
            </a:r>
            <a:r>
              <a:rPr lang="en-US" i="1"/>
              <a:t>reject</a:t>
            </a:r>
            <a:r>
              <a:rPr lang="en-US"/>
              <a:t>; if there aren't, </a:t>
            </a:r>
            <a:r>
              <a:rPr lang="en-US" i="1"/>
              <a:t>accept</a:t>
            </a:r>
            <a:r>
              <a:rPr lang="en-US"/>
              <a:t>. 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solidFill>
                  <a:schemeClr val="tx2"/>
                </a:solidFill>
              </a:rPr>
              <a:t>How would you use this machine to prove that L is </a:t>
            </a:r>
            <a:r>
              <a:rPr lang="en-US" b="1">
                <a:solidFill>
                  <a:schemeClr val="tx2"/>
                </a:solidFill>
              </a:rPr>
              <a:t>decidable</a:t>
            </a:r>
            <a:r>
              <a:rPr lang="en-US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4657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2934" y="1238831"/>
            <a:ext cx="28066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Q={q1,q2,q3,q4,q5,q6,q7,q8,q</a:t>
            </a:r>
            <a:r>
              <a:rPr lang="en-US" baseline="-25000"/>
              <a:t>accept</a:t>
            </a:r>
            <a:r>
              <a:rPr lang="en-US"/>
              <a:t>,q</a:t>
            </a:r>
            <a:r>
              <a:rPr lang="en-US" baseline="-25000"/>
              <a:t>reject</a:t>
            </a:r>
            <a:r>
              <a:rPr lang="en-US"/>
              <a:t>} </a:t>
            </a:r>
          </a:p>
          <a:p>
            <a:endParaRPr lang="en-US"/>
          </a:p>
          <a:p>
            <a:r>
              <a:rPr lang="en-US"/>
              <a:t>Σ = {0,1,#}</a:t>
            </a:r>
          </a:p>
          <a:p>
            <a:endParaRPr lang="en-US"/>
          </a:p>
          <a:p>
            <a:r>
              <a:rPr lang="en-US"/>
              <a:t>Γ = {0,1,#,x,_ }</a:t>
            </a:r>
          </a:p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65261" y="4692250"/>
            <a:ext cx="20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accent6"/>
                </a:solidFill>
              </a:rPr>
              <a:t>Fig 3.10 in Sipser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2935" y="3387182"/>
            <a:ext cx="3061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All missing transitions have output (q</a:t>
            </a:r>
            <a:r>
              <a:rPr lang="en-US" baseline="-25000">
                <a:solidFill>
                  <a:srgbClr val="4128D2"/>
                </a:solidFill>
              </a:rPr>
              <a:t>reject</a:t>
            </a:r>
            <a:r>
              <a:rPr lang="en-US">
                <a:solidFill>
                  <a:srgbClr val="4128D2"/>
                </a:solidFill>
              </a:rPr>
              <a:t>, _, R)</a:t>
            </a:r>
          </a:p>
        </p:txBody>
      </p:sp>
    </p:spTree>
    <p:extLst>
      <p:ext uri="{BB962C8B-B14F-4D97-AF65-F5344CB8AC3E}">
        <p14:creationId xmlns:p14="http://schemas.microsoft.com/office/powerpoint/2010/main" val="29529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825102" y="3889089"/>
            <a:ext cx="410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Configuration </a:t>
            </a:r>
            <a:r>
              <a:rPr lang="en-US" b="1" dirty="0">
                <a:solidFill>
                  <a:schemeClr val="tx2"/>
                </a:solidFill>
              </a:rPr>
              <a:t>u q v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for current tape </a:t>
            </a:r>
            <a:r>
              <a:rPr lang="en-US" dirty="0" err="1">
                <a:solidFill>
                  <a:schemeClr val="tx2"/>
                </a:solidFill>
              </a:rPr>
              <a:t>uv</a:t>
            </a:r>
            <a:r>
              <a:rPr lang="en-US" dirty="0">
                <a:solidFill>
                  <a:schemeClr val="tx2"/>
                </a:solidFill>
              </a:rPr>
              <a:t> (and then all blanks), current head location is first symbol of v, current state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2935" y="435825"/>
            <a:ext cx="306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Computation on input 0#0?</a:t>
            </a:r>
          </a:p>
        </p:txBody>
      </p:sp>
    </p:spTree>
    <p:extLst>
      <p:ext uri="{BB962C8B-B14F-4D97-AF65-F5344CB8AC3E}">
        <p14:creationId xmlns:p14="http://schemas.microsoft.com/office/powerpoint/2010/main" val="223823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82935" y="435825"/>
            <a:ext cx="306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Computation on input 0# 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BE0CB-C668-DA54-390E-A8830EA1A02C}"/>
              </a:ext>
            </a:extLst>
          </p:cNvPr>
          <p:cNvSpPr txBox="1"/>
          <p:nvPr/>
        </p:nvSpPr>
        <p:spPr>
          <a:xfrm>
            <a:off x="4825102" y="3889089"/>
            <a:ext cx="410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Configuration </a:t>
            </a:r>
            <a:r>
              <a:rPr lang="en-US" b="1" dirty="0">
                <a:solidFill>
                  <a:schemeClr val="tx2"/>
                </a:solidFill>
              </a:rPr>
              <a:t>u q v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for current tape </a:t>
            </a:r>
            <a:r>
              <a:rPr lang="en-US" dirty="0" err="1">
                <a:solidFill>
                  <a:schemeClr val="tx2"/>
                </a:solidFill>
              </a:rPr>
              <a:t>uv</a:t>
            </a:r>
            <a:r>
              <a:rPr lang="en-US" dirty="0">
                <a:solidFill>
                  <a:schemeClr val="tx2"/>
                </a:solidFill>
              </a:rPr>
              <a:t> (and then all blanks), current head location is first symbol of v, current state q</a:t>
            </a:r>
          </a:p>
        </p:txBody>
      </p:sp>
    </p:spTree>
    <p:extLst>
      <p:ext uri="{BB962C8B-B14F-4D97-AF65-F5344CB8AC3E}">
        <p14:creationId xmlns:p14="http://schemas.microsoft.com/office/powerpoint/2010/main" val="189482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Describing TMs				</a:t>
            </a:r>
            <a:r>
              <a:rPr lang="en-US" sz="1600" i="1">
                <a:solidFill>
                  <a:schemeClr val="accent6"/>
                </a:solidFill>
              </a:rPr>
              <a:t>Sipser p.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>
                <a:solidFill>
                  <a:schemeClr val="tx2"/>
                </a:solidFill>
              </a:rPr>
              <a:t>Formal definition</a:t>
            </a:r>
            <a:r>
              <a:rPr lang="en-US">
                <a:solidFill>
                  <a:srgbClr val="292934"/>
                </a:solidFill>
              </a:rPr>
              <a:t>: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/>
              <a:t>set of states, input alphabet, tape alphabet, transition function, state state, accept state, reject state.</a:t>
            </a:r>
          </a:p>
          <a:p>
            <a:r>
              <a:rPr lang="en-US" b="1">
                <a:solidFill>
                  <a:schemeClr val="tx2"/>
                </a:solidFill>
              </a:rPr>
              <a:t>Implementation-level definition</a:t>
            </a:r>
            <a:r>
              <a:rPr lang="en-US">
                <a:solidFill>
                  <a:srgbClr val="292934"/>
                </a:solidFill>
              </a:rPr>
              <a:t>: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/>
              <a:t>English prose to describe Turing machine head movements relative to contents of tape.</a:t>
            </a:r>
          </a:p>
          <a:p>
            <a:r>
              <a:rPr lang="en-US" b="1">
                <a:solidFill>
                  <a:schemeClr val="tx2"/>
                </a:solidFill>
              </a:rPr>
              <a:t>High-level desciption</a:t>
            </a:r>
            <a:r>
              <a:rPr lang="en-US">
                <a:solidFill>
                  <a:srgbClr val="292934"/>
                </a:solidFill>
              </a:rPr>
              <a:t>: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/>
              <a:t>Description of algorithm, without implementation details of machine.  As part of this description, can "call" and run another TM as a subroutine.</a:t>
            </a:r>
            <a:endParaRPr lang="en-US" b="1"/>
          </a:p>
          <a:p>
            <a:endParaRPr lang="en-US" b="1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6688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Which of the following is an </a:t>
            </a:r>
            <a:r>
              <a:rPr lang="en-US">
                <a:solidFill>
                  <a:schemeClr val="tx2"/>
                </a:solidFill>
              </a:rPr>
              <a:t>implementation-level description </a:t>
            </a:r>
            <a:r>
              <a:rPr lang="en-US"/>
              <a:t>of a TM which </a:t>
            </a:r>
            <a:r>
              <a:rPr lang="en-US" b="1"/>
              <a:t>decides the empty set</a:t>
            </a:r>
            <a:r>
              <a:rPr lang="en-US"/>
              <a:t>?</a:t>
            </a:r>
          </a:p>
          <a:p>
            <a:pPr marL="0" indent="0">
              <a:buNone/>
            </a:pPr>
            <a:r>
              <a:rPr lang="en-US"/>
              <a:t>M = "On input w:</a:t>
            </a:r>
          </a:p>
          <a:p>
            <a:pPr marL="457200" indent="-457200">
              <a:buAutoNum type="alphaUcPeriod"/>
            </a:pPr>
            <a:r>
              <a:rPr lang="en-US"/>
              <a:t>reject."</a:t>
            </a:r>
          </a:p>
          <a:p>
            <a:pPr marL="457200" indent="-457200">
              <a:buAutoNum type="alphaUcPeriod"/>
            </a:pPr>
            <a:r>
              <a:rPr lang="en-US"/>
              <a:t>sweep right across the tape until find a non-blank symbol.  Then, reject."</a:t>
            </a:r>
          </a:p>
          <a:p>
            <a:pPr marL="457200" indent="-457200">
              <a:buAutoNum type="alphaUcPeriod"/>
            </a:pPr>
            <a:r>
              <a:rPr lang="en-US"/>
              <a:t>If the first tape symbol is blank, accept.  Otherwise, reject."</a:t>
            </a:r>
          </a:p>
          <a:p>
            <a:pPr marL="457200" indent="-457200">
              <a:buAutoNum type="alphaUcPeriod"/>
            </a:pPr>
            <a:r>
              <a:rPr lang="en-US"/>
              <a:t>More than one of the above.</a:t>
            </a:r>
          </a:p>
          <a:p>
            <a:pPr marL="457200" indent="-457200">
              <a:buAutoNum type="alphaUcPeriod"/>
            </a:pPr>
            <a:r>
              <a:rPr lang="en-US"/>
              <a:t>I don't know.</a:t>
            </a:r>
          </a:p>
          <a:p>
            <a:pPr marL="457200" indent="-457200">
              <a:buAutoNum type="alphaUcPeriod"/>
            </a:pPr>
            <a:endParaRPr lang="en-US"/>
          </a:p>
          <a:p>
            <a:pPr marL="457200" indent="-457200">
              <a:buAutoNum type="alphaUcPeriod"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353650" cy="3714750"/>
          </a:xfrm>
          <a:prstGeom prst="rect">
            <a:avLst/>
          </a:prstGeom>
          <a:noFill/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60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060122" y="3449909"/>
            <a:ext cx="4358391" cy="15995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Context-free languages</a:t>
            </a:r>
          </a:p>
        </p:txBody>
      </p:sp>
      <p:sp>
        <p:nvSpPr>
          <p:cNvPr id="4" name="Oval 3"/>
          <p:cNvSpPr/>
          <p:nvPr/>
        </p:nvSpPr>
        <p:spPr>
          <a:xfrm>
            <a:off x="1900918" y="4233977"/>
            <a:ext cx="3182566" cy="48612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Regular languages</a:t>
            </a:r>
          </a:p>
        </p:txBody>
      </p:sp>
      <p:sp>
        <p:nvSpPr>
          <p:cNvPr id="6" name="Oval 5"/>
          <p:cNvSpPr/>
          <p:nvPr/>
        </p:nvSpPr>
        <p:spPr>
          <a:xfrm>
            <a:off x="127970" y="2865278"/>
            <a:ext cx="5751156" cy="2340948"/>
          </a:xfrm>
          <a:prstGeom prst="ellipse">
            <a:avLst/>
          </a:prstGeom>
          <a:noFill/>
          <a:ln w="38100" cmpd="sng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92436" y="3080577"/>
            <a:ext cx="322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Turing decidable languages</a:t>
            </a:r>
          </a:p>
        </p:txBody>
      </p:sp>
      <p:pic>
        <p:nvPicPr>
          <p:cNvPr id="10" name="Picture 9" descr="PDA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638" y="448459"/>
            <a:ext cx="3372658" cy="2529494"/>
          </a:xfrm>
          <a:prstGeom prst="rect">
            <a:avLst/>
          </a:prstGeom>
        </p:spPr>
      </p:pic>
      <p:pic>
        <p:nvPicPr>
          <p:cNvPr id="11" name="Picture 10" descr="PDA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23" r="24042"/>
          <a:stretch/>
        </p:blipFill>
        <p:spPr>
          <a:xfrm>
            <a:off x="6186343" y="2956763"/>
            <a:ext cx="2561796" cy="205590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35018" y="2874927"/>
            <a:ext cx="99443" cy="2979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85296" y="3254535"/>
            <a:ext cx="99443" cy="1455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Callout 13"/>
          <p:cNvSpPr/>
          <p:nvPr/>
        </p:nvSpPr>
        <p:spPr>
          <a:xfrm>
            <a:off x="6342294" y="2874926"/>
            <a:ext cx="2801705" cy="2137737"/>
          </a:xfrm>
          <a:prstGeom prst="wedgeEllipseCallout">
            <a:avLst>
              <a:gd name="adj1" fmla="val -110154"/>
              <a:gd name="adj2" fmla="val 24626"/>
            </a:avLst>
          </a:prstGeom>
          <a:gradFill flip="none" rotWithShape="1">
            <a:gsLst>
              <a:gs pos="0">
                <a:schemeClr val="accent1">
                  <a:shade val="70000"/>
                  <a:satMod val="150000"/>
                  <a:alpha val="19000"/>
                </a:schemeClr>
              </a:gs>
              <a:gs pos="34000">
                <a:schemeClr val="accent1">
                  <a:shade val="70000"/>
                  <a:satMod val="140000"/>
                  <a:alpha val="19000"/>
                </a:schemeClr>
              </a:gs>
              <a:gs pos="70000">
                <a:schemeClr val="accent1">
                  <a:tint val="100000"/>
                  <a:shade val="90000"/>
                  <a:satMod val="140000"/>
                  <a:alpha val="19000"/>
                </a:schemeClr>
              </a:gs>
              <a:gs pos="100000">
                <a:schemeClr val="accent1">
                  <a:tint val="100000"/>
                  <a:shade val="100000"/>
                  <a:satMod val="100000"/>
                  <a:alpha val="19000"/>
                </a:schemeClr>
              </a:gs>
            </a:gsLst>
            <a:path path="circle">
              <a:fillToRect l="100000" t="100000" r="100000" b="10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Callout 14"/>
          <p:cNvSpPr/>
          <p:nvPr/>
        </p:nvSpPr>
        <p:spPr>
          <a:xfrm>
            <a:off x="4207202" y="202384"/>
            <a:ext cx="3578094" cy="2662893"/>
          </a:xfrm>
          <a:prstGeom prst="wedgeEllipseCallout">
            <a:avLst>
              <a:gd name="adj1" fmla="val -47544"/>
              <a:gd name="adj2" fmla="val 86296"/>
            </a:avLst>
          </a:prstGeom>
          <a:solidFill>
            <a:schemeClr val="tx2">
              <a:alpha val="19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-125421" y="1960179"/>
            <a:ext cx="6467715" cy="338718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344836" y="2213686"/>
            <a:ext cx="356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Turing recognizable languages</a:t>
            </a:r>
          </a:p>
        </p:txBody>
      </p:sp>
      <p:pic>
        <p:nvPicPr>
          <p:cNvPr id="21" name="Picture 20" descr="Screen Shot 2016-04-27 at 11.37.20 P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9" t="54008" r="47937" b="33464"/>
          <a:stretch/>
        </p:blipFill>
        <p:spPr>
          <a:xfrm>
            <a:off x="627106" y="448459"/>
            <a:ext cx="1802933" cy="140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8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9815-6E79-1105-FDCF-890C432E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Decidable vs Recognizable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409981-44B0-07A4-BD86-0943DD5959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M be a TM</a:t>
                </a:r>
              </a:p>
              <a:p>
                <a:endParaRPr lang="en-US" dirty="0"/>
              </a:p>
              <a:p>
                <a:r>
                  <a:rPr lang="en-US" dirty="0"/>
                  <a:t>M </a:t>
                </a:r>
                <a:r>
                  <a:rPr lang="en-US" dirty="0">
                    <a:solidFill>
                      <a:srgbClr val="0070C0"/>
                    </a:solidFill>
                  </a:rPr>
                  <a:t>decides </a:t>
                </a:r>
                <a:r>
                  <a:rPr lang="en-US" dirty="0"/>
                  <a:t>a language L if: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accepts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rejects</a:t>
                </a:r>
              </a:p>
              <a:p>
                <a:endParaRPr lang="en-US" dirty="0"/>
              </a:p>
              <a:p>
                <a:r>
                  <a:rPr lang="en-US" dirty="0"/>
                  <a:t>M </a:t>
                </a:r>
                <a:r>
                  <a:rPr lang="en-US" dirty="0">
                    <a:solidFill>
                      <a:srgbClr val="FF0000"/>
                    </a:solidFill>
                  </a:rPr>
                  <a:t>recognizes</a:t>
                </a:r>
                <a:r>
                  <a:rPr lang="en-US" dirty="0"/>
                  <a:t> a language L if: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accepts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rejects or loops</a:t>
                </a:r>
                <a:r>
                  <a:rPr lang="en-US" dirty="0"/>
                  <a:t> (runs forever)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lvl="1"/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409981-44B0-07A4-BD86-0943DD595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1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F81F96-88A7-0699-63FA-ECF9067EE883}"/>
              </a:ext>
            </a:extLst>
          </p:cNvPr>
          <p:cNvGrpSpPr/>
          <p:nvPr/>
        </p:nvGrpSpPr>
        <p:grpSpPr>
          <a:xfrm>
            <a:off x="4828032" y="2023872"/>
            <a:ext cx="2115589" cy="1042416"/>
            <a:chOff x="4828032" y="2023872"/>
            <a:chExt cx="2115589" cy="1042416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A551B3EE-B1B5-B307-520B-085D70FAEFC5}"/>
                </a:ext>
              </a:extLst>
            </p:cNvPr>
            <p:cNvSpPr/>
            <p:nvPr/>
          </p:nvSpPr>
          <p:spPr>
            <a:xfrm>
              <a:off x="4828032" y="2023872"/>
              <a:ext cx="353568" cy="1042416"/>
            </a:xfrm>
            <a:prstGeom prst="rightBrac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D8FACF-7D7E-2B76-6AC3-D9F5064AF5D0}"/>
                </a:ext>
              </a:extLst>
            </p:cNvPr>
            <p:cNvSpPr txBox="1"/>
            <p:nvPr/>
          </p:nvSpPr>
          <p:spPr>
            <a:xfrm>
              <a:off x="5181600" y="236041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 always halts!</a:t>
              </a:r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54492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9ED2-ED7D-446D-8213-FC2A579D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Decidable vs Recognizable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301AF8-B4FA-0E97-E605-0580A9BDD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806197"/>
                  </p:ext>
                </p:extLst>
              </p:nvPr>
            </p:nvGraphicFramePr>
            <p:xfrm>
              <a:off x="1402080" y="2152396"/>
              <a:ext cx="6096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8592">
                      <a:extLst>
                        <a:ext uri="{9D8B030D-6E8A-4147-A177-3AD203B41FA5}">
                          <a16:colId xmlns:a16="http://schemas.microsoft.com/office/drawing/2014/main" val="3998147498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1826362471"/>
                        </a:ext>
                      </a:extLst>
                    </a:gridCol>
                    <a:gridCol w="2456688">
                      <a:extLst>
                        <a:ext uri="{9D8B030D-6E8A-4147-A177-3AD203B41FA5}">
                          <a16:colId xmlns:a16="http://schemas.microsoft.com/office/drawing/2014/main" val="8741111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 decides L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 recognizes L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3427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accepts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accepts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3749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rejects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rejects or loops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8546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301AF8-B4FA-0E97-E605-0580A9BDD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806197"/>
                  </p:ext>
                </p:extLst>
              </p:nvPr>
            </p:nvGraphicFramePr>
            <p:xfrm>
              <a:off x="1402080" y="2152396"/>
              <a:ext cx="6096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8592">
                      <a:extLst>
                        <a:ext uri="{9D8B030D-6E8A-4147-A177-3AD203B41FA5}">
                          <a16:colId xmlns:a16="http://schemas.microsoft.com/office/drawing/2014/main" val="3998147498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1826362471"/>
                        </a:ext>
                      </a:extLst>
                    </a:gridCol>
                    <a:gridCol w="2456688">
                      <a:extLst>
                        <a:ext uri="{9D8B030D-6E8A-4147-A177-3AD203B41FA5}">
                          <a16:colId xmlns:a16="http://schemas.microsoft.com/office/drawing/2014/main" val="8741111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 decides L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 recognizes L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3427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722" t="-108197" r="-26281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87188" t="-108197" r="-1275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48635" t="-108197" r="-1241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3749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722" t="-208197" r="-26281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87188" t="-208197" r="-1275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48635" t="-208197" r="-1241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8546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0505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</a:t>
            </a:r>
            <a:r>
              <a:rPr lang="en-US"/>
              <a:t>: The class of decidable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union.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 Let …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WTS …</a:t>
            </a:r>
          </a:p>
        </p:txBody>
      </p:sp>
    </p:spTree>
    <p:extLst>
      <p:ext uri="{BB962C8B-B14F-4D97-AF65-F5344CB8AC3E}">
        <p14:creationId xmlns:p14="http://schemas.microsoft.com/office/powerpoint/2010/main" val="1234252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</a:t>
            </a:r>
            <a:r>
              <a:rPr lang="en-US"/>
              <a:t>: The class of decidable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union.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 Let L</a:t>
            </a:r>
            <a:r>
              <a:rPr lang="en-US" baseline="-25000"/>
              <a:t>1</a:t>
            </a:r>
            <a:r>
              <a:rPr lang="en-US"/>
              <a:t> and L</a:t>
            </a:r>
            <a:r>
              <a:rPr lang="en-US" baseline="-25000"/>
              <a:t>2</a:t>
            </a:r>
            <a:r>
              <a:rPr lang="en-US"/>
              <a:t> be languages </a:t>
            </a:r>
            <a:r>
              <a:rPr lang="en-US">
                <a:solidFill>
                  <a:schemeClr val="accent5"/>
                </a:solidFill>
              </a:rPr>
              <a:t>over Σ</a:t>
            </a:r>
            <a:r>
              <a:rPr lang="en-US"/>
              <a:t>  and suppose M</a:t>
            </a:r>
            <a:r>
              <a:rPr lang="en-US" baseline="-25000"/>
              <a:t>1</a:t>
            </a:r>
            <a:r>
              <a:rPr lang="en-US"/>
              <a:t> and M</a:t>
            </a:r>
            <a:r>
              <a:rPr lang="en-US" baseline="-25000"/>
              <a:t>2</a:t>
            </a:r>
            <a:r>
              <a:rPr lang="en-US"/>
              <a:t> are TMs deciding these languages.  We will </a:t>
            </a:r>
            <a:r>
              <a:rPr lang="en-US" b="1">
                <a:solidFill>
                  <a:schemeClr val="tx2"/>
                </a:solidFill>
              </a:rPr>
              <a:t>define</a:t>
            </a:r>
            <a:r>
              <a:rPr lang="en-US"/>
              <a:t> a new TM, M, via a high-level description.  We will then show that </a:t>
            </a:r>
            <a:r>
              <a:rPr lang="en-US" b="1">
                <a:solidFill>
                  <a:srgbClr val="4128D2"/>
                </a:solidFill>
              </a:rPr>
              <a:t>L(M) = L</a:t>
            </a:r>
            <a:r>
              <a:rPr lang="en-US" b="1" baseline="-25000">
                <a:solidFill>
                  <a:srgbClr val="4128D2"/>
                </a:solidFill>
              </a:rPr>
              <a:t>1</a:t>
            </a:r>
            <a:r>
              <a:rPr lang="en-US" b="1">
                <a:solidFill>
                  <a:srgbClr val="4128D2"/>
                </a:solidFill>
              </a:rPr>
              <a:t> U L</a:t>
            </a:r>
            <a:r>
              <a:rPr lang="en-US" b="1" baseline="-25000">
                <a:solidFill>
                  <a:srgbClr val="4128D2"/>
                </a:solidFill>
              </a:rPr>
              <a:t>2</a:t>
            </a:r>
            <a:r>
              <a:rPr lang="en-US" b="1">
                <a:solidFill>
                  <a:srgbClr val="4128D2"/>
                </a:solidFill>
              </a:rPr>
              <a:t> and that M always halts.</a:t>
            </a:r>
          </a:p>
        </p:txBody>
      </p:sp>
    </p:spTree>
    <p:extLst>
      <p:ext uri="{BB962C8B-B14F-4D97-AF65-F5344CB8AC3E}">
        <p14:creationId xmlns:p14="http://schemas.microsoft.com/office/powerpoint/2010/main" val="114674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decidable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Proof: Let L</a:t>
            </a:r>
            <a:r>
              <a:rPr lang="en-US" baseline="-25000" dirty="0"/>
              <a:t>1</a:t>
            </a:r>
            <a:r>
              <a:rPr lang="en-US" dirty="0"/>
              <a:t> and L</a:t>
            </a:r>
            <a:r>
              <a:rPr lang="en-US" baseline="-25000" dirty="0"/>
              <a:t>2</a:t>
            </a:r>
            <a:r>
              <a:rPr lang="en-US" dirty="0"/>
              <a:t> be languages and suppose M</a:t>
            </a:r>
            <a:r>
              <a:rPr lang="en-US" baseline="-25000" dirty="0"/>
              <a:t>1</a:t>
            </a:r>
            <a:r>
              <a:rPr lang="en-US" dirty="0"/>
              <a:t> and M</a:t>
            </a:r>
            <a:r>
              <a:rPr lang="en-US" baseline="-25000" dirty="0"/>
              <a:t>2</a:t>
            </a:r>
            <a:r>
              <a:rPr lang="en-US" dirty="0"/>
              <a:t> are TMs deciding these languages.  </a:t>
            </a:r>
          </a:p>
          <a:p>
            <a:pPr marL="0" indent="0">
              <a:buNone/>
            </a:pPr>
            <a:r>
              <a:rPr lang="en-US" dirty="0"/>
              <a:t>Construct the TM M as "On input w,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1</a:t>
            </a:r>
            <a:r>
              <a:rPr lang="en-US" dirty="0"/>
              <a:t> on input w. If M</a:t>
            </a:r>
            <a:r>
              <a:rPr lang="en-US" baseline="-25000" dirty="0"/>
              <a:t>1</a:t>
            </a:r>
            <a:r>
              <a:rPr lang="en-US" dirty="0"/>
              <a:t> accepts w, accept.  Otherwise, go to 2.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2</a:t>
            </a:r>
            <a:r>
              <a:rPr lang="en-US" dirty="0"/>
              <a:t> on input w. If M</a:t>
            </a:r>
            <a:r>
              <a:rPr lang="en-US" baseline="-25000" dirty="0"/>
              <a:t>2</a:t>
            </a:r>
            <a:r>
              <a:rPr lang="en-US" dirty="0"/>
              <a:t> accepts w, accept.  Otherwise, reject."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Correctness of construction: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WTS </a:t>
            </a:r>
            <a:r>
              <a:rPr lang="en-US" dirty="0"/>
              <a:t>L(M) =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and</a:t>
            </a:r>
            <a:r>
              <a:rPr lang="en-US" dirty="0"/>
              <a:t> M is a decider.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5753704" y="4108527"/>
            <a:ext cx="3390296" cy="749223"/>
          </a:xfrm>
          <a:prstGeom prst="cloudCallout">
            <a:avLst>
              <a:gd name="adj1" fmla="val 41132"/>
              <a:gd name="adj2" fmla="val 8343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4128D2"/>
                </a:solidFill>
              </a:rPr>
              <a:t>Where do we use decidability?</a:t>
            </a:r>
          </a:p>
        </p:txBody>
      </p:sp>
    </p:spTree>
    <p:extLst>
      <p:ext uri="{BB962C8B-B14F-4D97-AF65-F5344CB8AC3E}">
        <p14:creationId xmlns:p14="http://schemas.microsoft.com/office/powerpoint/2010/main" val="132167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7E3F-CCE9-EE0E-CD4B-176DEFF9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8FFD6-7F46-5077-8C40-CFEB0184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2"/>
                </a:solidFill>
              </a:rPr>
              <a:t>WTS </a:t>
            </a:r>
            <a:r>
              <a:rPr lang="en-US" dirty="0"/>
              <a:t>L(M) =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and</a:t>
            </a:r>
            <a:r>
              <a:rPr lang="en-US" dirty="0"/>
              <a:t> M is a decider.</a:t>
            </a:r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accepts; so, M accepts w</a:t>
            </a:r>
          </a:p>
          <a:p>
            <a:pPr lvl="1"/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M1(w) accepts, M accepts w</a:t>
            </a:r>
          </a:p>
          <a:p>
            <a:pPr lvl="1"/>
            <a:r>
              <a:rPr lang="en-US" dirty="0"/>
              <a:t>If not, it rejects, and then M2(w) accepts.</a:t>
            </a:r>
          </a:p>
          <a:p>
            <a:pPr lvl="1"/>
            <a:r>
              <a:rPr lang="en-US" dirty="0"/>
              <a:t>Either way, M accepts w.</a:t>
            </a:r>
          </a:p>
          <a:p>
            <a:pPr marL="274320" lvl="1" indent="0">
              <a:buNone/>
            </a:pPr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not in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rejects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M2(w) rejects</a:t>
            </a:r>
          </a:p>
          <a:p>
            <a:pPr lvl="1"/>
            <a:r>
              <a:rPr lang="en-US" dirty="0"/>
              <a:t>So, M rejects w.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19C4C-169C-EED2-72E9-6A1956F09EF9}"/>
              </a:ext>
            </a:extLst>
          </p:cNvPr>
          <p:cNvSpPr txBox="1"/>
          <p:nvPr/>
        </p:nvSpPr>
        <p:spPr>
          <a:xfrm>
            <a:off x="5268248" y="497434"/>
            <a:ext cx="3647152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M(w):</a:t>
            </a:r>
          </a:p>
          <a:p>
            <a:pPr marL="342900" indent="-342900">
              <a:buAutoNum type="arabicPeriod"/>
            </a:pPr>
            <a:r>
              <a:rPr lang="en-US" dirty="0"/>
              <a:t>Run M1(w). If accepts, accept.</a:t>
            </a:r>
          </a:p>
          <a:p>
            <a:pPr marL="342900" indent="-342900">
              <a:buAutoNum type="arabicPeriod"/>
            </a:pPr>
            <a:r>
              <a:rPr lang="en-US" dirty="0"/>
              <a:t>Run M2(w). If accepts, accept,</a:t>
            </a:r>
            <a:br>
              <a:rPr lang="en-US" dirty="0"/>
            </a:br>
            <a:r>
              <a:rPr lang="en-US" dirty="0"/>
              <a:t>otherwise reject.</a:t>
            </a:r>
          </a:p>
        </p:txBody>
      </p:sp>
    </p:spTree>
    <p:extLst>
      <p:ext uri="{BB962C8B-B14F-4D97-AF65-F5344CB8AC3E}">
        <p14:creationId xmlns:p14="http://schemas.microsoft.com/office/powerpoint/2010/main" val="77858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539A-D031-BDEF-45DD-C70102FB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413C-1FF4-BC09-6E7E-AC7A4E0F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82840-1347-37DB-2F41-F69E092A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2"/>
                </a:solidFill>
              </a:rPr>
              <a:t>WTS </a:t>
            </a:r>
            <a:r>
              <a:rPr lang="en-US" dirty="0"/>
              <a:t>L(M) =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 is a decider</a:t>
            </a:r>
            <a:r>
              <a:rPr lang="en-US" dirty="0"/>
              <a:t>.</a:t>
            </a:r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accepts; so, M accepts w</a:t>
            </a:r>
          </a:p>
          <a:p>
            <a:pPr lvl="1"/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M1(w) accepts, M accepts w</a:t>
            </a:r>
          </a:p>
          <a:p>
            <a:pPr lvl="1"/>
            <a:r>
              <a:rPr lang="en-US" dirty="0"/>
              <a:t>If not, it rejects, and then M2(w) accepts.</a:t>
            </a:r>
          </a:p>
          <a:p>
            <a:pPr lvl="1"/>
            <a:r>
              <a:rPr lang="en-US" dirty="0"/>
              <a:t>Either way, M accepts w.</a:t>
            </a:r>
          </a:p>
          <a:p>
            <a:pPr marL="274320" lvl="1" indent="0">
              <a:buNone/>
            </a:pPr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not in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rejects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M2(w) rejects</a:t>
            </a:r>
          </a:p>
          <a:p>
            <a:pPr lvl="1"/>
            <a:r>
              <a:rPr lang="en-US" dirty="0"/>
              <a:t>So, M rejects w.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68875-9A37-93B7-F92C-8C19FFF59E33}"/>
              </a:ext>
            </a:extLst>
          </p:cNvPr>
          <p:cNvSpPr txBox="1"/>
          <p:nvPr/>
        </p:nvSpPr>
        <p:spPr>
          <a:xfrm>
            <a:off x="5268248" y="497434"/>
            <a:ext cx="3647152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M(w):</a:t>
            </a:r>
          </a:p>
          <a:p>
            <a:pPr marL="342900" indent="-342900">
              <a:buAutoNum type="arabicPeriod"/>
            </a:pPr>
            <a:r>
              <a:rPr lang="en-US" dirty="0"/>
              <a:t>Run M1(w). If accepts, accept.</a:t>
            </a:r>
          </a:p>
          <a:p>
            <a:pPr marL="342900" indent="-342900">
              <a:buAutoNum type="arabicPeriod"/>
            </a:pPr>
            <a:r>
              <a:rPr lang="en-US" dirty="0"/>
              <a:t>Run M2(w). If accepts, accept,</a:t>
            </a:r>
            <a:br>
              <a:rPr lang="en-US" dirty="0"/>
            </a:br>
            <a:r>
              <a:rPr lang="en-US" dirty="0"/>
              <a:t>otherwise reject.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B48B8-6AF1-6F43-0E67-5E043FBA2883}"/>
              </a:ext>
            </a:extLst>
          </p:cNvPr>
          <p:cNvSpPr txBox="1"/>
          <p:nvPr/>
        </p:nvSpPr>
        <p:spPr>
          <a:xfrm>
            <a:off x="5268248" y="2302164"/>
            <a:ext cx="3147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 is a decider because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it accepts or rejects all inputs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194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320E-8A13-8597-89D4-441CD7FB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B79C-ECE3-D324-7B2A-0E2A1A47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566A-06D0-D4BD-25AF-CF39680D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2"/>
                </a:solidFill>
              </a:rPr>
              <a:t>WTS </a:t>
            </a:r>
            <a:r>
              <a:rPr lang="en-US" dirty="0"/>
              <a:t>L(M) =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and</a:t>
            </a:r>
            <a:r>
              <a:rPr lang="en-US" dirty="0"/>
              <a:t> M is a decider.</a:t>
            </a:r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accepts; so, M accepts w</a:t>
            </a:r>
          </a:p>
          <a:p>
            <a:pPr lvl="1"/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M1(w) accepts, M accepts w</a:t>
            </a:r>
          </a:p>
          <a:p>
            <a:pPr lvl="1"/>
            <a:r>
              <a:rPr lang="en-US" dirty="0"/>
              <a:t>If not, it rejects, and then M2(w) accepts.</a:t>
            </a:r>
          </a:p>
          <a:p>
            <a:pPr lvl="1"/>
            <a:r>
              <a:rPr lang="en-US" dirty="0"/>
              <a:t>Either way, M accepts w.</a:t>
            </a:r>
          </a:p>
          <a:p>
            <a:pPr marL="274320" lvl="1" indent="0">
              <a:buNone/>
            </a:pPr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not in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rejects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M2(w) rejects</a:t>
            </a:r>
          </a:p>
          <a:p>
            <a:pPr lvl="1"/>
            <a:r>
              <a:rPr lang="en-US" dirty="0"/>
              <a:t>So, M rejects w.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E3859-14EB-D677-15BC-19B3665BEA52}"/>
              </a:ext>
            </a:extLst>
          </p:cNvPr>
          <p:cNvSpPr txBox="1"/>
          <p:nvPr/>
        </p:nvSpPr>
        <p:spPr>
          <a:xfrm>
            <a:off x="5268248" y="497434"/>
            <a:ext cx="3647152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M(w):</a:t>
            </a:r>
          </a:p>
          <a:p>
            <a:pPr marL="342900" indent="-342900">
              <a:buAutoNum type="arabicPeriod"/>
            </a:pPr>
            <a:r>
              <a:rPr lang="en-US" dirty="0"/>
              <a:t>Run M1(w). If accepts, accept.</a:t>
            </a:r>
          </a:p>
          <a:p>
            <a:pPr marL="342900" indent="-342900">
              <a:buAutoNum type="arabicPeriod"/>
            </a:pPr>
            <a:r>
              <a:rPr lang="en-US" dirty="0"/>
              <a:t>Run M2(w). If accepts, accept,</a:t>
            </a:r>
            <a:br>
              <a:rPr lang="en-US" dirty="0"/>
            </a:br>
            <a:r>
              <a:rPr lang="en-US" dirty="0"/>
              <a:t>otherwise reject.</a:t>
            </a:r>
          </a:p>
        </p:txBody>
      </p:sp>
      <p:sp>
        <p:nvSpPr>
          <p:cNvPr id="5" name="Cloud Callout 3">
            <a:extLst>
              <a:ext uri="{FF2B5EF4-FFF2-40B4-BE49-F238E27FC236}">
                <a16:creationId xmlns:a16="http://schemas.microsoft.com/office/drawing/2014/main" id="{C81A6CF0-1017-5A00-B1CC-E12272EB4ADD}"/>
              </a:ext>
            </a:extLst>
          </p:cNvPr>
          <p:cNvSpPr/>
          <p:nvPr/>
        </p:nvSpPr>
        <p:spPr>
          <a:xfrm>
            <a:off x="5205984" y="4108527"/>
            <a:ext cx="3938016" cy="749223"/>
          </a:xfrm>
          <a:prstGeom prst="cloudCallout">
            <a:avLst>
              <a:gd name="adj1" fmla="val 41132"/>
              <a:gd name="adj2" fmla="val 8343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128D2"/>
                </a:solidFill>
              </a:rPr>
              <a:t>Where do we use decidability of M1, M2?</a:t>
            </a:r>
          </a:p>
        </p:txBody>
      </p:sp>
    </p:spTree>
    <p:extLst>
      <p:ext uri="{BB962C8B-B14F-4D97-AF65-F5344CB8AC3E}">
        <p14:creationId xmlns:p14="http://schemas.microsoft.com/office/powerpoint/2010/main" val="2423662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17AC-2E0A-3D4E-08EB-314872C3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1325-E745-7B56-CB90-FB89103D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50441-F17B-5A5E-BCB6-E902FEE62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2"/>
                </a:solidFill>
              </a:rPr>
              <a:t>WTS </a:t>
            </a:r>
            <a:r>
              <a:rPr lang="en-US" dirty="0"/>
              <a:t>L(M) =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and</a:t>
            </a:r>
            <a:r>
              <a:rPr lang="en-US" dirty="0"/>
              <a:t> M is a decider.</a:t>
            </a:r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accepts; so, M accepts w</a:t>
            </a:r>
          </a:p>
          <a:p>
            <a:pPr lvl="1"/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in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M1(w) accepts, M accepts w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not, it rejects</a:t>
            </a:r>
            <a:r>
              <a:rPr lang="en-US" dirty="0"/>
              <a:t>, and then M2(w) accepts.</a:t>
            </a:r>
          </a:p>
          <a:p>
            <a:pPr lvl="1"/>
            <a:r>
              <a:rPr lang="en-US" dirty="0"/>
              <a:t>Either way, M accepts w.</a:t>
            </a:r>
          </a:p>
          <a:p>
            <a:pPr marL="274320" lvl="1" indent="0">
              <a:buNone/>
            </a:pPr>
            <a:endParaRPr lang="en-US" dirty="0"/>
          </a:p>
          <a:p>
            <a:pPr marL="457200" indent="-457200">
              <a:buAutoNum type="arabicParenBoth"/>
            </a:pPr>
            <a:r>
              <a:rPr lang="en-US" dirty="0">
                <a:solidFill>
                  <a:schemeClr val="tx2"/>
                </a:solidFill>
              </a:rPr>
              <a:t>If </a:t>
            </a:r>
            <a:r>
              <a:rPr lang="en-US" dirty="0"/>
              <a:t>w not in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M1(w) rejects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M2(w) rejects</a:t>
            </a:r>
          </a:p>
          <a:p>
            <a:pPr lvl="1"/>
            <a:r>
              <a:rPr lang="en-US" dirty="0"/>
              <a:t>So, M rejects w.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1FAAF-7C16-276E-BA96-23A295BEA914}"/>
              </a:ext>
            </a:extLst>
          </p:cNvPr>
          <p:cNvSpPr txBox="1"/>
          <p:nvPr/>
        </p:nvSpPr>
        <p:spPr>
          <a:xfrm>
            <a:off x="5268248" y="497434"/>
            <a:ext cx="3647152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M(w):</a:t>
            </a:r>
          </a:p>
          <a:p>
            <a:pPr marL="342900" indent="-342900">
              <a:buAutoNum type="arabicPeriod"/>
            </a:pPr>
            <a:r>
              <a:rPr lang="en-US" dirty="0"/>
              <a:t>Run M1(w). If accepts, accept.</a:t>
            </a:r>
          </a:p>
          <a:p>
            <a:pPr marL="342900" indent="-342900">
              <a:buAutoNum type="arabicPeriod"/>
            </a:pPr>
            <a:r>
              <a:rPr lang="en-US" dirty="0"/>
              <a:t>Run M2(w). If accepts, accept,</a:t>
            </a:r>
            <a:br>
              <a:rPr lang="en-US" dirty="0"/>
            </a:br>
            <a:r>
              <a:rPr lang="en-US" dirty="0"/>
              <a:t>otherwise reject.</a:t>
            </a:r>
          </a:p>
        </p:txBody>
      </p:sp>
      <p:sp>
        <p:nvSpPr>
          <p:cNvPr id="5" name="Cloud Callout 3">
            <a:extLst>
              <a:ext uri="{FF2B5EF4-FFF2-40B4-BE49-F238E27FC236}">
                <a16:creationId xmlns:a16="http://schemas.microsoft.com/office/drawing/2014/main" id="{EDBCAF67-FE63-8A0D-0109-6130C8343A29}"/>
              </a:ext>
            </a:extLst>
          </p:cNvPr>
          <p:cNvSpPr/>
          <p:nvPr/>
        </p:nvSpPr>
        <p:spPr>
          <a:xfrm>
            <a:off x="5205984" y="4108527"/>
            <a:ext cx="3938016" cy="749223"/>
          </a:xfrm>
          <a:prstGeom prst="cloudCallout">
            <a:avLst>
              <a:gd name="adj1" fmla="val 41132"/>
              <a:gd name="adj2" fmla="val 8343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128D2"/>
                </a:solidFill>
              </a:rPr>
              <a:t>Where do we use decidability of M1, M2?</a:t>
            </a:r>
          </a:p>
        </p:txBody>
      </p:sp>
    </p:spTree>
    <p:extLst>
      <p:ext uri="{BB962C8B-B14F-4D97-AF65-F5344CB8AC3E}">
        <p14:creationId xmlns:p14="http://schemas.microsoft.com/office/powerpoint/2010/main" val="3020625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9DE4-FF32-C3F3-BB4D-FDCDDEAE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205B-D37C-0D59-7A77-4EF7FDD5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for recognizable languages?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C926F-BF67-E612-A16C-78E2217CA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Can we adapt the proof from </a:t>
            </a:r>
            <a:r>
              <a:rPr lang="en-US" dirty="0">
                <a:solidFill>
                  <a:srgbClr val="0070C0"/>
                </a:solidFill>
              </a:rPr>
              <a:t>decidable</a:t>
            </a:r>
            <a:r>
              <a:rPr lang="en-US" dirty="0"/>
              <a:t> languages?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04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8640-C382-7275-793F-226A3813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8AF2-FC1C-CAFD-8829-01566B37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for recognizable languages?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2AC2-F8D3-6CFA-ECF4-B4A27B70E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 attempt: Let L</a:t>
            </a:r>
            <a:r>
              <a:rPr lang="en-US" baseline="-25000" dirty="0"/>
              <a:t>1</a:t>
            </a:r>
            <a:r>
              <a:rPr lang="en-US" dirty="0"/>
              <a:t> and L</a:t>
            </a:r>
            <a:r>
              <a:rPr lang="en-US" baseline="-25000" dirty="0"/>
              <a:t>2</a:t>
            </a:r>
            <a:r>
              <a:rPr lang="en-US" dirty="0"/>
              <a:t> be languages and suppose M</a:t>
            </a:r>
            <a:r>
              <a:rPr lang="en-US" baseline="-25000" dirty="0"/>
              <a:t>1</a:t>
            </a:r>
            <a:r>
              <a:rPr lang="en-US" dirty="0"/>
              <a:t> and M</a:t>
            </a:r>
            <a:r>
              <a:rPr lang="en-US" baseline="-25000" dirty="0"/>
              <a:t>2</a:t>
            </a:r>
            <a:r>
              <a:rPr lang="en-US" dirty="0"/>
              <a:t> are TMs </a:t>
            </a:r>
            <a:r>
              <a:rPr lang="en-US" dirty="0">
                <a:solidFill>
                  <a:srgbClr val="FF0000"/>
                </a:solidFill>
              </a:rPr>
              <a:t>recognizing</a:t>
            </a:r>
            <a:r>
              <a:rPr lang="en-US" dirty="0"/>
              <a:t> these languages.  </a:t>
            </a:r>
          </a:p>
          <a:p>
            <a:pPr marL="0" indent="0">
              <a:buNone/>
            </a:pPr>
            <a:r>
              <a:rPr lang="en-US" dirty="0"/>
              <a:t>Construct the TM M as "On input w,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1</a:t>
            </a:r>
            <a:r>
              <a:rPr lang="en-US" dirty="0"/>
              <a:t> on input w. If M</a:t>
            </a:r>
            <a:r>
              <a:rPr lang="en-US" baseline="-25000" dirty="0"/>
              <a:t>1</a:t>
            </a:r>
            <a:r>
              <a:rPr lang="en-US" dirty="0"/>
              <a:t> accepts w, accept.  Otherwise, go to 2.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2</a:t>
            </a:r>
            <a:r>
              <a:rPr lang="en-US" dirty="0"/>
              <a:t> on input w. If M</a:t>
            </a:r>
            <a:r>
              <a:rPr lang="en-US" baseline="-25000" dirty="0"/>
              <a:t>2</a:t>
            </a:r>
            <a:r>
              <a:rPr lang="en-US" dirty="0"/>
              <a:t> accepts w, accept.  Otherwise, reject.“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This proof has a bug! </a:t>
            </a:r>
            <a:r>
              <a:rPr lang="en-US" dirty="0"/>
              <a:t>Can you find it?</a:t>
            </a:r>
          </a:p>
        </p:txBody>
      </p:sp>
    </p:spTree>
    <p:extLst>
      <p:ext uri="{BB962C8B-B14F-4D97-AF65-F5344CB8AC3E}">
        <p14:creationId xmlns:p14="http://schemas.microsoft.com/office/powerpoint/2010/main" val="3906857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5127-BC2D-00C5-414E-C832347C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0ADD-B1B5-0765-2809-1CD88881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for recognizable languages?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DD88-BFED-8E07-BD58-7B83A8968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 attempt: Let L</a:t>
            </a:r>
            <a:r>
              <a:rPr lang="en-US" baseline="-25000" dirty="0"/>
              <a:t>1</a:t>
            </a:r>
            <a:r>
              <a:rPr lang="en-US" dirty="0"/>
              <a:t> and L</a:t>
            </a:r>
            <a:r>
              <a:rPr lang="en-US" baseline="-25000" dirty="0"/>
              <a:t>2</a:t>
            </a:r>
            <a:r>
              <a:rPr lang="en-US" dirty="0"/>
              <a:t> be languages and suppose M</a:t>
            </a:r>
            <a:r>
              <a:rPr lang="en-US" baseline="-25000" dirty="0"/>
              <a:t>1</a:t>
            </a:r>
            <a:r>
              <a:rPr lang="en-US" dirty="0"/>
              <a:t> and M</a:t>
            </a:r>
            <a:r>
              <a:rPr lang="en-US" baseline="-25000" dirty="0"/>
              <a:t>2</a:t>
            </a:r>
            <a:r>
              <a:rPr lang="en-US" dirty="0"/>
              <a:t> are TMs </a:t>
            </a:r>
            <a:r>
              <a:rPr lang="en-US" dirty="0">
                <a:solidFill>
                  <a:srgbClr val="FF0000"/>
                </a:solidFill>
              </a:rPr>
              <a:t>recognizing</a:t>
            </a:r>
            <a:r>
              <a:rPr lang="en-US" dirty="0"/>
              <a:t> these languages.  </a:t>
            </a:r>
          </a:p>
          <a:p>
            <a:pPr marL="0" indent="0">
              <a:buNone/>
            </a:pPr>
            <a:r>
              <a:rPr lang="en-US" dirty="0"/>
              <a:t>Construct the TM M as "On input w,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1</a:t>
            </a:r>
            <a:r>
              <a:rPr lang="en-US" dirty="0"/>
              <a:t> on input w. If M</a:t>
            </a:r>
            <a:r>
              <a:rPr lang="en-US" baseline="-25000" dirty="0"/>
              <a:t>1</a:t>
            </a:r>
            <a:r>
              <a:rPr lang="en-US" dirty="0"/>
              <a:t> accepts w, accept.  Otherwise, go to 2.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2</a:t>
            </a:r>
            <a:r>
              <a:rPr lang="en-US" dirty="0"/>
              <a:t> on input w. If M</a:t>
            </a:r>
            <a:r>
              <a:rPr lang="en-US" baseline="-25000" dirty="0"/>
              <a:t>2</a:t>
            </a:r>
            <a:r>
              <a:rPr lang="en-US" dirty="0"/>
              <a:t> accepts w, accept.  Otherwise, reject.“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This proof has a bug!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F20B1-F2B5-CE84-FCF9-F9B396A13183}"/>
              </a:ext>
            </a:extLst>
          </p:cNvPr>
          <p:cNvSpPr txBox="1"/>
          <p:nvPr/>
        </p:nvSpPr>
        <p:spPr>
          <a:xfrm>
            <a:off x="4871678" y="279654"/>
            <a:ext cx="3964960" cy="230832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rgbClr val="EE9E0E"/>
              </a:buClr>
            </a:pPr>
            <a:r>
              <a:rPr lang="en-US" dirty="0"/>
              <a:t>Where does this proof fail?</a:t>
            </a:r>
          </a:p>
          <a:p>
            <a:pPr marL="342900" indent="-342900">
              <a:buClr>
                <a:srgbClr val="EE9E0E"/>
              </a:buClr>
              <a:buAutoNum type="alphaLcPeriod"/>
            </a:pPr>
            <a:endParaRPr lang="en-US" dirty="0"/>
          </a:p>
          <a:p>
            <a:pPr marL="342900" indent="-342900">
              <a:buClr>
                <a:srgbClr val="EE9E0E"/>
              </a:buClr>
              <a:buAutoNum type="alphaLcPeriod"/>
            </a:pPr>
            <a:r>
              <a:rPr lang="en-US" dirty="0"/>
              <a:t>M always halts</a:t>
            </a:r>
          </a:p>
          <a:p>
            <a:pPr marL="342900" indent="-342900">
              <a:buClr>
                <a:srgbClr val="EE9E0E"/>
              </a:buClr>
              <a:buAutoNum type="alphaLcPeriod"/>
            </a:pPr>
            <a:r>
              <a:rPr lang="en-US" dirty="0"/>
              <a:t>M never halts</a:t>
            </a:r>
          </a:p>
          <a:p>
            <a:pPr marL="342900" indent="-342900">
              <a:buClr>
                <a:srgbClr val="EE9E0E"/>
              </a:buClr>
              <a:buAutoNum type="alphaLcPeriod"/>
            </a:pPr>
            <a:r>
              <a:rPr lang="en-US" dirty="0"/>
              <a:t>M accepts some words outside L</a:t>
            </a:r>
          </a:p>
          <a:p>
            <a:pPr marL="342900" indent="-342900">
              <a:buClr>
                <a:srgbClr val="EE9E0E"/>
              </a:buClr>
              <a:buAutoNum type="alphaLcPeriod"/>
            </a:pPr>
            <a:r>
              <a:rPr lang="en-US" dirty="0"/>
              <a:t>M rejects some words in L</a:t>
            </a:r>
          </a:p>
          <a:p>
            <a:pPr marL="342900" indent="-342900">
              <a:buClr>
                <a:srgbClr val="EE9E0E"/>
              </a:buClr>
              <a:buAutoNum type="alphaLcPeriod"/>
            </a:pPr>
            <a:r>
              <a:rPr lang="en-US" dirty="0"/>
              <a:t>None of these</a:t>
            </a:r>
          </a:p>
          <a:p>
            <a:pPr marL="342900" indent="-342900">
              <a:buClr>
                <a:srgbClr val="EE9E0E"/>
              </a:buClr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860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C4E5-B09F-DF50-3F42-7B2979C9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607D-0F4D-A1B7-C146-9FF1B2FB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for recognizable languages?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9BD40-038C-F567-E4E0-ABB220706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0487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 attempt: Let L</a:t>
            </a:r>
            <a:r>
              <a:rPr lang="en-US" baseline="-25000" dirty="0"/>
              <a:t>1</a:t>
            </a:r>
            <a:r>
              <a:rPr lang="en-US" dirty="0"/>
              <a:t> and L</a:t>
            </a:r>
            <a:r>
              <a:rPr lang="en-US" baseline="-25000" dirty="0"/>
              <a:t>2</a:t>
            </a:r>
            <a:r>
              <a:rPr lang="en-US" dirty="0"/>
              <a:t> be languages and suppose M</a:t>
            </a:r>
            <a:r>
              <a:rPr lang="en-US" baseline="-25000" dirty="0"/>
              <a:t>1</a:t>
            </a:r>
            <a:r>
              <a:rPr lang="en-US" dirty="0"/>
              <a:t> and M</a:t>
            </a:r>
            <a:r>
              <a:rPr lang="en-US" baseline="-25000" dirty="0"/>
              <a:t>2</a:t>
            </a:r>
            <a:r>
              <a:rPr lang="en-US" dirty="0"/>
              <a:t> are TMs </a:t>
            </a:r>
            <a:r>
              <a:rPr lang="en-US" dirty="0">
                <a:solidFill>
                  <a:srgbClr val="FF0000"/>
                </a:solidFill>
              </a:rPr>
              <a:t>recognizing</a:t>
            </a:r>
            <a:r>
              <a:rPr lang="en-US" dirty="0"/>
              <a:t> these languages.  </a:t>
            </a:r>
          </a:p>
          <a:p>
            <a:pPr marL="0" indent="0">
              <a:buNone/>
            </a:pPr>
            <a:r>
              <a:rPr lang="en-US" dirty="0"/>
              <a:t>Construct the TM M as "On input w,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1</a:t>
            </a:r>
            <a:r>
              <a:rPr lang="en-US" dirty="0"/>
              <a:t> on input w. If M</a:t>
            </a:r>
            <a:r>
              <a:rPr lang="en-US" baseline="-25000" dirty="0"/>
              <a:t>1</a:t>
            </a:r>
            <a:r>
              <a:rPr lang="en-US" dirty="0"/>
              <a:t> accepts w, accept.  Otherwise, go to 2.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2</a:t>
            </a:r>
            <a:r>
              <a:rPr lang="en-US" dirty="0"/>
              <a:t> on input w. If M</a:t>
            </a:r>
            <a:r>
              <a:rPr lang="en-US" baseline="-25000" dirty="0"/>
              <a:t>2</a:t>
            </a:r>
            <a:r>
              <a:rPr lang="en-US" dirty="0"/>
              <a:t> accepts w, accept.  Otherwise, reject.“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E09E7-941A-CAB9-C519-A1545E7739FE}"/>
              </a:ext>
            </a:extLst>
          </p:cNvPr>
          <p:cNvSpPr txBox="1"/>
          <p:nvPr/>
        </p:nvSpPr>
        <p:spPr>
          <a:xfrm>
            <a:off x="1335024" y="4248912"/>
            <a:ext cx="6096000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ERROR: If M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(w) runs forever, we never get to run M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(w); we might not accept some words </a:t>
            </a:r>
            <a:r>
              <a:rPr lang="en-US">
                <a:solidFill>
                  <a:srgbClr val="FF0000"/>
                </a:solidFill>
              </a:rPr>
              <a:t>in L</a:t>
            </a:r>
            <a:r>
              <a:rPr lang="en-US" baseline="-25000">
                <a:solidFill>
                  <a:srgbClr val="FF0000"/>
                </a:solidFill>
              </a:rPr>
              <a:t>2 </a:t>
            </a:r>
            <a:r>
              <a:rPr lang="en-US">
                <a:solidFill>
                  <a:srgbClr val="FF0000"/>
                </a:solidFill>
              </a:rPr>
              <a:t>!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32195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45B9-3157-8807-A5FC-08201AEA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AD04-1CF2-A7D1-E1AC-52A8CE85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for recognizable languages?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B5CF-2A5C-2120-36A6-690685ABD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We need a different proof strategy!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Challenge: </a:t>
            </a:r>
            <a:r>
              <a:rPr lang="en-US" dirty="0">
                <a:solidFill>
                  <a:srgbClr val="FF0000"/>
                </a:solidFill>
              </a:rPr>
              <a:t>how would you solve this?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279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29E9-1096-1C05-ACBC-4D675EE2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TMs in parallel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0C22-0EB1-844E-6033-0BE2D3F8E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idea: </a:t>
            </a:r>
            <a:r>
              <a:rPr lang="en-US" b="1" dirty="0">
                <a:solidFill>
                  <a:srgbClr val="0070C0"/>
                </a:solidFill>
              </a:rPr>
              <a:t>run both TMs in parallel</a:t>
            </a:r>
          </a:p>
          <a:p>
            <a:endParaRPr lang="en-US" dirty="0"/>
          </a:p>
          <a:p>
            <a:r>
              <a:rPr lang="en-US" dirty="0"/>
              <a:t>This is what your OS is doing when it is running several programs at the same time</a:t>
            </a:r>
          </a:p>
          <a:p>
            <a:endParaRPr lang="en-US" dirty="0"/>
          </a:p>
          <a:p>
            <a:r>
              <a:rPr lang="en-US" dirty="0"/>
              <a:t>We will model it via running TMs for a limited number of steps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56843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271C-FDC0-AD09-CC1B-BBC9E9D9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Step-bounded TM	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A292-8492-FF69-972C-66B4B260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 M be a TM, running on input w </a:t>
            </a:r>
          </a:p>
          <a:p>
            <a:endParaRPr lang="en-US" dirty="0"/>
          </a:p>
          <a:p>
            <a:r>
              <a:rPr lang="en-US" dirty="0"/>
              <a:t>Define a new “bounded” TM - </a:t>
            </a:r>
            <a:r>
              <a:rPr lang="en-US" dirty="0" err="1"/>
              <a:t>M</a:t>
            </a:r>
            <a:r>
              <a:rPr lang="en-US" baseline="-25000" dirty="0" err="1"/>
              <a:t>bdd</a:t>
            </a:r>
            <a:r>
              <a:rPr lang="en-US" dirty="0"/>
              <a:t>(</a:t>
            </a:r>
            <a:r>
              <a:rPr lang="en-US" dirty="0" err="1"/>
              <a:t>w,t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Run M(w) for at most t steps</a:t>
            </a:r>
          </a:p>
          <a:p>
            <a:pPr lvl="1"/>
            <a:r>
              <a:rPr lang="en-US" dirty="0"/>
              <a:t>If in these steps M accepted, accept; if it rejected, reject</a:t>
            </a:r>
          </a:p>
          <a:p>
            <a:pPr lvl="1"/>
            <a:r>
              <a:rPr lang="en-US" dirty="0"/>
              <a:t>If after t steps M(w) didn’t halt, then halt and reject</a:t>
            </a:r>
          </a:p>
          <a:p>
            <a:pPr lvl="1"/>
            <a:endParaRPr lang="en-US" dirty="0"/>
          </a:p>
          <a:p>
            <a:r>
              <a:rPr lang="en-US" dirty="0"/>
              <a:t>Claim:</a:t>
            </a:r>
          </a:p>
          <a:p>
            <a:pPr marL="457200" indent="-457200">
              <a:buAutoNum type="arabicPeriod"/>
            </a:pPr>
            <a:r>
              <a:rPr lang="en-US" dirty="0"/>
              <a:t>If </a:t>
            </a:r>
            <a:r>
              <a:rPr lang="en-US" dirty="0" err="1"/>
              <a:t>M</a:t>
            </a:r>
            <a:r>
              <a:rPr lang="en-US" baseline="-25000" dirty="0" err="1"/>
              <a:t>bdd</a:t>
            </a:r>
            <a:r>
              <a:rPr lang="en-US" dirty="0"/>
              <a:t>(</a:t>
            </a:r>
            <a:r>
              <a:rPr lang="en-US" dirty="0" err="1"/>
              <a:t>w,t</a:t>
            </a:r>
            <a:r>
              <a:rPr lang="en-US" dirty="0"/>
              <a:t>) accepts then M(w) accepts</a:t>
            </a:r>
          </a:p>
          <a:p>
            <a:pPr marL="457200" indent="-457200">
              <a:buAutoNum type="arabicPeriod"/>
            </a:pPr>
            <a:r>
              <a:rPr lang="en-US" dirty="0"/>
              <a:t>If M(w) accepts then for large enough t, </a:t>
            </a:r>
            <a:r>
              <a:rPr lang="en-US" dirty="0" err="1"/>
              <a:t>M</a:t>
            </a:r>
            <a:r>
              <a:rPr lang="en-US" baseline="-25000" dirty="0" err="1"/>
              <a:t>bdd</a:t>
            </a:r>
            <a:r>
              <a:rPr lang="en-US" dirty="0"/>
              <a:t>(</a:t>
            </a:r>
            <a:r>
              <a:rPr lang="en-US" dirty="0" err="1"/>
              <a:t>w,t</a:t>
            </a:r>
            <a:r>
              <a:rPr lang="en-US" dirty="0"/>
              <a:t>) accepts</a:t>
            </a:r>
          </a:p>
        </p:txBody>
      </p:sp>
    </p:spTree>
    <p:extLst>
      <p:ext uri="{BB962C8B-B14F-4D97-AF65-F5344CB8AC3E}">
        <p14:creationId xmlns:p14="http://schemas.microsoft.com/office/powerpoint/2010/main" val="171800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84ED-B215-EB72-986F-9AF0AE0E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9F2C-1006-8B99-4877-06D9FF41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Closure for recognizable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558B-86FC-F0BC-848B-16CF2E264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Theorem</a:t>
            </a:r>
            <a:r>
              <a:rPr lang="en-US" dirty="0"/>
              <a:t>: The class of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 languages </a:t>
            </a:r>
            <a:r>
              <a:rPr lang="en-US" dirty="0">
                <a:solidFill>
                  <a:schemeClr val="accent5"/>
                </a:solidFill>
              </a:rPr>
              <a:t>over fixed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alphabet Σ</a:t>
            </a:r>
            <a:r>
              <a:rPr lang="en-US" dirty="0"/>
              <a:t> is closed under union.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Proof: Let L</a:t>
            </a:r>
            <a:r>
              <a:rPr lang="en-US" baseline="-25000" dirty="0"/>
              <a:t>1</a:t>
            </a:r>
            <a:r>
              <a:rPr lang="en-US" dirty="0"/>
              <a:t> and L</a:t>
            </a:r>
            <a:r>
              <a:rPr lang="en-US" baseline="-25000" dirty="0"/>
              <a:t>2</a:t>
            </a:r>
            <a:r>
              <a:rPr lang="en-US" dirty="0"/>
              <a:t> be languages and suppose M</a:t>
            </a:r>
            <a:r>
              <a:rPr lang="en-US" baseline="-25000" dirty="0"/>
              <a:t>1</a:t>
            </a:r>
            <a:r>
              <a:rPr lang="en-US" dirty="0"/>
              <a:t> and M</a:t>
            </a:r>
            <a:r>
              <a:rPr lang="en-US" baseline="-25000" dirty="0"/>
              <a:t>2</a:t>
            </a:r>
            <a:r>
              <a:rPr lang="en-US" dirty="0"/>
              <a:t> are TMs </a:t>
            </a:r>
            <a:r>
              <a:rPr lang="en-US" dirty="0">
                <a:solidFill>
                  <a:srgbClr val="FF0000"/>
                </a:solidFill>
              </a:rPr>
              <a:t>recognizing</a:t>
            </a:r>
            <a:r>
              <a:rPr lang="en-US" dirty="0"/>
              <a:t> these languages.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Construct the TM M as "On input w,</a:t>
            </a:r>
          </a:p>
          <a:p>
            <a:pPr marL="457200" indent="-457200">
              <a:buAutoNum type="arabicPeriod"/>
            </a:pPr>
            <a:r>
              <a:rPr lang="en-US" dirty="0"/>
              <a:t>t=1</a:t>
            </a:r>
          </a:p>
          <a:p>
            <a:pPr marL="457200" indent="-457200">
              <a:buAutoNum type="arabicPeriod"/>
            </a:pPr>
            <a:r>
              <a:rPr lang="en-US" dirty="0"/>
              <a:t>While True:</a:t>
            </a:r>
          </a:p>
          <a:p>
            <a:pPr marL="731520" lvl="1" indent="-457200">
              <a:buFont typeface="+mj-lt"/>
              <a:buAutoNum type="alphaLcParenR"/>
            </a:pPr>
            <a:r>
              <a:rPr lang="en-US" dirty="0"/>
              <a:t>Run M</a:t>
            </a:r>
            <a:r>
              <a:rPr lang="en-US" baseline="-25000" dirty="0"/>
              <a:t>1,bdd</a:t>
            </a:r>
            <a:r>
              <a:rPr lang="en-US" dirty="0"/>
              <a:t>(</a:t>
            </a:r>
            <a:r>
              <a:rPr lang="en-US" dirty="0" err="1"/>
              <a:t>w,t</a:t>
            </a:r>
            <a:r>
              <a:rPr lang="en-US" dirty="0"/>
              <a:t>). If it accepted, accept.</a:t>
            </a:r>
          </a:p>
          <a:p>
            <a:pPr marL="731520" lvl="1" indent="-457200">
              <a:buFont typeface="Arial" pitchFamily="34" charset="0"/>
              <a:buAutoNum type="alphaLcParenR"/>
            </a:pPr>
            <a:r>
              <a:rPr lang="en-US" dirty="0"/>
              <a:t>Run M</a:t>
            </a:r>
            <a:r>
              <a:rPr lang="en-US" baseline="-25000" dirty="0"/>
              <a:t>2,bdd</a:t>
            </a:r>
            <a:r>
              <a:rPr lang="en-US" dirty="0"/>
              <a:t>(</a:t>
            </a:r>
            <a:r>
              <a:rPr lang="en-US" dirty="0" err="1"/>
              <a:t>w,t</a:t>
            </a:r>
            <a:r>
              <a:rPr lang="en-US" dirty="0"/>
              <a:t>). If it accepted, accept.</a:t>
            </a:r>
          </a:p>
          <a:p>
            <a:pPr marL="731520" lvl="1" indent="-457200">
              <a:buFont typeface="Arial" pitchFamily="34" charset="0"/>
              <a:buAutoNum type="alphaLcParenR"/>
            </a:pPr>
            <a:r>
              <a:rPr lang="en-US" dirty="0"/>
              <a:t>t=t+1</a:t>
            </a:r>
          </a:p>
          <a:p>
            <a:pPr marL="27432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60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5953-F0C1-5724-4EDA-92763325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C8A7-D836-46C9-B538-9FCF0694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Closure for recognizable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FD5D1-75B4-749A-96C9-6FFFFD0D9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686800" cy="36576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Proof of correctness: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(1) If M(w) accepts, then for some t,</a:t>
                </a:r>
              </a:p>
              <a:p>
                <a:pPr marL="0" indent="0">
                  <a:buNone/>
                </a:pPr>
                <a:r>
                  <a:rPr lang="en-US" dirty="0"/>
                  <a:t>either M</a:t>
                </a:r>
                <a:r>
                  <a:rPr lang="en-US" baseline="-25000" dirty="0"/>
                  <a:t>1,bdd</a:t>
                </a:r>
                <a:r>
                  <a:rPr lang="en-US" dirty="0"/>
                  <a:t>(</a:t>
                </a:r>
                <a:r>
                  <a:rPr lang="en-US" dirty="0" err="1"/>
                  <a:t>w,t</a:t>
                </a:r>
                <a:r>
                  <a:rPr lang="en-US" dirty="0"/>
                  <a:t>) accepts or M</a:t>
                </a:r>
                <a:r>
                  <a:rPr lang="en-US" baseline="-25000" dirty="0"/>
                  <a:t>2,bdd</a:t>
                </a:r>
                <a:r>
                  <a:rPr lang="en-US" dirty="0"/>
                  <a:t>(</a:t>
                </a:r>
                <a:r>
                  <a:rPr lang="en-US" dirty="0" err="1"/>
                  <a:t>w,t</a:t>
                </a:r>
                <a:r>
                  <a:rPr lang="en-US" dirty="0"/>
                  <a:t>) accepts.</a:t>
                </a:r>
              </a:p>
              <a:p>
                <a:pPr marL="0" indent="0">
                  <a:buNone/>
                </a:pPr>
                <a:r>
                  <a:rPr lang="en-US" dirty="0"/>
                  <a:t>This either M</a:t>
                </a:r>
                <a:r>
                  <a:rPr lang="en-US" baseline="-25000" dirty="0"/>
                  <a:t>1</a:t>
                </a:r>
                <a:r>
                  <a:rPr lang="en-US" dirty="0"/>
                  <a:t>(w) accepts or M</a:t>
                </a:r>
                <a:r>
                  <a:rPr lang="en-US" baseline="-25000" dirty="0"/>
                  <a:t>2</a:t>
                </a:r>
                <a:r>
                  <a:rPr lang="en-US" dirty="0"/>
                  <a:t>(w) accepts.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(2)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then M</a:t>
                </a:r>
                <a:r>
                  <a:rPr lang="en-US" baseline="-25000" dirty="0"/>
                  <a:t>1</a:t>
                </a:r>
                <a:r>
                  <a:rPr lang="en-US" dirty="0"/>
                  <a:t>(w) accepts after some finite number of steps t.</a:t>
                </a:r>
              </a:p>
              <a:p>
                <a:pPr marL="0" indent="0">
                  <a:buNone/>
                </a:pPr>
                <a:r>
                  <a:rPr lang="en-US" dirty="0"/>
                  <a:t>Then M</a:t>
                </a:r>
                <a:r>
                  <a:rPr lang="en-US" baseline="-25000" dirty="0"/>
                  <a:t>1,bdd</a:t>
                </a:r>
                <a:r>
                  <a:rPr lang="en-US" dirty="0"/>
                  <a:t>(</a:t>
                </a:r>
                <a:r>
                  <a:rPr lang="en-US" dirty="0" err="1"/>
                  <a:t>w,t</a:t>
                </a:r>
                <a:r>
                  <a:rPr lang="en-US" dirty="0"/>
                  <a:t>) accepts and so M(w) accepts.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(3)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: analogous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FD5D1-75B4-749A-96C9-6FFFFD0D9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686800" cy="3657600"/>
              </a:xfrm>
              <a:blipFill>
                <a:blip r:embed="rId2"/>
                <a:stretch>
                  <a:fillRect l="-912" t="-28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3970454-74D2-1CD0-D6E1-8E066D245632}"/>
              </a:ext>
            </a:extLst>
          </p:cNvPr>
          <p:cNvSpPr txBox="1"/>
          <p:nvPr/>
        </p:nvSpPr>
        <p:spPr>
          <a:xfrm>
            <a:off x="5799236" y="1022995"/>
            <a:ext cx="3157728" cy="1200329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u="sng" dirty="0"/>
              <a:t>M(w):</a:t>
            </a:r>
          </a:p>
          <a:p>
            <a:r>
              <a:rPr lang="en-US" sz="1200" dirty="0"/>
              <a:t>1. t=1</a:t>
            </a:r>
          </a:p>
          <a:p>
            <a:r>
              <a:rPr lang="en-US" sz="1200" dirty="0"/>
              <a:t>2. While True:</a:t>
            </a:r>
          </a:p>
          <a:p>
            <a:r>
              <a:rPr lang="en-US" sz="1200" dirty="0"/>
              <a:t>  (a) Run M</a:t>
            </a:r>
            <a:r>
              <a:rPr lang="en-US" sz="1200" baseline="-25000" dirty="0"/>
              <a:t>1,bdd</a:t>
            </a:r>
            <a:r>
              <a:rPr lang="en-US" sz="1200" dirty="0"/>
              <a:t>(</a:t>
            </a:r>
            <a:r>
              <a:rPr lang="en-US" sz="1200" dirty="0" err="1"/>
              <a:t>w,t</a:t>
            </a:r>
            <a:r>
              <a:rPr lang="en-US" sz="1200" dirty="0"/>
              <a:t>). If it accepted, accept.</a:t>
            </a:r>
          </a:p>
          <a:p>
            <a:r>
              <a:rPr lang="en-US" sz="1200" dirty="0"/>
              <a:t>  (b) Run M</a:t>
            </a:r>
            <a:r>
              <a:rPr lang="en-US" sz="1200" baseline="-25000" dirty="0"/>
              <a:t>2,bdd</a:t>
            </a:r>
            <a:r>
              <a:rPr lang="en-US" sz="1200" dirty="0"/>
              <a:t>(</a:t>
            </a:r>
            <a:r>
              <a:rPr lang="en-US" sz="1200" dirty="0" err="1"/>
              <a:t>w,t</a:t>
            </a:r>
            <a:r>
              <a:rPr lang="en-US" sz="1200" dirty="0"/>
              <a:t>). If it accepted, accept.</a:t>
            </a:r>
          </a:p>
          <a:p>
            <a:r>
              <a:rPr lang="en-US" sz="1200" dirty="0"/>
              <a:t>  (c) t=t+1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368055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5F77-5BB4-2A17-CD8D-54F374E7C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6A1D-06CB-52A3-B1D9-7B88CCA0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Closure for recognizable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C041F-7AB0-DAB6-12CD-E15CBB211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686800" cy="36576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Proof of correctness: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(1) If M(w) accepts, then for some t,</a:t>
                </a:r>
              </a:p>
              <a:p>
                <a:pPr marL="0" indent="0">
                  <a:buNone/>
                </a:pPr>
                <a:r>
                  <a:rPr lang="en-US" dirty="0"/>
                  <a:t>either M</a:t>
                </a:r>
                <a:r>
                  <a:rPr lang="en-US" baseline="-25000" dirty="0"/>
                  <a:t>1,bdd</a:t>
                </a:r>
                <a:r>
                  <a:rPr lang="en-US" dirty="0"/>
                  <a:t>(</a:t>
                </a:r>
                <a:r>
                  <a:rPr lang="en-US" dirty="0" err="1"/>
                  <a:t>w,t</a:t>
                </a:r>
                <a:r>
                  <a:rPr lang="en-US" dirty="0"/>
                  <a:t>) accepts or M</a:t>
                </a:r>
                <a:r>
                  <a:rPr lang="en-US" baseline="-25000" dirty="0"/>
                  <a:t>2,bdd</a:t>
                </a:r>
                <a:r>
                  <a:rPr lang="en-US" dirty="0"/>
                  <a:t>(</a:t>
                </a:r>
                <a:r>
                  <a:rPr lang="en-US" dirty="0" err="1"/>
                  <a:t>w,t</a:t>
                </a:r>
                <a:r>
                  <a:rPr lang="en-US" dirty="0"/>
                  <a:t>) accepts.</a:t>
                </a:r>
              </a:p>
              <a:p>
                <a:pPr marL="0" indent="0">
                  <a:buNone/>
                </a:pPr>
                <a:r>
                  <a:rPr lang="en-US" dirty="0"/>
                  <a:t>This either M</a:t>
                </a:r>
                <a:r>
                  <a:rPr lang="en-US" baseline="-25000" dirty="0"/>
                  <a:t>1</a:t>
                </a:r>
                <a:r>
                  <a:rPr lang="en-US" dirty="0"/>
                  <a:t>(w) accepts or M</a:t>
                </a:r>
                <a:r>
                  <a:rPr lang="en-US" baseline="-25000" dirty="0"/>
                  <a:t>2</a:t>
                </a:r>
                <a:r>
                  <a:rPr lang="en-US" dirty="0"/>
                  <a:t>(w) accepts.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(2)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then M</a:t>
                </a:r>
                <a:r>
                  <a:rPr lang="en-US" baseline="-25000" dirty="0"/>
                  <a:t>1</a:t>
                </a:r>
                <a:r>
                  <a:rPr lang="en-US" dirty="0"/>
                  <a:t>(w) accepts after some finite number of steps t.</a:t>
                </a:r>
              </a:p>
              <a:p>
                <a:pPr marL="0" indent="0">
                  <a:buNone/>
                </a:pPr>
                <a:r>
                  <a:rPr lang="en-US" dirty="0"/>
                  <a:t>Then M</a:t>
                </a:r>
                <a:r>
                  <a:rPr lang="en-US" baseline="-25000" dirty="0"/>
                  <a:t>1,bdd</a:t>
                </a:r>
                <a:r>
                  <a:rPr lang="en-US" dirty="0"/>
                  <a:t>(</a:t>
                </a:r>
                <a:r>
                  <a:rPr lang="en-US" dirty="0" err="1"/>
                  <a:t>w,t</a:t>
                </a:r>
                <a:r>
                  <a:rPr lang="en-US" dirty="0"/>
                  <a:t>) accepts and so M(w) accepts.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(3)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: analogous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FD5D1-75B4-749A-96C9-6FFFFD0D9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686800" cy="3657600"/>
              </a:xfrm>
              <a:blipFill>
                <a:blip r:embed="rId2"/>
                <a:stretch>
                  <a:fillRect l="-912" t="-28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E70668D-3059-9345-7EF7-C58532E452FC}"/>
              </a:ext>
            </a:extLst>
          </p:cNvPr>
          <p:cNvSpPr txBox="1"/>
          <p:nvPr/>
        </p:nvSpPr>
        <p:spPr>
          <a:xfrm>
            <a:off x="5799236" y="1022995"/>
            <a:ext cx="3157728" cy="1200329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u="sng" dirty="0"/>
              <a:t>M(w):</a:t>
            </a:r>
          </a:p>
          <a:p>
            <a:r>
              <a:rPr lang="en-US" sz="1200" dirty="0"/>
              <a:t>1. t=1</a:t>
            </a:r>
          </a:p>
          <a:p>
            <a:r>
              <a:rPr lang="en-US" sz="1200" dirty="0"/>
              <a:t>2. While True:</a:t>
            </a:r>
          </a:p>
          <a:p>
            <a:r>
              <a:rPr lang="en-US" sz="1200" dirty="0"/>
              <a:t>  (a) Run M</a:t>
            </a:r>
            <a:r>
              <a:rPr lang="en-US" sz="1200" baseline="-25000" dirty="0"/>
              <a:t>1,bdd</a:t>
            </a:r>
            <a:r>
              <a:rPr lang="en-US" sz="1200" dirty="0"/>
              <a:t>(</a:t>
            </a:r>
            <a:r>
              <a:rPr lang="en-US" sz="1200" dirty="0" err="1"/>
              <a:t>w,t</a:t>
            </a:r>
            <a:r>
              <a:rPr lang="en-US" sz="1200" dirty="0"/>
              <a:t>). If it accepted, accept.</a:t>
            </a:r>
          </a:p>
          <a:p>
            <a:r>
              <a:rPr lang="en-US" sz="1200" dirty="0"/>
              <a:t>  (b) Run M</a:t>
            </a:r>
            <a:r>
              <a:rPr lang="en-US" sz="1200" baseline="-25000" dirty="0"/>
              <a:t>2,bdd</a:t>
            </a:r>
            <a:r>
              <a:rPr lang="en-US" sz="1200" dirty="0"/>
              <a:t>(</a:t>
            </a:r>
            <a:r>
              <a:rPr lang="en-US" sz="1200" dirty="0" err="1"/>
              <a:t>w,t</a:t>
            </a:r>
            <a:r>
              <a:rPr lang="en-US" sz="1200" dirty="0"/>
              <a:t>). If it accepted, accept.</a:t>
            </a:r>
          </a:p>
          <a:p>
            <a:r>
              <a:rPr lang="en-US" sz="1200" dirty="0"/>
              <a:t>  (c) t=t+1</a:t>
            </a:r>
            <a:endParaRPr lang="en-IL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76A224-B9CB-B2DF-628D-09D4E6FFBBE7}"/>
                  </a:ext>
                </a:extLst>
              </p:cNvPr>
              <p:cNvSpPr txBox="1"/>
              <p:nvPr/>
            </p:nvSpPr>
            <p:spPr>
              <a:xfrm>
                <a:off x="1383699" y="2558967"/>
                <a:ext cx="5994401" cy="1477328"/>
              </a:xfrm>
              <a:prstGeom prst="rect">
                <a:avLst/>
              </a:prstGeom>
              <a:solidFill>
                <a:schemeClr val="bg1"/>
              </a:solidFill>
              <a:ln w="38100" cmpd="dbl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>
                    <a:solidFill>
                      <a:srgbClr val="FF0000"/>
                    </a:solidFill>
                  </a:rPr>
                  <a:t>M recognizes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FF0000"/>
                    </a:solidFill>
                  </a:rPr>
                  <a:t> then M(w) accepts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FF0000"/>
                    </a:solidFill>
                  </a:rPr>
                  <a:t> then M(w) loops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76A224-B9CB-B2DF-628D-09D4E6FFB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699" y="2558967"/>
                <a:ext cx="5994401" cy="1477328"/>
              </a:xfrm>
              <a:prstGeom prst="rect">
                <a:avLst/>
              </a:prstGeom>
              <a:blipFill>
                <a:blip r:embed="rId3"/>
                <a:stretch>
                  <a:fillRect l="-2123" t="-4032" r="-1213" b="-10484"/>
                </a:stretch>
              </a:blipFill>
              <a:ln w="38100" cmpd="dbl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08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751D-D97F-7105-C7F1-83A6B817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AB44-30A7-F18B-D76E-24126EEF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under complement</a:t>
            </a:r>
            <a:endParaRPr lang="en-US" sz="1600" i="1" dirty="0">
              <a:solidFill>
                <a:srgbClr val="79463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8A96-A254-884D-89FA-0F75AFA00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L is </a:t>
            </a:r>
            <a:r>
              <a:rPr lang="en-US" dirty="0">
                <a:solidFill>
                  <a:srgbClr val="FF0000"/>
                </a:solidFill>
              </a:rPr>
              <a:t>decidable</a:t>
            </a:r>
            <a:r>
              <a:rPr lang="en-US" dirty="0"/>
              <a:t>, is its complement decidable?</a:t>
            </a:r>
          </a:p>
          <a:p>
            <a:endParaRPr lang="en-US" dirty="0"/>
          </a:p>
          <a:p>
            <a:pPr marL="457200" indent="-457200">
              <a:buAutoNum type="alphaLcParenBoth"/>
            </a:pPr>
            <a:r>
              <a:rPr lang="en-US" dirty="0"/>
              <a:t>Yes</a:t>
            </a:r>
          </a:p>
          <a:p>
            <a:pPr marL="457200" indent="-457200">
              <a:buAutoNum type="alphaLcParenBoth"/>
            </a:pPr>
            <a:r>
              <a:rPr lang="en-US" dirty="0"/>
              <a:t>No</a:t>
            </a:r>
          </a:p>
          <a:p>
            <a:pPr marL="457200" indent="-457200">
              <a:buAutoNum type="alphaLcParenBoth"/>
            </a:pPr>
            <a:r>
              <a:rPr lang="en-US" dirty="0"/>
              <a:t>It depends on L</a:t>
            </a:r>
          </a:p>
          <a:p>
            <a:pPr marL="457200" indent="-457200">
              <a:buAutoNum type="alphaLcParenBoth"/>
            </a:pPr>
            <a:r>
              <a:rPr lang="en-US" dirty="0"/>
              <a:t>I don’t know</a:t>
            </a:r>
          </a:p>
          <a:p>
            <a:pPr marL="457200" indent="-457200">
              <a:buAutoNum type="alphaLcParenBoth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932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9970-FFD5-296C-B434-2C89A898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1F3C-4E2B-3B97-0A5F-CDDCE69B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under complement</a:t>
            </a:r>
            <a:endParaRPr lang="en-US" sz="1600" i="1" dirty="0">
              <a:solidFill>
                <a:srgbClr val="79463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6909-977B-089A-F8E4-7D5FD601C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L is </a:t>
            </a:r>
            <a:r>
              <a:rPr lang="en-US" dirty="0">
                <a:solidFill>
                  <a:srgbClr val="FF0000"/>
                </a:solidFill>
              </a:rPr>
              <a:t>recognizable</a:t>
            </a:r>
            <a:r>
              <a:rPr lang="en-US" dirty="0"/>
              <a:t>, is its complement recognizable?</a:t>
            </a:r>
          </a:p>
          <a:p>
            <a:endParaRPr lang="en-US" dirty="0"/>
          </a:p>
          <a:p>
            <a:pPr marL="457200" indent="-457200">
              <a:buAutoNum type="alphaLcParenBoth"/>
            </a:pPr>
            <a:r>
              <a:rPr lang="en-US" dirty="0"/>
              <a:t>Yes</a:t>
            </a:r>
          </a:p>
          <a:p>
            <a:pPr marL="457200" indent="-457200">
              <a:buAutoNum type="alphaLcParenBoth"/>
            </a:pPr>
            <a:r>
              <a:rPr lang="en-US" dirty="0"/>
              <a:t>No</a:t>
            </a:r>
          </a:p>
          <a:p>
            <a:pPr marL="457200" indent="-457200">
              <a:buAutoNum type="alphaLcParenBoth"/>
            </a:pPr>
            <a:r>
              <a:rPr lang="en-US" dirty="0"/>
              <a:t>It depends on L</a:t>
            </a:r>
          </a:p>
          <a:p>
            <a:pPr marL="457200" indent="-457200">
              <a:buAutoNum type="alphaLcParenBoth"/>
            </a:pPr>
            <a:r>
              <a:rPr lang="en-US" dirty="0"/>
              <a:t>I don’t know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030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Closure		</a:t>
            </a:r>
            <a:r>
              <a:rPr lang="en-US" sz="1600">
                <a:solidFill>
                  <a:schemeClr val="accent6"/>
                </a:solidFill>
              </a:rPr>
              <a:t>Good exercises – can't use without proof! (Sipser 3.15, 3.16)</a:t>
            </a:r>
            <a:endParaRPr lang="en-US" sz="160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3806714"/>
          </a:xfrm>
          <a:ln>
            <a:solidFill>
              <a:srgbClr val="F2AF0D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class of decidable languages is closed under</a:t>
            </a:r>
          </a:p>
          <a:p>
            <a:r>
              <a:rPr lang="en-US" sz="2000" dirty="0"/>
              <a:t>Union </a:t>
            </a:r>
          </a:p>
          <a:p>
            <a:r>
              <a:rPr lang="en-US" sz="2000" dirty="0"/>
              <a:t>Concatenation</a:t>
            </a:r>
          </a:p>
          <a:p>
            <a:r>
              <a:rPr lang="en-US" sz="2000" dirty="0"/>
              <a:t>Intersection</a:t>
            </a:r>
          </a:p>
          <a:p>
            <a:r>
              <a:rPr lang="en-US" sz="2000" dirty="0"/>
              <a:t>Kleene star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Complementation</a:t>
            </a:r>
          </a:p>
          <a:p>
            <a:endParaRPr lang="en-US" sz="2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495800" y="1143000"/>
            <a:ext cx="4191000" cy="3806714"/>
          </a:xfrm>
          <a:ln>
            <a:solidFill>
              <a:srgbClr val="F2AF0D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4128D2"/>
                </a:solidFill>
              </a:rPr>
              <a:t>The class of recognizable languages is closed under</a:t>
            </a:r>
          </a:p>
          <a:p>
            <a:r>
              <a:rPr lang="en-US" sz="2000"/>
              <a:t>Union</a:t>
            </a:r>
          </a:p>
          <a:p>
            <a:r>
              <a:rPr lang="en-US" sz="2000"/>
              <a:t>Concatenation</a:t>
            </a:r>
          </a:p>
          <a:p>
            <a:r>
              <a:rPr lang="en-US" sz="2000"/>
              <a:t>Intersection</a:t>
            </a:r>
          </a:p>
          <a:p>
            <a:r>
              <a:rPr lang="en-US" sz="2000"/>
              <a:t>Kleene star</a:t>
            </a:r>
          </a:p>
        </p:txBody>
      </p:sp>
    </p:spTree>
    <p:extLst>
      <p:ext uri="{BB962C8B-B14F-4D97-AF65-F5344CB8AC3E}">
        <p14:creationId xmlns:p14="http://schemas.microsoft.com/office/powerpoint/2010/main" val="1357492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Church-Turing thesis		</a:t>
            </a:r>
            <a:r>
              <a:rPr lang="en-US" sz="1600">
                <a:solidFill>
                  <a:schemeClr val="accent6"/>
                </a:solidFill>
              </a:rPr>
              <a:t>Sipser p.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Wikipedia</a:t>
            </a:r>
            <a:r>
              <a:rPr lang="en-US" dirty="0"/>
              <a:t> "self-contained step-by-step set of operations to be performed"</a:t>
            </a:r>
          </a:p>
          <a:p>
            <a:r>
              <a:rPr lang="en-US" dirty="0"/>
              <a:t>"An algorithm is a finite sequence of precise instructions for performing a computation or for solving a problem."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5751" y="3669448"/>
            <a:ext cx="4593557" cy="972247"/>
          </a:xfrm>
          <a:prstGeom prst="rightArrow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Church-Turing thesis</a:t>
            </a:r>
          </a:p>
        </p:txBody>
      </p:sp>
      <p:sp>
        <p:nvSpPr>
          <p:cNvPr id="6" name="Cloud 5"/>
          <p:cNvSpPr/>
          <p:nvPr/>
        </p:nvSpPr>
        <p:spPr>
          <a:xfrm>
            <a:off x="5189308" y="3042192"/>
            <a:ext cx="3954692" cy="1960175"/>
          </a:xfrm>
          <a:prstGeom prst="cloud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Each algorithm can be implemented by some Turing machine.</a:t>
            </a:r>
          </a:p>
        </p:txBody>
      </p:sp>
    </p:spTree>
    <p:extLst>
      <p:ext uri="{BB962C8B-B14F-4D97-AF65-F5344CB8AC3E}">
        <p14:creationId xmlns:p14="http://schemas.microsoft.com/office/powerpoint/2010/main" val="1454720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2847</TotalTime>
  <Words>2404</Words>
  <Application>Microsoft Office PowerPoint</Application>
  <PresentationFormat>On-screen Show (16:9)</PresentationFormat>
  <Paragraphs>311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Cambria Math</vt:lpstr>
      <vt:lpstr>Clarity</vt:lpstr>
      <vt:lpstr>CSE331 Automata and Computability</vt:lpstr>
      <vt:lpstr>Today's learning goals Sipser Ch 3.1</vt:lpstr>
      <vt:lpstr>An example</vt:lpstr>
      <vt:lpstr>PowerPoint Presentation</vt:lpstr>
      <vt:lpstr>PowerPoint Presentation</vt:lpstr>
      <vt:lpstr>PowerPoint Presentation</vt:lpstr>
      <vt:lpstr>Describing TMs    Sipser p. 159</vt:lpstr>
      <vt:lpstr>An example</vt:lpstr>
      <vt:lpstr>PowerPoint Presentation</vt:lpstr>
      <vt:lpstr>Decidable vs Recognizable</vt:lpstr>
      <vt:lpstr>Decidable vs Recognizable</vt:lpstr>
      <vt:lpstr>Closure</vt:lpstr>
      <vt:lpstr>Closure</vt:lpstr>
      <vt:lpstr>Closure</vt:lpstr>
      <vt:lpstr>Closure proof</vt:lpstr>
      <vt:lpstr>Closure proof</vt:lpstr>
      <vt:lpstr>Closure proof</vt:lpstr>
      <vt:lpstr>Closure proof</vt:lpstr>
      <vt:lpstr>Closure for recognizable languages?</vt:lpstr>
      <vt:lpstr>Closure for recognizable languages?</vt:lpstr>
      <vt:lpstr>Closure for recognizable languages?</vt:lpstr>
      <vt:lpstr>Closure for recognizable languages?</vt:lpstr>
      <vt:lpstr>Closure for recognizable languages?</vt:lpstr>
      <vt:lpstr>Running TMs in parallel</vt:lpstr>
      <vt:lpstr>Step-bounded TM </vt:lpstr>
      <vt:lpstr>Closure for recognizable languages</vt:lpstr>
      <vt:lpstr>Closure for recognizable languages</vt:lpstr>
      <vt:lpstr>Closure for recognizable languages</vt:lpstr>
      <vt:lpstr>Closure under complement</vt:lpstr>
      <vt:lpstr>Closure under complement</vt:lpstr>
      <vt:lpstr>Closure  Good exercises – can't use without proof! (Sipser 3.15, 3.16)</vt:lpstr>
      <vt:lpstr>Church-Turing thesis  Sipser p. 183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710</cp:revision>
  <dcterms:created xsi:type="dcterms:W3CDTF">2014-10-03T04:30:04Z</dcterms:created>
  <dcterms:modified xsi:type="dcterms:W3CDTF">2026-05-06T04:00:20Z</dcterms:modified>
  <cp:category/>
</cp:coreProperties>
</file>