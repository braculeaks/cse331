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569" r:id="rId2"/>
    <p:sldId id="526" r:id="rId3"/>
    <p:sldId id="539" r:id="rId4"/>
    <p:sldId id="540" r:id="rId5"/>
    <p:sldId id="541" r:id="rId6"/>
    <p:sldId id="568" r:id="rId7"/>
    <p:sldId id="542" r:id="rId8"/>
    <p:sldId id="573" r:id="rId9"/>
    <p:sldId id="543" r:id="rId10"/>
    <p:sldId id="544" r:id="rId11"/>
    <p:sldId id="545" r:id="rId12"/>
    <p:sldId id="554" r:id="rId13"/>
    <p:sldId id="555" r:id="rId14"/>
    <p:sldId id="546" r:id="rId15"/>
    <p:sldId id="548" r:id="rId16"/>
    <p:sldId id="552" r:id="rId17"/>
    <p:sldId id="553" r:id="rId18"/>
    <p:sldId id="571" r:id="rId19"/>
    <p:sldId id="556" r:id="rId20"/>
    <p:sldId id="572" r:id="rId21"/>
    <p:sldId id="592" r:id="rId22"/>
    <p:sldId id="591" r:id="rId23"/>
    <p:sldId id="549" r:id="rId24"/>
    <p:sldId id="550" r:id="rId25"/>
    <p:sldId id="551" r:id="rId26"/>
    <p:sldId id="595" r:id="rId27"/>
    <p:sldId id="599" r:id="rId28"/>
    <p:sldId id="596" r:id="rId29"/>
    <p:sldId id="600" r:id="rId30"/>
    <p:sldId id="597" r:id="rId31"/>
    <p:sldId id="598" r:id="rId3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9B25"/>
    <a:srgbClr val="EE9E0E"/>
    <a:srgbClr val="FFFE5F"/>
    <a:srgbClr val="FEA90F"/>
    <a:srgbClr val="F2AF0D"/>
    <a:srgbClr val="F0AE0D"/>
    <a:srgbClr val="F8CD6A"/>
    <a:srgbClr val="E1922D"/>
    <a:srgbClr val="EE9A08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0625" autoAdjust="0"/>
  </p:normalViewPr>
  <p:slideViewPr>
    <p:cSldViewPr snapToGrid="0" snapToObjects="1">
      <p:cViewPr varScale="1">
        <p:scale>
          <a:sx n="150" d="100"/>
          <a:sy n="150" d="100"/>
        </p:scale>
        <p:origin x="474" y="1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char Lovett" userId="0c6d1e87c56e93c6" providerId="LiveId" clId="{41064877-C806-4AB4-9CDD-1F501398BFFD}"/>
    <pc:docChg chg="modSld">
      <pc:chgData name="Shachar Lovett" userId="0c6d1e87c56e93c6" providerId="LiveId" clId="{41064877-C806-4AB4-9CDD-1F501398BFFD}" dt="2025-11-06T02:18:35.779" v="35" actId="20577"/>
      <pc:docMkLst>
        <pc:docMk/>
      </pc:docMkLst>
      <pc:sldChg chg="modSp mod">
        <pc:chgData name="Shachar Lovett" userId="0c6d1e87c56e93c6" providerId="LiveId" clId="{41064877-C806-4AB4-9CDD-1F501398BFFD}" dt="2025-11-06T02:18:35.779" v="35" actId="20577"/>
        <pc:sldMkLst>
          <pc:docMk/>
          <pc:sldMk cId="4252520333" sldId="558"/>
        </pc:sldMkLst>
        <pc:spChg chg="mod">
          <ac:chgData name="Shachar Lovett" userId="0c6d1e87c56e93c6" providerId="LiveId" clId="{41064877-C806-4AB4-9CDD-1F501398BFFD}" dt="2025-11-06T02:18:35.779" v="35" actId="20577"/>
          <ac:spMkLst>
            <pc:docMk/>
            <pc:sldMk cId="4252520333" sldId="558"/>
            <ac:spMk id="3" creationId="{00000000-0000-0000-0000-000000000000}"/>
          </ac:spMkLst>
        </pc:spChg>
      </pc:sldChg>
    </pc:docChg>
  </pc:docChgLst>
  <pc:docChgLst>
    <pc:chgData name="Shachar Lovett" userId="0c6d1e87c56e93c6" providerId="LiveId" clId="{D115BFFD-887E-493A-9C55-8316AABAD0E9}"/>
    <pc:docChg chg="custSel modSld">
      <pc:chgData name="Shachar Lovett" userId="0c6d1e87c56e93c6" providerId="LiveId" clId="{D115BFFD-887E-493A-9C55-8316AABAD0E9}" dt="2025-11-05T00:31:09.649" v="49" actId="20577"/>
      <pc:docMkLst>
        <pc:docMk/>
      </pc:docMkLst>
      <pc:sldChg chg="modSp mod">
        <pc:chgData name="Shachar Lovett" userId="0c6d1e87c56e93c6" providerId="LiveId" clId="{D115BFFD-887E-493A-9C55-8316AABAD0E9}" dt="2025-11-05T00:31:09.649" v="49" actId="20577"/>
        <pc:sldMkLst>
          <pc:docMk/>
          <pc:sldMk cId="1204709998" sldId="550"/>
        </pc:sldMkLst>
        <pc:spChg chg="mod">
          <ac:chgData name="Shachar Lovett" userId="0c6d1e87c56e93c6" providerId="LiveId" clId="{D115BFFD-887E-493A-9C55-8316AABAD0E9}" dt="2025-11-05T00:31:09.649" v="49" actId="20577"/>
          <ac:spMkLst>
            <pc:docMk/>
            <pc:sldMk cId="1204709998" sldId="550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Wednesday, September 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Wednesday, September 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Wednesday, September 2,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Wednesday, September 2,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Wednesday, September 2,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Wednesday, September 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Wednesday, September 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Wednesday, September 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Wednesday, September 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Wednesday, September 2,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youtube.com/watch?v=eWq5wAX8K8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CSE331</a:t>
            </a:r>
            <a:br>
              <a:rPr lang="en-US" sz="3600" dirty="0"/>
            </a:br>
            <a:r>
              <a:rPr lang="en-US" sz="3600" dirty="0"/>
              <a:t>Automata and computability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7521575" cy="22341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Introduction to Turing Machines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/>
              <a:t>Summer </a:t>
            </a:r>
            <a:r>
              <a:rPr lang="en-US" dirty="0"/>
              <a:t>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08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Today's learning goals	</a:t>
            </a:r>
            <a:r>
              <a:rPr lang="en-US" sz="2400"/>
              <a:t>Sipser Ch 2, 3.1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Identify sets of strings as regular, context-free, or neither.</a:t>
            </a:r>
          </a:p>
          <a:p>
            <a:r>
              <a:rPr lang="en-US"/>
              <a:t>Relate key differences between DFA, NFA, PDA, Turing machines and computational power.</a:t>
            </a:r>
          </a:p>
          <a:p>
            <a:r>
              <a:rPr lang="en-US"/>
              <a:t>Trace the computation of a Turing machine using its transition function and configurations.</a:t>
            </a:r>
          </a:p>
          <a:p>
            <a:r>
              <a:rPr lang="en-US"/>
              <a:t>Determine when a Turing machine is a decider.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60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Informal intuition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023" y="1936595"/>
            <a:ext cx="7307166" cy="2767826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rgbClr val="292934"/>
                </a:solidFill>
              </a:rPr>
              <a:t>Which specific language is not context-free?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AutoNum type="alphaUcPeriod"/>
            </a:pPr>
            <a:r>
              <a:rPr lang="en-US" sz="2000" dirty="0">
                <a:solidFill>
                  <a:schemeClr val="tx1"/>
                </a:solidFill>
              </a:rPr>
              <a:t>{ 0</a:t>
            </a:r>
            <a:r>
              <a:rPr lang="en-US" sz="2000" baseline="30000" dirty="0">
                <a:solidFill>
                  <a:schemeClr val="tx1"/>
                </a:solidFill>
              </a:rPr>
              <a:t>n</a:t>
            </a:r>
            <a:r>
              <a:rPr lang="en-US" sz="2000" dirty="0">
                <a:solidFill>
                  <a:schemeClr val="tx1"/>
                </a:solidFill>
              </a:rPr>
              <a:t>1</a:t>
            </a:r>
            <a:r>
              <a:rPr lang="en-US" sz="2000" baseline="30000" dirty="0">
                <a:solidFill>
                  <a:schemeClr val="tx1"/>
                </a:solidFill>
              </a:rPr>
              <a:t>m</a:t>
            </a:r>
            <a:r>
              <a:rPr lang="en-US" sz="2000" dirty="0">
                <a:solidFill>
                  <a:schemeClr val="tx1"/>
                </a:solidFill>
              </a:rPr>
              <a:t>0</a:t>
            </a:r>
            <a:r>
              <a:rPr lang="en-US" sz="2000" baseline="30000" dirty="0">
                <a:solidFill>
                  <a:schemeClr val="tx1"/>
                </a:solidFill>
              </a:rPr>
              <a:t>n</a:t>
            </a:r>
            <a:r>
              <a:rPr lang="en-US" sz="2000" dirty="0">
                <a:solidFill>
                  <a:schemeClr val="tx1"/>
                </a:solidFill>
              </a:rPr>
              <a:t> | m,n≥0 }</a:t>
            </a:r>
          </a:p>
          <a:p>
            <a:pPr marL="342900" indent="-342900">
              <a:buFontTx/>
              <a:buAutoNum type="alphaUcPeriod"/>
            </a:pPr>
            <a:r>
              <a:rPr lang="en-US" sz="2000" dirty="0">
                <a:solidFill>
                  <a:schemeClr val="tx1"/>
                </a:solidFill>
              </a:rPr>
              <a:t>{ 0</a:t>
            </a:r>
            <a:r>
              <a:rPr lang="en-US" sz="2000" baseline="30000" dirty="0">
                <a:solidFill>
                  <a:schemeClr val="tx1"/>
                </a:solidFill>
              </a:rPr>
              <a:t>n</a:t>
            </a:r>
            <a:r>
              <a:rPr lang="en-US" sz="2000" dirty="0">
                <a:solidFill>
                  <a:schemeClr val="tx1"/>
                </a:solidFill>
              </a:rPr>
              <a:t>1</a:t>
            </a:r>
            <a:r>
              <a:rPr lang="en-US" sz="2000" baseline="30000" dirty="0">
                <a:solidFill>
                  <a:schemeClr val="tx1"/>
                </a:solidFill>
              </a:rPr>
              <a:t>n</a:t>
            </a:r>
            <a:r>
              <a:rPr lang="en-US" sz="2000" dirty="0">
                <a:solidFill>
                  <a:schemeClr val="tx1"/>
                </a:solidFill>
              </a:rPr>
              <a:t>0</a:t>
            </a:r>
            <a:r>
              <a:rPr lang="en-US" sz="2000" baseline="30000" dirty="0">
                <a:solidFill>
                  <a:schemeClr val="tx1"/>
                </a:solidFill>
              </a:rPr>
              <a:t>n</a:t>
            </a:r>
            <a:r>
              <a:rPr lang="en-US" sz="2000" dirty="0">
                <a:solidFill>
                  <a:schemeClr val="tx1"/>
                </a:solidFill>
              </a:rPr>
              <a:t> | n≥0 }</a:t>
            </a:r>
          </a:p>
          <a:p>
            <a:pPr marL="342900" indent="-342900">
              <a:buFontTx/>
              <a:buAutoNum type="alphaUcPeriod"/>
            </a:pPr>
            <a:r>
              <a:rPr lang="en-US" sz="2000" dirty="0">
                <a:solidFill>
                  <a:schemeClr val="tx1"/>
                </a:solidFill>
              </a:rPr>
              <a:t>{ 0</a:t>
            </a:r>
            <a:r>
              <a:rPr lang="en-US" sz="2000" baseline="30000" dirty="0">
                <a:solidFill>
                  <a:schemeClr val="tx1"/>
                </a:solidFill>
              </a:rPr>
              <a:t>n</a:t>
            </a:r>
            <a:r>
              <a:rPr lang="en-US" sz="2000" dirty="0">
                <a:solidFill>
                  <a:schemeClr val="tx1"/>
                </a:solidFill>
              </a:rPr>
              <a:t>1</a:t>
            </a:r>
            <a:r>
              <a:rPr lang="en-US" sz="2000" baseline="30000" dirty="0">
                <a:solidFill>
                  <a:schemeClr val="tx1"/>
                </a:solidFill>
              </a:rPr>
              <a:t>2n</a:t>
            </a:r>
            <a:r>
              <a:rPr lang="en-US" sz="2000" dirty="0">
                <a:solidFill>
                  <a:schemeClr val="tx1"/>
                </a:solidFill>
              </a:rPr>
              <a:t> | n≥0 }</a:t>
            </a:r>
          </a:p>
          <a:p>
            <a:pPr marL="342900" indent="-342900">
              <a:buFontTx/>
              <a:buAutoNum type="alphaUcPeriod"/>
            </a:pPr>
            <a:r>
              <a:rPr lang="en-US" sz="2000" dirty="0">
                <a:solidFill>
                  <a:schemeClr val="tx1"/>
                </a:solidFill>
              </a:rPr>
              <a:t>{ 0</a:t>
            </a:r>
            <a:r>
              <a:rPr lang="en-US" sz="2000" baseline="30000" dirty="0">
                <a:solidFill>
                  <a:schemeClr val="tx1"/>
                </a:solidFill>
              </a:rPr>
              <a:t>n</a:t>
            </a:r>
            <a:r>
              <a:rPr lang="en-US" sz="2000" dirty="0">
                <a:solidFill>
                  <a:schemeClr val="tx1"/>
                </a:solidFill>
              </a:rPr>
              <a:t>1</a:t>
            </a:r>
            <a:r>
              <a:rPr lang="en-US" sz="2000" baseline="30000" dirty="0">
                <a:solidFill>
                  <a:schemeClr val="tx1"/>
                </a:solidFill>
              </a:rPr>
              <a:t>2m</a:t>
            </a:r>
            <a:r>
              <a:rPr lang="en-US" sz="2000" dirty="0">
                <a:solidFill>
                  <a:schemeClr val="tx1"/>
                </a:solidFill>
              </a:rPr>
              <a:t> | m,n≥0 }</a:t>
            </a:r>
          </a:p>
          <a:p>
            <a:pPr marL="342900" indent="-342900">
              <a:buFontTx/>
              <a:buAutoNum type="alphaUcPeriod"/>
            </a:pPr>
            <a:r>
              <a:rPr lang="en-US" sz="2000" dirty="0">
                <a:solidFill>
                  <a:schemeClr val="tx1"/>
                </a:solidFill>
              </a:rPr>
              <a:t>I don't know.</a:t>
            </a:r>
          </a:p>
          <a:p>
            <a:pPr marL="342900" indent="-342900">
              <a:buFontTx/>
              <a:buAutoNum type="alphaU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lphaU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Cloud Callout 2"/>
          <p:cNvSpPr/>
          <p:nvPr/>
        </p:nvSpPr>
        <p:spPr>
          <a:xfrm>
            <a:off x="4482124" y="224138"/>
            <a:ext cx="4370071" cy="1712457"/>
          </a:xfrm>
          <a:prstGeom prst="cloudCallout">
            <a:avLst>
              <a:gd name="adj1" fmla="val 48825"/>
              <a:gd name="adj2" fmla="val 110261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128D2"/>
                </a:solidFill>
              </a:rPr>
              <a:t>There must be at least one language that is not context-free</a:t>
            </a:r>
          </a:p>
        </p:txBody>
      </p:sp>
    </p:spTree>
    <p:extLst>
      <p:ext uri="{BB962C8B-B14F-4D97-AF65-F5344CB8AC3E}">
        <p14:creationId xmlns:p14="http://schemas.microsoft.com/office/powerpoint/2010/main" val="414575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Examples of non-context-free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{ </a:t>
            </a:r>
            <a:r>
              <a:rPr lang="en-US" dirty="0" err="1"/>
              <a:t>a</a:t>
            </a:r>
            <a:r>
              <a:rPr lang="en-US" baseline="30000" dirty="0" err="1"/>
              <a:t>n</a:t>
            </a:r>
            <a:r>
              <a:rPr lang="en-US" dirty="0" err="1"/>
              <a:t>b</a:t>
            </a:r>
            <a:r>
              <a:rPr lang="en-US" baseline="30000" dirty="0" err="1"/>
              <a:t>n</a:t>
            </a:r>
            <a:r>
              <a:rPr lang="en-US" dirty="0" err="1"/>
              <a:t>c</a:t>
            </a:r>
            <a:r>
              <a:rPr lang="en-US" baseline="30000" dirty="0" err="1"/>
              <a:t>n</a:t>
            </a:r>
            <a:r>
              <a:rPr lang="en-US" dirty="0"/>
              <a:t> | 0 ≤ n } 		</a:t>
            </a:r>
            <a:r>
              <a:rPr lang="en-US" sz="1600" dirty="0" err="1">
                <a:solidFill>
                  <a:schemeClr val="accent6"/>
                </a:solidFill>
              </a:rPr>
              <a:t>Sipser</a:t>
            </a:r>
            <a:r>
              <a:rPr lang="en-US" sz="1600" dirty="0">
                <a:solidFill>
                  <a:schemeClr val="accent6"/>
                </a:solidFill>
              </a:rPr>
              <a:t> Ex 2.36</a:t>
            </a:r>
            <a:endParaRPr lang="en-US" sz="1600" dirty="0"/>
          </a:p>
          <a:p>
            <a:r>
              <a:rPr lang="en-US" dirty="0"/>
              <a:t>{ </a:t>
            </a:r>
            <a:r>
              <a:rPr lang="en-US" dirty="0" err="1"/>
              <a:t>a</a:t>
            </a:r>
            <a:r>
              <a:rPr lang="en-US" baseline="30000" dirty="0" err="1"/>
              <a:t>i</a:t>
            </a:r>
            <a:r>
              <a:rPr lang="en-US" dirty="0" err="1"/>
              <a:t>b</a:t>
            </a:r>
            <a:r>
              <a:rPr lang="en-US" baseline="30000" dirty="0" err="1"/>
              <a:t>j</a:t>
            </a:r>
            <a:r>
              <a:rPr lang="en-US" dirty="0" err="1"/>
              <a:t>c</a:t>
            </a:r>
            <a:r>
              <a:rPr lang="en-US" baseline="30000" dirty="0" err="1"/>
              <a:t>k</a:t>
            </a:r>
            <a:r>
              <a:rPr lang="en-US" dirty="0"/>
              <a:t> | 0 ≤ </a:t>
            </a:r>
            <a:r>
              <a:rPr lang="en-US" dirty="0" err="1"/>
              <a:t>i</a:t>
            </a:r>
            <a:r>
              <a:rPr lang="en-US" dirty="0"/>
              <a:t> ≤ j ≤ k } 	</a:t>
            </a:r>
            <a:r>
              <a:rPr lang="en-US" sz="1600" dirty="0" err="1">
                <a:solidFill>
                  <a:schemeClr val="accent6"/>
                </a:solidFill>
              </a:rPr>
              <a:t>Sipser</a:t>
            </a:r>
            <a:r>
              <a:rPr lang="en-US" sz="1600" dirty="0">
                <a:solidFill>
                  <a:schemeClr val="accent6"/>
                </a:solidFill>
              </a:rPr>
              <a:t> Ex 2.37</a:t>
            </a:r>
            <a:endParaRPr lang="en-US" sz="1600" dirty="0"/>
          </a:p>
          <a:p>
            <a:r>
              <a:rPr lang="en-US" dirty="0"/>
              <a:t>{ w </a:t>
            </a:r>
            <a:r>
              <a:rPr lang="en-US" dirty="0" err="1"/>
              <a:t>w</a:t>
            </a:r>
            <a:r>
              <a:rPr lang="en-US" dirty="0"/>
              <a:t> | w is in {0,1}</a:t>
            </a:r>
            <a:r>
              <a:rPr lang="en-US" baseline="30000" dirty="0"/>
              <a:t>* </a:t>
            </a:r>
            <a:r>
              <a:rPr lang="en-US" dirty="0"/>
              <a:t>}	</a:t>
            </a:r>
            <a:r>
              <a:rPr lang="en-US" sz="1600" dirty="0" err="1">
                <a:solidFill>
                  <a:schemeClr val="accent6"/>
                </a:solidFill>
              </a:rPr>
              <a:t>Sipser</a:t>
            </a:r>
            <a:r>
              <a:rPr lang="en-US" sz="1600" dirty="0">
                <a:solidFill>
                  <a:schemeClr val="accent6"/>
                </a:solidFill>
              </a:rPr>
              <a:t> Ex 2.38</a:t>
            </a:r>
            <a:endParaRPr lang="en-US" sz="16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200" i="1" dirty="0">
                <a:solidFill>
                  <a:schemeClr val="accent5"/>
                </a:solidFill>
              </a:rPr>
              <a:t>To prove… Pumping lemma for CFLs (won't cover in class)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12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Closure 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3806714"/>
          </a:xfrm>
          <a:ln>
            <a:solidFill>
              <a:srgbClr val="F2AF0D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</a:rPr>
              <a:t>The class of regular languages is closed under</a:t>
            </a:r>
          </a:p>
          <a:p>
            <a:r>
              <a:rPr lang="en-US" sz="2000"/>
              <a:t>Union</a:t>
            </a:r>
          </a:p>
          <a:p>
            <a:r>
              <a:rPr lang="en-US" sz="2000"/>
              <a:t>Concatenation</a:t>
            </a:r>
          </a:p>
          <a:p>
            <a:r>
              <a:rPr lang="en-US" sz="2000"/>
              <a:t>Star</a:t>
            </a:r>
          </a:p>
          <a:p>
            <a:r>
              <a:rPr lang="en-US" sz="2000"/>
              <a:t>Complementation</a:t>
            </a:r>
          </a:p>
          <a:p>
            <a:r>
              <a:rPr lang="en-US" sz="2000"/>
              <a:t>Intersection</a:t>
            </a:r>
          </a:p>
          <a:p>
            <a:r>
              <a:rPr lang="en-US" sz="2000"/>
              <a:t>Difference</a:t>
            </a:r>
          </a:p>
          <a:p>
            <a:r>
              <a:rPr lang="en-US" sz="2000"/>
              <a:t>Reversal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495800" y="1143000"/>
            <a:ext cx="4191000" cy="3806714"/>
          </a:xfrm>
          <a:ln>
            <a:solidFill>
              <a:srgbClr val="F2AF0D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4128D2"/>
                </a:solidFill>
              </a:rPr>
              <a:t>The class of context-free languages is closed under</a:t>
            </a:r>
          </a:p>
          <a:p>
            <a:r>
              <a:rPr lang="en-US" sz="2000"/>
              <a:t>Union</a:t>
            </a:r>
          </a:p>
          <a:p>
            <a:r>
              <a:rPr lang="en-US" sz="2000"/>
              <a:t>Concatenation</a:t>
            </a:r>
          </a:p>
          <a:p>
            <a:r>
              <a:rPr lang="en-US" sz="2000"/>
              <a:t>Star</a:t>
            </a:r>
          </a:p>
          <a:p>
            <a:r>
              <a:rPr lang="en-US" sz="2000"/>
              <a:t>Reversal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 b="1">
                <a:solidFill>
                  <a:srgbClr val="4128D2"/>
                </a:solidFill>
              </a:rPr>
              <a:t>The class of context-free languages is not closed under</a:t>
            </a:r>
          </a:p>
          <a:p>
            <a:r>
              <a:rPr lang="en-US" sz="2000"/>
              <a:t>Intersection</a:t>
            </a:r>
          </a:p>
          <a:p>
            <a:r>
              <a:rPr lang="en-US" sz="2000"/>
              <a:t>Complement</a:t>
            </a:r>
          </a:p>
          <a:p>
            <a:r>
              <a:rPr lang="en-US" sz="2000"/>
              <a:t>Difference</a:t>
            </a:r>
          </a:p>
        </p:txBody>
      </p:sp>
    </p:spTree>
    <p:extLst>
      <p:ext uri="{BB962C8B-B14F-4D97-AF65-F5344CB8AC3E}">
        <p14:creationId xmlns:p14="http://schemas.microsoft.com/office/powerpoint/2010/main" val="135749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060122" y="3449909"/>
            <a:ext cx="4358391" cy="15995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rgbClr val="4128D2"/>
                </a:solidFill>
              </a:rPr>
              <a:t>Context-free languages</a:t>
            </a:r>
          </a:p>
        </p:txBody>
      </p:sp>
      <p:sp>
        <p:nvSpPr>
          <p:cNvPr id="4" name="Oval 3"/>
          <p:cNvSpPr/>
          <p:nvPr/>
        </p:nvSpPr>
        <p:spPr>
          <a:xfrm>
            <a:off x="1900918" y="4233977"/>
            <a:ext cx="3182566" cy="48612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128D2"/>
                </a:solidFill>
              </a:rPr>
              <a:t>Regular languages</a:t>
            </a:r>
          </a:p>
        </p:txBody>
      </p:sp>
      <p:sp>
        <p:nvSpPr>
          <p:cNvPr id="6" name="Oval 5"/>
          <p:cNvSpPr/>
          <p:nvPr/>
        </p:nvSpPr>
        <p:spPr>
          <a:xfrm>
            <a:off x="127970" y="2981104"/>
            <a:ext cx="5751156" cy="222512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2451" y="3615382"/>
            <a:ext cx="60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???</a:t>
            </a:r>
          </a:p>
        </p:txBody>
      </p:sp>
      <p:pic>
        <p:nvPicPr>
          <p:cNvPr id="10" name="Picture 9" descr="PDA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963" y="451610"/>
            <a:ext cx="3372658" cy="2529494"/>
          </a:xfrm>
          <a:prstGeom prst="rect">
            <a:avLst/>
          </a:prstGeom>
        </p:spPr>
      </p:pic>
      <p:pic>
        <p:nvPicPr>
          <p:cNvPr id="11" name="Picture 10" descr="PDA.pn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23" r="24042"/>
          <a:stretch/>
        </p:blipFill>
        <p:spPr>
          <a:xfrm>
            <a:off x="6186343" y="2421958"/>
            <a:ext cx="2561796" cy="205590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835018" y="2340122"/>
            <a:ext cx="99443" cy="2979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85296" y="2719730"/>
            <a:ext cx="99443" cy="1455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Callout 13"/>
          <p:cNvSpPr/>
          <p:nvPr/>
        </p:nvSpPr>
        <p:spPr>
          <a:xfrm>
            <a:off x="6342294" y="2340121"/>
            <a:ext cx="2801705" cy="2137737"/>
          </a:xfrm>
          <a:prstGeom prst="wedgeEllipseCallout">
            <a:avLst>
              <a:gd name="adj1" fmla="val -110154"/>
              <a:gd name="adj2" fmla="val 45899"/>
            </a:avLst>
          </a:prstGeom>
          <a:gradFill flip="none" rotWithShape="1">
            <a:gsLst>
              <a:gs pos="0">
                <a:schemeClr val="accent1">
                  <a:shade val="70000"/>
                  <a:satMod val="150000"/>
                  <a:alpha val="19000"/>
                </a:schemeClr>
              </a:gs>
              <a:gs pos="34000">
                <a:schemeClr val="accent1">
                  <a:shade val="70000"/>
                  <a:satMod val="140000"/>
                  <a:alpha val="19000"/>
                </a:schemeClr>
              </a:gs>
              <a:gs pos="70000">
                <a:schemeClr val="accent1">
                  <a:tint val="100000"/>
                  <a:shade val="90000"/>
                  <a:satMod val="140000"/>
                  <a:alpha val="19000"/>
                </a:schemeClr>
              </a:gs>
              <a:gs pos="100000">
                <a:schemeClr val="accent1">
                  <a:tint val="100000"/>
                  <a:shade val="100000"/>
                  <a:satMod val="100000"/>
                  <a:alpha val="19000"/>
                </a:schemeClr>
              </a:gs>
            </a:gsLst>
            <a:path path="circle">
              <a:fillToRect l="100000" t="100000" r="100000" b="10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Callout 14"/>
          <p:cNvSpPr/>
          <p:nvPr/>
        </p:nvSpPr>
        <p:spPr>
          <a:xfrm>
            <a:off x="3211963" y="202384"/>
            <a:ext cx="3578094" cy="2662893"/>
          </a:xfrm>
          <a:prstGeom prst="wedgeEllipseCallout">
            <a:avLst>
              <a:gd name="adj1" fmla="val -28265"/>
              <a:gd name="adj2" fmla="val 77463"/>
            </a:avLst>
          </a:prstGeom>
          <a:solidFill>
            <a:schemeClr val="tx2">
              <a:alpha val="19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Callout 15"/>
          <p:cNvSpPr/>
          <p:nvPr/>
        </p:nvSpPr>
        <p:spPr>
          <a:xfrm>
            <a:off x="127970" y="202384"/>
            <a:ext cx="2916139" cy="2662893"/>
          </a:xfrm>
          <a:prstGeom prst="wedgeEllipseCallout">
            <a:avLst>
              <a:gd name="adj1" fmla="val -14816"/>
              <a:gd name="adj2" fmla="val 78164"/>
            </a:avLst>
          </a:prstGeom>
          <a:noFill/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08686" y="928701"/>
            <a:ext cx="60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066496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Turing machines</a:t>
            </a:r>
          </a:p>
        </p:txBody>
      </p:sp>
      <p:pic>
        <p:nvPicPr>
          <p:cNvPr id="7" name="Picture 6" descr="TM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10" y="2914650"/>
            <a:ext cx="4178300" cy="1943100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rgbClr val="4128D2"/>
                </a:solidFill>
              </a:rPr>
              <a:t>Unlimited input</a:t>
            </a:r>
          </a:p>
          <a:p>
            <a:r>
              <a:rPr lang="en-US">
                <a:solidFill>
                  <a:srgbClr val="4128D2"/>
                </a:solidFill>
              </a:rPr>
              <a:t>Unlimited (read/write) memory</a:t>
            </a:r>
          </a:p>
          <a:p>
            <a:r>
              <a:rPr lang="en-US">
                <a:solidFill>
                  <a:srgbClr val="4128D2"/>
                </a:solidFill>
              </a:rPr>
              <a:t>Unlimited time</a:t>
            </a:r>
          </a:p>
          <a:p>
            <a:endParaRPr lang="en-US"/>
          </a:p>
        </p:txBody>
      </p:sp>
      <p:pic>
        <p:nvPicPr>
          <p:cNvPr id="10" name="Picture 9" descr="turing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122" y="400050"/>
            <a:ext cx="1879600" cy="2362200"/>
          </a:xfrm>
          <a:prstGeom prst="rect">
            <a:avLst/>
          </a:prstGeom>
        </p:spPr>
      </p:pic>
      <p:pic>
        <p:nvPicPr>
          <p:cNvPr id="11" name="Picture 10" descr="Screen Shot 2016-04-27 at 11.37.20 PM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426" y="400050"/>
            <a:ext cx="2313696" cy="308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38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4801-6FE1-BFB9-CD16-46B1AB52E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imitation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3B388-1558-7A9A-CC64-DA4A3F6F0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movie about Turing and his role in</a:t>
            </a:r>
          </a:p>
          <a:p>
            <a:pPr marL="0" indent="0">
              <a:buNone/>
            </a:pPr>
            <a:r>
              <a:rPr lang="en-US" dirty="0"/>
              <a:t>  breaking the Enigma code in WWII</a:t>
            </a:r>
          </a:p>
          <a:p>
            <a:endParaRPr lang="en-US" dirty="0"/>
          </a:p>
          <a:p>
            <a:r>
              <a:rPr lang="en-US" dirty="0"/>
              <a:t>He made many inventions, one of them</a:t>
            </a:r>
            <a:br>
              <a:rPr lang="en-US" dirty="0"/>
            </a:br>
            <a:r>
              <a:rPr lang="en-US" dirty="0"/>
              <a:t>is the “Turing machine”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https://www.youtube.com/watch?v=eWq5wAX8K8A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person in a suit&#10;&#10;AI-generated content may be incorrect.">
            <a:extLst>
              <a:ext uri="{FF2B5EF4-FFF2-40B4-BE49-F238E27FC236}">
                <a16:creationId xmlns:a16="http://schemas.microsoft.com/office/drawing/2014/main" id="{CEA09B61-ED84-7CF3-B23D-0A5CADA3B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529" y="599847"/>
            <a:ext cx="2207616" cy="347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94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Turing machine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416360" cy="3657600"/>
          </a:xfrm>
        </p:spPr>
        <p:txBody>
          <a:bodyPr>
            <a:normAutofit lnSpcReduction="10000"/>
          </a:bodyPr>
          <a:lstStyle/>
          <a:p>
            <a:r>
              <a:rPr lang="en-US">
                <a:solidFill>
                  <a:srgbClr val="4128D2"/>
                </a:solidFill>
              </a:rPr>
              <a:t>Read/write head</a:t>
            </a:r>
            <a:r>
              <a:rPr lang="en-US"/>
              <a:t> starts at leftmost position on tape</a:t>
            </a:r>
          </a:p>
          <a:p>
            <a:r>
              <a:rPr lang="en-US">
                <a:solidFill>
                  <a:srgbClr val="4128D2"/>
                </a:solidFill>
              </a:rPr>
              <a:t>Input string </a:t>
            </a:r>
            <a:r>
              <a:rPr lang="en-US"/>
              <a:t>written on leftmost squares of tape, rest is blank</a:t>
            </a:r>
          </a:p>
          <a:p>
            <a:r>
              <a:rPr lang="en-US">
                <a:solidFill>
                  <a:srgbClr val="4128D2"/>
                </a:solidFill>
              </a:rPr>
              <a:t>Computation</a:t>
            </a:r>
            <a:r>
              <a:rPr lang="en-US"/>
              <a:t> proceeds according to transition function:</a:t>
            </a:r>
          </a:p>
          <a:p>
            <a:pPr lvl="1"/>
            <a:r>
              <a:rPr lang="en-US"/>
              <a:t>Given current state of machine, and current symbol being read</a:t>
            </a:r>
          </a:p>
          <a:p>
            <a:pPr lvl="1"/>
            <a:r>
              <a:rPr lang="en-US"/>
              <a:t>the machine </a:t>
            </a:r>
          </a:p>
          <a:p>
            <a:pPr lvl="2"/>
            <a:r>
              <a:rPr lang="en-US"/>
              <a:t>transitions to new state</a:t>
            </a:r>
          </a:p>
          <a:p>
            <a:pPr lvl="2"/>
            <a:r>
              <a:rPr lang="en-US"/>
              <a:t>writes a symbol to its current position (overwriting existing symbol)</a:t>
            </a:r>
          </a:p>
          <a:p>
            <a:pPr lvl="2"/>
            <a:r>
              <a:rPr lang="en-US"/>
              <a:t>moves the tape head L or R</a:t>
            </a:r>
          </a:p>
          <a:p>
            <a:r>
              <a:rPr lang="en-US">
                <a:solidFill>
                  <a:srgbClr val="4128D2"/>
                </a:solidFill>
              </a:rPr>
              <a:t>Computation ends </a:t>
            </a:r>
            <a:r>
              <a:rPr lang="en-US"/>
              <a:t>if and when it enters either the </a:t>
            </a:r>
            <a:r>
              <a:rPr lang="en-US" b="1"/>
              <a:t>accept</a:t>
            </a:r>
            <a:r>
              <a:rPr lang="en-US"/>
              <a:t> or the </a:t>
            </a:r>
            <a:r>
              <a:rPr lang="en-US" b="1"/>
              <a:t>reject </a:t>
            </a:r>
            <a:r>
              <a:rPr lang="en-US"/>
              <a:t>state.</a:t>
            </a:r>
          </a:p>
        </p:txBody>
      </p:sp>
    </p:spTree>
    <p:extLst>
      <p:ext uri="{BB962C8B-B14F-4D97-AF65-F5344CB8AC3E}">
        <p14:creationId xmlns:p14="http://schemas.microsoft.com/office/powerpoint/2010/main" val="230051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Language of a Turing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416360" cy="3657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/>
              <a:t>L(M) = { w | computation of M on w halts after entering the </a:t>
            </a:r>
            <a:r>
              <a:rPr lang="en-US" b="1"/>
              <a:t>accept </a:t>
            </a:r>
            <a:r>
              <a:rPr lang="en-US"/>
              <a:t>state}</a:t>
            </a:r>
          </a:p>
          <a:p>
            <a:pPr marL="0" indent="0" algn="ctr">
              <a:buNone/>
            </a:pPr>
            <a:r>
              <a:rPr lang="en-US">
                <a:solidFill>
                  <a:schemeClr val="accent1"/>
                </a:solidFill>
              </a:rPr>
              <a:t>i.e.	</a:t>
            </a:r>
            <a:r>
              <a:rPr lang="en-US"/>
              <a:t>L(M) = { w | w is accepted by M}</a:t>
            </a:r>
          </a:p>
        </p:txBody>
      </p:sp>
      <p:sp>
        <p:nvSpPr>
          <p:cNvPr id="4" name="Rectangle 3"/>
          <p:cNvSpPr/>
          <p:nvPr/>
        </p:nvSpPr>
        <p:spPr>
          <a:xfrm>
            <a:off x="188132" y="2658869"/>
            <a:ext cx="8392845" cy="2198881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>
                <a:solidFill>
                  <a:srgbClr val="292934"/>
                </a:solidFill>
              </a:rPr>
              <a:t>Comparing </a:t>
            </a:r>
            <a:r>
              <a:rPr lang="en-US" sz="2000" b="1">
                <a:solidFill>
                  <a:srgbClr val="292934"/>
                </a:solidFill>
              </a:rPr>
              <a:t>TM</a:t>
            </a:r>
            <a:r>
              <a:rPr lang="en-US" sz="2000">
                <a:solidFill>
                  <a:srgbClr val="292934"/>
                </a:solidFill>
              </a:rPr>
              <a:t>s and </a:t>
            </a:r>
            <a:r>
              <a:rPr lang="en-US" sz="2000" b="1">
                <a:solidFill>
                  <a:srgbClr val="292934"/>
                </a:solidFill>
              </a:rPr>
              <a:t>PDA</a:t>
            </a:r>
            <a:r>
              <a:rPr lang="en-US" sz="2000">
                <a:solidFill>
                  <a:srgbClr val="292934"/>
                </a:solidFill>
              </a:rPr>
              <a:t>s, which of the following is true:</a:t>
            </a:r>
            <a:endParaRPr lang="en-US" sz="2000">
              <a:solidFill>
                <a:schemeClr val="tx1"/>
              </a:solidFill>
            </a:endParaRP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Both TMs and PDAs may accept a string before reading all of it.</a:t>
            </a: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A TM may only read symbols, whereas a PDA may write to its stack.</a:t>
            </a: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Both TMs and PDAs must read the string from left to right.</a:t>
            </a: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States in a PDA must be either accepting or rejecting, but in a TM may be neither.</a:t>
            </a: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2799776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is this model relevant?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Division between program </a:t>
            </a:r>
            <a:r>
              <a:rPr lang="en-US">
                <a:solidFill>
                  <a:srgbClr val="F2AF0D"/>
                </a:solidFill>
              </a:rPr>
              <a:t>(CPU, state space) </a:t>
            </a:r>
            <a:r>
              <a:rPr lang="en-US"/>
              <a:t>and data </a:t>
            </a:r>
            <a:r>
              <a:rPr lang="en-US">
                <a:solidFill>
                  <a:schemeClr val="accent1"/>
                </a:solidFill>
              </a:rPr>
              <a:t>(memory) </a:t>
            </a:r>
            <a:r>
              <a:rPr lang="en-US"/>
              <a:t>is a cornerstone of all modern computing</a:t>
            </a:r>
          </a:p>
          <a:p>
            <a:r>
              <a:rPr lang="en-US">
                <a:solidFill>
                  <a:srgbClr val="292934"/>
                </a:solidFill>
              </a:rPr>
              <a:t>Unbounded memory is outer limits of what modern computers </a:t>
            </a:r>
            <a:r>
              <a:rPr lang="en-US">
                <a:solidFill>
                  <a:schemeClr val="accent1"/>
                </a:solidFill>
              </a:rPr>
              <a:t>(PCs, quantum computers, DNA computers)</a:t>
            </a:r>
            <a:r>
              <a:rPr lang="en-US"/>
              <a:t> can implement.  </a:t>
            </a:r>
          </a:p>
          <a:p>
            <a:r>
              <a:rPr lang="en-US">
                <a:solidFill>
                  <a:srgbClr val="292934"/>
                </a:solidFill>
              </a:rPr>
              <a:t>Simple enough to reason about</a:t>
            </a:r>
            <a:r>
              <a:rPr lang="en-US">
                <a:solidFill>
                  <a:schemeClr val="tx2"/>
                </a:solidFill>
              </a:rPr>
              <a:t> (and diagonalize against)</a:t>
            </a:r>
            <a:r>
              <a:rPr lang="en-US"/>
              <a:t>, expressive enough to capture modern computation.</a:t>
            </a:r>
            <a:endParaRPr lang="en-US">
              <a:solidFill>
                <a:srgbClr val="2929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347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/>
              <a:t>L = { w#w | w is in {0,1}</a:t>
            </a:r>
            <a:r>
              <a:rPr lang="en-US" sz="2200" baseline="30000"/>
              <a:t>* </a:t>
            </a:r>
            <a:r>
              <a:rPr lang="en-US" sz="2200"/>
              <a:t>}</a:t>
            </a:r>
          </a:p>
          <a:p>
            <a:pPr marL="0" indent="0" algn="ctr">
              <a:buNone/>
            </a:pPr>
            <a:endParaRPr lang="en-US" sz="22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200" i="1">
                <a:solidFill>
                  <a:schemeClr val="tx2"/>
                </a:solidFill>
              </a:rPr>
              <a:t>We already know that L is</a:t>
            </a:r>
          </a:p>
          <a:p>
            <a:r>
              <a:rPr lang="en-US" sz="2200"/>
              <a:t>not regular</a:t>
            </a:r>
          </a:p>
          <a:p>
            <a:r>
              <a:rPr lang="en-US" sz="2200"/>
              <a:t>not context-free</a:t>
            </a:r>
          </a:p>
          <a:p>
            <a:endParaRPr lang="en-US" sz="2200"/>
          </a:p>
          <a:p>
            <a:pPr marL="0" indent="0">
              <a:buNone/>
            </a:pPr>
            <a:r>
              <a:rPr lang="en-US" sz="2200" i="1">
                <a:solidFill>
                  <a:schemeClr val="tx2"/>
                </a:solidFill>
              </a:rPr>
              <a:t>We will prove that L is</a:t>
            </a:r>
            <a:endParaRPr lang="en-US" sz="22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200"/>
              <a:t>the language of some Turing machine</a:t>
            </a:r>
          </a:p>
        </p:txBody>
      </p:sp>
    </p:spTree>
    <p:extLst>
      <p:ext uri="{BB962C8B-B14F-4D97-AF65-F5344CB8AC3E}">
        <p14:creationId xmlns:p14="http://schemas.microsoft.com/office/powerpoint/2010/main" val="2831346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/>
              <a:t>L = { w#w | w is in {0,1}</a:t>
            </a:r>
            <a:r>
              <a:rPr lang="en-US" baseline="30000"/>
              <a:t>* </a:t>
            </a:r>
            <a:r>
              <a:rPr lang="en-US"/>
              <a:t>}</a:t>
            </a:r>
          </a:p>
          <a:p>
            <a:pPr marL="0" indent="0" algn="ctr">
              <a:buNone/>
            </a:pPr>
            <a:endParaRPr lang="en-US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i="1">
                <a:solidFill>
                  <a:schemeClr val="tx2"/>
                </a:solidFill>
              </a:rPr>
              <a:t>Idea for Turing machine</a:t>
            </a:r>
            <a:endParaRPr lang="en-US">
              <a:solidFill>
                <a:schemeClr val="tx2"/>
              </a:solidFill>
            </a:endParaRPr>
          </a:p>
          <a:p>
            <a:r>
              <a:rPr lang="en-US"/>
              <a:t>Zig-zag across tape to corresponding positions on either side of '#' to check whether these positions agree.  If they do not, or if there is no '#', </a:t>
            </a:r>
            <a:r>
              <a:rPr lang="en-US" i="1"/>
              <a:t>reject</a:t>
            </a:r>
            <a:r>
              <a:rPr lang="en-US"/>
              <a:t>.  If they do, cross them off.</a:t>
            </a:r>
          </a:p>
          <a:p>
            <a:r>
              <a:rPr lang="en-US"/>
              <a:t>Once all symbols to the left of the '#' are crossed off, check for any symbols to the right of '#': if there are any, </a:t>
            </a:r>
            <a:r>
              <a:rPr lang="en-US" i="1"/>
              <a:t>reject</a:t>
            </a:r>
            <a:r>
              <a:rPr lang="en-US"/>
              <a:t>; if there aren't, </a:t>
            </a:r>
            <a:r>
              <a:rPr lang="en-US" i="1"/>
              <a:t>accept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42692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 definition of TM</a:t>
            </a:r>
          </a:p>
        </p:txBody>
      </p:sp>
      <p:pic>
        <p:nvPicPr>
          <p:cNvPr id="5" name="Picture 4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77" y="1113380"/>
            <a:ext cx="7861300" cy="4025900"/>
          </a:xfrm>
          <a:prstGeom prst="rect">
            <a:avLst/>
          </a:prstGeom>
        </p:spPr>
      </p:pic>
      <p:sp>
        <p:nvSpPr>
          <p:cNvPr id="3" name="Cloud Callout 2"/>
          <p:cNvSpPr/>
          <p:nvPr/>
        </p:nvSpPr>
        <p:spPr>
          <a:xfrm>
            <a:off x="5963392" y="4139890"/>
            <a:ext cx="3180608" cy="689982"/>
          </a:xfrm>
          <a:prstGeom prst="cloudCallout">
            <a:avLst>
              <a:gd name="adj1" fmla="val -112762"/>
              <a:gd name="adj2" fmla="val 6022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</a:t>
            </a:r>
            <a:r>
              <a:rPr lang="en-US" baseline="-25000"/>
              <a:t>reject</a:t>
            </a:r>
            <a:r>
              <a:rPr lang="en-US"/>
              <a:t> ≠ q</a:t>
            </a:r>
            <a:r>
              <a:rPr lang="en-US" baseline="-25000"/>
              <a:t>accept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41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 definition of TM</a:t>
            </a:r>
          </a:p>
        </p:txBody>
      </p:sp>
      <p:pic>
        <p:nvPicPr>
          <p:cNvPr id="5" name="Picture 4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77" y="1113380"/>
            <a:ext cx="7861300" cy="40259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65303" y="2308488"/>
            <a:ext cx="3370967" cy="2779578"/>
          </a:xfrm>
          <a:prstGeom prst="rect">
            <a:avLst/>
          </a:prstGeom>
          <a:solidFill>
            <a:srgbClr val="F3F2DC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>
                <a:solidFill>
                  <a:srgbClr val="292934"/>
                </a:solidFill>
              </a:rPr>
              <a:t>Are </a:t>
            </a:r>
            <a:r>
              <a:rPr lang="en-US" sz="2000" b="1">
                <a:solidFill>
                  <a:srgbClr val="292934"/>
                </a:solidFill>
              </a:rPr>
              <a:t>Turing machines</a:t>
            </a:r>
            <a:r>
              <a:rPr lang="en-US" sz="2000">
                <a:solidFill>
                  <a:srgbClr val="292934"/>
                </a:solidFill>
              </a:rPr>
              <a:t> deterministic or not?</a:t>
            </a:r>
          </a:p>
          <a:p>
            <a:endParaRPr lang="en-US" sz="2000">
              <a:solidFill>
                <a:schemeClr val="tx1"/>
              </a:solidFill>
            </a:endParaRP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Deterministic</a:t>
            </a: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Nondetermistic</a:t>
            </a: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Can be either</a:t>
            </a: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I don't know</a:t>
            </a:r>
          </a:p>
          <a:p>
            <a:pPr marL="342900" indent="-342900">
              <a:buAutoNum type="alphaUcPeriod"/>
            </a:pPr>
            <a:endParaRPr lang="en-US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382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Language of a TM		</a:t>
            </a:r>
            <a:r>
              <a:rPr lang="en-US" sz="1600" i="1">
                <a:solidFill>
                  <a:schemeClr val="accent6"/>
                </a:solidFill>
              </a:rPr>
              <a:t>Sipser p.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chemeClr val="tx2"/>
                </a:solidFill>
              </a:rPr>
              <a:t>L(M) = { w | M accepts w}</a:t>
            </a:r>
          </a:p>
          <a:p>
            <a:pPr marL="0" indent="0" algn="ctr">
              <a:buNone/>
            </a:pPr>
            <a:r>
              <a:rPr lang="en-US"/>
              <a:t>= { w | there is a sequence of configurations of M</a:t>
            </a:r>
          </a:p>
          <a:p>
            <a:pPr marL="0" indent="0" algn="ctr">
              <a:buNone/>
            </a:pPr>
            <a:r>
              <a:rPr lang="en-US"/>
              <a:t>where C</a:t>
            </a:r>
            <a:r>
              <a:rPr lang="en-US" baseline="-25000"/>
              <a:t>1</a:t>
            </a:r>
            <a:r>
              <a:rPr lang="en-US"/>
              <a:t> is start configuration of M on input w, </a:t>
            </a:r>
          </a:p>
          <a:p>
            <a:pPr marL="0" indent="0" algn="ctr">
              <a:buNone/>
            </a:pPr>
            <a:r>
              <a:rPr lang="en-US"/>
              <a:t>each C</a:t>
            </a:r>
            <a:r>
              <a:rPr lang="en-US" baseline="-25000"/>
              <a:t>i</a:t>
            </a:r>
            <a:r>
              <a:rPr lang="en-US"/>
              <a:t> yields C</a:t>
            </a:r>
            <a:r>
              <a:rPr lang="en-US" baseline="-25000"/>
              <a:t>i+1</a:t>
            </a:r>
            <a:r>
              <a:rPr lang="en-US"/>
              <a:t> and C</a:t>
            </a:r>
            <a:r>
              <a:rPr lang="en-US" baseline="-25000"/>
              <a:t>k</a:t>
            </a:r>
            <a:r>
              <a:rPr lang="en-US"/>
              <a:t> is accepting configuration}</a:t>
            </a:r>
          </a:p>
          <a:p>
            <a:pPr marL="0" indent="0" algn="ctr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"The language of M"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"The language recognized by M"</a:t>
            </a:r>
          </a:p>
        </p:txBody>
      </p:sp>
    </p:spTree>
    <p:extLst>
      <p:ext uri="{BB962C8B-B14F-4D97-AF65-F5344CB8AC3E}">
        <p14:creationId xmlns:p14="http://schemas.microsoft.com/office/powerpoint/2010/main" val="1102829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Deciders and recognizers	 </a:t>
            </a:r>
            <a:r>
              <a:rPr lang="en-US" sz="1600" i="1">
                <a:solidFill>
                  <a:schemeClr val="accent6"/>
                </a:solidFill>
              </a:rPr>
              <a:t>Sipser </a:t>
            </a:r>
            <a:r>
              <a:rPr lang="en-US" sz="1600">
                <a:solidFill>
                  <a:schemeClr val="accent6"/>
                </a:solidFill>
              </a:rPr>
              <a:t>p. 144 Defs 3.5 and 3.6</a:t>
            </a:r>
            <a:endParaRPr lang="en-US" sz="1600" i="1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 is </a:t>
            </a:r>
            <a:r>
              <a:rPr lang="en-US" b="1">
                <a:solidFill>
                  <a:schemeClr val="tx2"/>
                </a:solidFill>
              </a:rPr>
              <a:t>Turing-recognizable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/>
              <a:t>if some Turing machine recognizes it.</a:t>
            </a:r>
          </a:p>
          <a:p>
            <a:endParaRPr lang="en-US"/>
          </a:p>
          <a:p>
            <a:r>
              <a:rPr lang="en-US"/>
              <a:t>M is a </a:t>
            </a:r>
            <a:r>
              <a:rPr lang="en-US" b="1">
                <a:solidFill>
                  <a:srgbClr val="4128D2"/>
                </a:solidFill>
              </a:rPr>
              <a:t>decider </a:t>
            </a:r>
            <a:r>
              <a:rPr lang="en-US"/>
              <a:t>TM if it halts on all inputs.</a:t>
            </a:r>
            <a:endParaRPr lang="en-US" b="1"/>
          </a:p>
          <a:p>
            <a:pPr marL="0" indent="0">
              <a:buNone/>
            </a:pPr>
            <a:endParaRPr lang="en-US"/>
          </a:p>
          <a:p>
            <a:r>
              <a:rPr lang="en-US"/>
              <a:t>L is </a:t>
            </a:r>
            <a:r>
              <a:rPr lang="en-US" b="1">
                <a:solidFill>
                  <a:schemeClr val="tx2"/>
                </a:solidFill>
              </a:rPr>
              <a:t>Turing-decidable</a:t>
            </a:r>
            <a:r>
              <a:rPr lang="en-US" b="1"/>
              <a:t> </a:t>
            </a:r>
            <a:r>
              <a:rPr lang="en-US"/>
              <a:t>if some Turing machine that is a decider recognizes it.</a:t>
            </a:r>
          </a:p>
        </p:txBody>
      </p:sp>
    </p:spTree>
    <p:extLst>
      <p:ext uri="{BB962C8B-B14F-4D97-AF65-F5344CB8AC3E}">
        <p14:creationId xmlns:p14="http://schemas.microsoft.com/office/powerpoint/2010/main" val="459181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/>
              <a:t>L = { </a:t>
            </a:r>
            <a:r>
              <a:rPr lang="en-US" sz="2200" dirty="0" err="1"/>
              <a:t>w#w</a:t>
            </a:r>
            <a:r>
              <a:rPr lang="en-US" sz="2200" dirty="0"/>
              <a:t> | w is in {0,1}</a:t>
            </a:r>
            <a:r>
              <a:rPr lang="en-US" sz="2200" baseline="30000" dirty="0"/>
              <a:t>* </a:t>
            </a:r>
            <a:r>
              <a:rPr lang="en-US" sz="2200" dirty="0"/>
              <a:t>}</a:t>
            </a:r>
          </a:p>
          <a:p>
            <a:pPr marL="0" indent="0" algn="ctr">
              <a:buNone/>
            </a:pPr>
            <a:endParaRPr lang="en-US" sz="22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200" i="1" dirty="0">
                <a:solidFill>
                  <a:schemeClr val="tx2"/>
                </a:solidFill>
              </a:rPr>
              <a:t>We already know that L is</a:t>
            </a:r>
          </a:p>
          <a:p>
            <a:r>
              <a:rPr lang="en-US" sz="2200" dirty="0"/>
              <a:t>not regular</a:t>
            </a:r>
          </a:p>
          <a:p>
            <a:r>
              <a:rPr lang="en-US" sz="2200" dirty="0"/>
              <a:t>not context-free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chemeClr val="tx2"/>
                </a:solidFill>
              </a:rPr>
              <a:t>We will prove that L is</a:t>
            </a:r>
            <a:endParaRPr lang="en-US" sz="22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200" strike="sngStrike" dirty="0"/>
              <a:t>the language of some Turing machine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E89B25"/>
                </a:solidFill>
              </a:rPr>
              <a:t>Turing-decidable </a:t>
            </a:r>
            <a:br>
              <a:rPr lang="en-US" sz="2200" dirty="0"/>
            </a:br>
            <a:r>
              <a:rPr lang="en-US" sz="2200" dirty="0"/>
              <a:t>(hence also </a:t>
            </a:r>
            <a:r>
              <a:rPr lang="en-US" sz="2200" dirty="0">
                <a:solidFill>
                  <a:srgbClr val="F2AF0D"/>
                </a:solidFill>
              </a:rPr>
              <a:t>Turing-recognizable</a:t>
            </a:r>
            <a:r>
              <a:rPr lang="en-US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77510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dirty="0"/>
              <a:t>L = { </a:t>
            </a:r>
            <a:r>
              <a:rPr lang="en-US" dirty="0" err="1"/>
              <a:t>w#w</a:t>
            </a:r>
            <a:r>
              <a:rPr lang="en-US" dirty="0"/>
              <a:t> | w is in {0,1}</a:t>
            </a:r>
            <a:r>
              <a:rPr lang="en-US" baseline="30000" dirty="0"/>
              <a:t>* </a:t>
            </a:r>
            <a:r>
              <a:rPr lang="en-US" dirty="0"/>
              <a:t>}</a:t>
            </a:r>
          </a:p>
          <a:p>
            <a:pPr marL="0" indent="0" algn="ctr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tx2"/>
                </a:solidFill>
              </a:rPr>
              <a:t>Idea for Turing machine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Zig-zag across tape to corresponding positions on either side of '#' to check whether these positions agree.  If they do not, or if there is no '#', </a:t>
            </a:r>
            <a:r>
              <a:rPr lang="en-US" i="1" dirty="0"/>
              <a:t>reject</a:t>
            </a:r>
            <a:r>
              <a:rPr lang="en-US" dirty="0"/>
              <a:t>.  If they do, cross them off.</a:t>
            </a:r>
          </a:p>
          <a:p>
            <a:r>
              <a:rPr lang="en-US" dirty="0"/>
              <a:t>Once all symbols to the left of the '#' are crossed off, check for any symbols to the right of '#': if there are any, </a:t>
            </a:r>
            <a:r>
              <a:rPr lang="en-US" i="1" dirty="0"/>
              <a:t>reject</a:t>
            </a:r>
            <a:r>
              <a:rPr lang="en-US" dirty="0"/>
              <a:t>; if there aren't, </a:t>
            </a:r>
            <a:r>
              <a:rPr lang="en-US" i="1" dirty="0"/>
              <a:t>accept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02400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dirty="0"/>
              <a:t>L = { </a:t>
            </a:r>
            <a:r>
              <a:rPr lang="en-US" dirty="0" err="1"/>
              <a:t>w#w</a:t>
            </a:r>
            <a:r>
              <a:rPr lang="en-US" dirty="0"/>
              <a:t> | w is in {0,1}</a:t>
            </a:r>
            <a:r>
              <a:rPr lang="en-US" baseline="30000" dirty="0"/>
              <a:t>* </a:t>
            </a:r>
            <a:r>
              <a:rPr lang="en-US" dirty="0"/>
              <a:t>}</a:t>
            </a:r>
          </a:p>
          <a:p>
            <a:pPr marL="0" indent="0" algn="ctr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tx2"/>
                </a:solidFill>
              </a:rPr>
              <a:t>Idea for Turing machine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Zig-zag across tape to corresponding positions on either side of '#' to check whether these positions agree.  If they do not, or if there is no '#', </a:t>
            </a:r>
            <a:r>
              <a:rPr lang="en-US" i="1" dirty="0"/>
              <a:t>reject</a:t>
            </a:r>
            <a:r>
              <a:rPr lang="en-US" dirty="0"/>
              <a:t>.  If they do, cross them off.</a:t>
            </a:r>
          </a:p>
          <a:p>
            <a:r>
              <a:rPr lang="en-US" dirty="0"/>
              <a:t>Once all symbols to the left of the '#' are crossed off, check for any symbols to the right of '#': if there are any, </a:t>
            </a:r>
            <a:r>
              <a:rPr lang="en-US" i="1" dirty="0"/>
              <a:t>reject</a:t>
            </a:r>
            <a:r>
              <a:rPr lang="en-US" dirty="0"/>
              <a:t>; if there aren't, </a:t>
            </a:r>
            <a:r>
              <a:rPr lang="en-US" i="1" dirty="0"/>
              <a:t>accept</a:t>
            </a:r>
            <a:r>
              <a:rPr lang="en-US" dirty="0"/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240" y="400050"/>
            <a:ext cx="6825078" cy="2198881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>
                <a:solidFill>
                  <a:srgbClr val="292934"/>
                </a:solidFill>
              </a:rPr>
              <a:t>Is this machine a </a:t>
            </a:r>
            <a:r>
              <a:rPr lang="en-US" sz="2000" b="1">
                <a:solidFill>
                  <a:srgbClr val="292934"/>
                </a:solidFill>
              </a:rPr>
              <a:t>decider</a:t>
            </a:r>
            <a:r>
              <a:rPr lang="en-US" sz="2000">
                <a:solidFill>
                  <a:srgbClr val="292934"/>
                </a:solidFill>
              </a:rPr>
              <a:t>? </a:t>
            </a:r>
            <a:endParaRPr lang="en-US" sz="2000">
              <a:solidFill>
                <a:schemeClr val="tx1"/>
              </a:solidFill>
            </a:endParaRP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Yes, because it reads the input string exactly once.</a:t>
            </a: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Yes, because it will halt (and either accept or reject) no matter what the input is.</a:t>
            </a: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No, because it sometimes rejects the input string.</a:t>
            </a: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No, because it will go in an infinite loop if there's no '#'.</a:t>
            </a:r>
          </a:p>
          <a:p>
            <a:pPr marL="342900" indent="-342900">
              <a:buFontTx/>
              <a:buAutoNum type="alphaUcPeriod"/>
            </a:pPr>
            <a:r>
              <a:rPr lang="en-US" sz="2000">
                <a:solidFill>
                  <a:schemeClr val="tx1"/>
                </a:solidFill>
              </a:rPr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781559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/>
              <a:t>L = { w#w | w is in {0,1}</a:t>
            </a:r>
            <a:r>
              <a:rPr lang="en-US" baseline="30000"/>
              <a:t>* </a:t>
            </a:r>
            <a:r>
              <a:rPr lang="en-US"/>
              <a:t>}</a:t>
            </a:r>
            <a:endParaRPr lang="en-US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i="1">
                <a:solidFill>
                  <a:schemeClr val="tx2"/>
                </a:solidFill>
              </a:rPr>
              <a:t>Idea for Turing machine</a:t>
            </a:r>
            <a:endParaRPr lang="en-US">
              <a:solidFill>
                <a:schemeClr val="tx2"/>
              </a:solidFill>
            </a:endParaRPr>
          </a:p>
          <a:p>
            <a:r>
              <a:rPr lang="en-US"/>
              <a:t>Zig-zag across tape to corresponding positions on either side of '#' to check whether these positions agree.  If they do not, or if there is no '#', </a:t>
            </a:r>
            <a:r>
              <a:rPr lang="en-US" i="1"/>
              <a:t>reject</a:t>
            </a:r>
            <a:r>
              <a:rPr lang="en-US"/>
              <a:t>.  If they do, cross them off.</a:t>
            </a:r>
          </a:p>
          <a:p>
            <a:r>
              <a:rPr lang="en-US"/>
              <a:t>Once all symbols to the left of the '#' are crossed off, check for any symbols to the right of '#': if there are any, </a:t>
            </a:r>
            <a:r>
              <a:rPr lang="en-US" i="1"/>
              <a:t>reject</a:t>
            </a:r>
            <a:r>
              <a:rPr lang="en-US"/>
              <a:t>; if there aren't, </a:t>
            </a:r>
            <a:r>
              <a:rPr lang="en-US" i="1"/>
              <a:t>accept</a:t>
            </a:r>
            <a:r>
              <a:rPr lang="en-US"/>
              <a:t>. 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>
                <a:solidFill>
                  <a:schemeClr val="tx2"/>
                </a:solidFill>
              </a:rPr>
              <a:t>How would you use this machine to prove that L is </a:t>
            </a:r>
            <a:r>
              <a:rPr lang="en-US" b="1">
                <a:solidFill>
                  <a:schemeClr val="tx2"/>
                </a:solidFill>
              </a:rPr>
              <a:t>decidable</a:t>
            </a:r>
            <a:r>
              <a:rPr lang="en-US">
                <a:solidFill>
                  <a:schemeClr val="tx2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46575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5-02 at 9.06.48 PM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8" b="637"/>
          <a:stretch/>
        </p:blipFill>
        <p:spPr>
          <a:xfrm>
            <a:off x="250843" y="392035"/>
            <a:ext cx="5832092" cy="4751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2934" y="1238831"/>
            <a:ext cx="28066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Q={q1,q2,q3,q4,q5,q6,q7,q8,q</a:t>
            </a:r>
            <a:r>
              <a:rPr lang="en-US" baseline="-25000"/>
              <a:t>accept</a:t>
            </a:r>
            <a:r>
              <a:rPr lang="en-US"/>
              <a:t>,q</a:t>
            </a:r>
            <a:r>
              <a:rPr lang="en-US" baseline="-25000"/>
              <a:t>reject</a:t>
            </a:r>
            <a:r>
              <a:rPr lang="en-US"/>
              <a:t>} </a:t>
            </a:r>
          </a:p>
          <a:p>
            <a:endParaRPr lang="en-US"/>
          </a:p>
          <a:p>
            <a:r>
              <a:rPr lang="en-US"/>
              <a:t>Σ = {0,1,#}</a:t>
            </a:r>
          </a:p>
          <a:p>
            <a:endParaRPr lang="en-US"/>
          </a:p>
          <a:p>
            <a:r>
              <a:rPr lang="en-US"/>
              <a:t>Γ = {0,1,#,x,_ }</a:t>
            </a:r>
          </a:p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065261" y="4692250"/>
            <a:ext cx="20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chemeClr val="accent6"/>
                </a:solidFill>
              </a:rPr>
              <a:t>Fig 3.10 in Sipser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2935" y="3387182"/>
            <a:ext cx="3061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4128D2"/>
                </a:solidFill>
              </a:rPr>
              <a:t>All missing transitions have output (q</a:t>
            </a:r>
            <a:r>
              <a:rPr lang="en-US" baseline="-25000">
                <a:solidFill>
                  <a:srgbClr val="4128D2"/>
                </a:solidFill>
              </a:rPr>
              <a:t>reject</a:t>
            </a:r>
            <a:r>
              <a:rPr lang="en-US">
                <a:solidFill>
                  <a:srgbClr val="4128D2"/>
                </a:solidFill>
              </a:rPr>
              <a:t>, _, R)</a:t>
            </a:r>
          </a:p>
        </p:txBody>
      </p:sp>
    </p:spTree>
    <p:extLst>
      <p:ext uri="{BB962C8B-B14F-4D97-AF65-F5344CB8AC3E}">
        <p14:creationId xmlns:p14="http://schemas.microsoft.com/office/powerpoint/2010/main" val="295291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Configurations of a 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Current state</a:t>
            </a:r>
          </a:p>
          <a:p>
            <a:r>
              <a:rPr lang="en-US"/>
              <a:t>Current tape contents</a:t>
            </a:r>
          </a:p>
          <a:p>
            <a:r>
              <a:rPr lang="en-US"/>
              <a:t>Current location of read/write head</a:t>
            </a:r>
          </a:p>
          <a:p>
            <a:endParaRPr lang="en-US"/>
          </a:p>
          <a:p>
            <a:pPr marL="0" indent="0" algn="ctr">
              <a:buNone/>
            </a:pPr>
            <a:r>
              <a:rPr lang="en-US" i="1">
                <a:solidFill>
                  <a:srgbClr val="4128D2"/>
                </a:solidFill>
              </a:rPr>
              <a:t>u q v</a:t>
            </a:r>
          </a:p>
          <a:p>
            <a:pPr marL="0" indent="0">
              <a:buNone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</a:rPr>
              <a:t>current state is q</a:t>
            </a:r>
          </a:p>
          <a:p>
            <a:pPr marL="0" indent="0">
              <a:buNone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</a:rPr>
              <a:t>current tape contents are uv (and then all blanks)</a:t>
            </a:r>
          </a:p>
          <a:p>
            <a:pPr marL="0" indent="0">
              <a:buNone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</a:rPr>
              <a:t>current head location is first symbol of v</a:t>
            </a:r>
          </a:p>
        </p:txBody>
      </p:sp>
    </p:spTree>
    <p:extLst>
      <p:ext uri="{BB962C8B-B14F-4D97-AF65-F5344CB8AC3E}">
        <p14:creationId xmlns:p14="http://schemas.microsoft.com/office/powerpoint/2010/main" val="1688121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Configurations of a 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state</a:t>
            </a:r>
          </a:p>
          <a:p>
            <a:r>
              <a:rPr lang="en-US" dirty="0"/>
              <a:t>Current tape contents</a:t>
            </a:r>
          </a:p>
          <a:p>
            <a:r>
              <a:rPr lang="en-US" dirty="0"/>
              <a:t>Current location of read/write head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i="1" dirty="0">
                <a:solidFill>
                  <a:srgbClr val="4128D2"/>
                </a:solidFill>
              </a:rPr>
              <a:t>u q v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BFBFBF"/>
                </a:solidFill>
              </a:rPr>
              <a:t>current state is q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BFBFBF"/>
                </a:solidFill>
              </a:rPr>
              <a:t>current tape contents are </a:t>
            </a:r>
            <a:r>
              <a:rPr lang="en-US" sz="2000" dirty="0" err="1">
                <a:solidFill>
                  <a:srgbClr val="BFBFBF"/>
                </a:solidFill>
              </a:rPr>
              <a:t>uv</a:t>
            </a:r>
            <a:r>
              <a:rPr lang="en-US" sz="2000" dirty="0">
                <a:solidFill>
                  <a:srgbClr val="BFBFBF"/>
                </a:solidFill>
              </a:rPr>
              <a:t> (and then all blanks)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BFBFBF"/>
                </a:solidFill>
              </a:rPr>
              <a:t>current head location is first symbol of v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1250" y="517486"/>
            <a:ext cx="3446758" cy="31362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rgbClr val="292934"/>
                </a:solidFill>
              </a:rPr>
              <a:t>Start configuration on w:</a:t>
            </a:r>
          </a:p>
          <a:p>
            <a:r>
              <a:rPr lang="en-US" sz="2000" dirty="0">
                <a:solidFill>
                  <a:srgbClr val="292934"/>
                </a:solidFill>
              </a:rPr>
              <a:t>	</a:t>
            </a:r>
            <a:r>
              <a:rPr lang="en-US" sz="2000" b="1" dirty="0">
                <a:solidFill>
                  <a:schemeClr val="accent6"/>
                </a:solidFill>
              </a:rPr>
              <a:t>q</a:t>
            </a:r>
            <a:r>
              <a:rPr lang="en-US" sz="2000" b="1" baseline="-25000" dirty="0">
                <a:solidFill>
                  <a:schemeClr val="accent6"/>
                </a:solidFill>
              </a:rPr>
              <a:t>0</a:t>
            </a:r>
            <a:r>
              <a:rPr lang="en-US" sz="2000" b="1" dirty="0">
                <a:solidFill>
                  <a:schemeClr val="accent6"/>
                </a:solidFill>
              </a:rPr>
              <a:t> w</a:t>
            </a:r>
          </a:p>
          <a:p>
            <a:r>
              <a:rPr lang="en-US" sz="2000" dirty="0">
                <a:solidFill>
                  <a:srgbClr val="292934"/>
                </a:solidFill>
              </a:rPr>
              <a:t>Accepting configuration:</a:t>
            </a:r>
          </a:p>
          <a:p>
            <a:r>
              <a:rPr lang="en-US" sz="2000" dirty="0">
                <a:solidFill>
                  <a:srgbClr val="292934"/>
                </a:solidFill>
              </a:rPr>
              <a:t>	</a:t>
            </a:r>
            <a:r>
              <a:rPr lang="en-US" sz="2000" b="1" dirty="0">
                <a:solidFill>
                  <a:schemeClr val="accent6"/>
                </a:solidFill>
              </a:rPr>
              <a:t>u </a:t>
            </a:r>
            <a:r>
              <a:rPr lang="en-US" sz="2000" b="1" dirty="0" err="1">
                <a:solidFill>
                  <a:schemeClr val="accent6"/>
                </a:solidFill>
              </a:rPr>
              <a:t>q</a:t>
            </a:r>
            <a:r>
              <a:rPr lang="en-US" sz="2000" b="1" baseline="-25000" dirty="0" err="1">
                <a:solidFill>
                  <a:schemeClr val="accent6"/>
                </a:solidFill>
              </a:rPr>
              <a:t>acc</a:t>
            </a:r>
            <a:r>
              <a:rPr lang="en-US" sz="2000" b="1" dirty="0">
                <a:solidFill>
                  <a:schemeClr val="accent6"/>
                </a:solidFill>
              </a:rPr>
              <a:t> v</a:t>
            </a:r>
          </a:p>
          <a:p>
            <a:r>
              <a:rPr lang="en-US" sz="2000" dirty="0">
                <a:solidFill>
                  <a:srgbClr val="292934"/>
                </a:solidFill>
              </a:rPr>
              <a:t>Rejecting configuration:</a:t>
            </a:r>
          </a:p>
          <a:p>
            <a:r>
              <a:rPr lang="en-US" sz="2000" dirty="0">
                <a:solidFill>
                  <a:srgbClr val="292934"/>
                </a:solidFill>
              </a:rPr>
              <a:t>	</a:t>
            </a:r>
            <a:r>
              <a:rPr lang="en-US" sz="2000" b="1" dirty="0">
                <a:solidFill>
                  <a:schemeClr val="accent6"/>
                </a:solidFill>
              </a:rPr>
              <a:t>u </a:t>
            </a:r>
            <a:r>
              <a:rPr lang="en-US" sz="2000" b="1" dirty="0" err="1">
                <a:solidFill>
                  <a:schemeClr val="accent6"/>
                </a:solidFill>
              </a:rPr>
              <a:t>q</a:t>
            </a:r>
            <a:r>
              <a:rPr lang="en-US" sz="2000" b="1" baseline="-25000" dirty="0" err="1">
                <a:solidFill>
                  <a:schemeClr val="accent6"/>
                </a:solidFill>
              </a:rPr>
              <a:t>rej</a:t>
            </a:r>
            <a:r>
              <a:rPr lang="en-US" sz="2000" b="1" dirty="0">
                <a:solidFill>
                  <a:schemeClr val="accent6"/>
                </a:solidFill>
              </a:rPr>
              <a:t> v</a:t>
            </a:r>
          </a:p>
          <a:p>
            <a:endParaRPr lang="en-US" sz="2000" b="1" dirty="0">
              <a:solidFill>
                <a:schemeClr val="accent6"/>
              </a:solidFill>
            </a:endParaRPr>
          </a:p>
          <a:p>
            <a:r>
              <a:rPr lang="en-US" sz="2000" b="1" dirty="0">
                <a:solidFill>
                  <a:srgbClr val="292934"/>
                </a:solidFill>
              </a:rPr>
              <a:t>Halting configuration</a:t>
            </a:r>
            <a:r>
              <a:rPr lang="en-US" sz="2000" dirty="0">
                <a:solidFill>
                  <a:srgbClr val="292934"/>
                </a:solidFill>
              </a:rPr>
              <a:t>: any configuration that is either accepting or rejecting.</a:t>
            </a:r>
          </a:p>
          <a:p>
            <a:endParaRPr lang="en-US" sz="20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571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Transitioning between configurations</a:t>
            </a:r>
          </a:p>
        </p:txBody>
      </p:sp>
      <p:sp>
        <p:nvSpPr>
          <p:cNvPr id="4" name="Oval 3"/>
          <p:cNvSpPr/>
          <p:nvPr/>
        </p:nvSpPr>
        <p:spPr>
          <a:xfrm>
            <a:off x="1254214" y="1200150"/>
            <a:ext cx="956337" cy="4307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</a:t>
            </a:r>
            <a:r>
              <a:rPr lang="en-US" baseline="-25000"/>
              <a:t>0</a:t>
            </a:r>
            <a:r>
              <a:rPr lang="en-US"/>
              <a:t>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4435" y="1430518"/>
            <a:ext cx="5942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 is input, read/write head over the leftmost symbol of w</a:t>
            </a:r>
          </a:p>
        </p:txBody>
      </p:sp>
      <p:sp>
        <p:nvSpPr>
          <p:cNvPr id="6" name="Oval 5"/>
          <p:cNvSpPr/>
          <p:nvPr/>
        </p:nvSpPr>
        <p:spPr>
          <a:xfrm>
            <a:off x="1097438" y="2501242"/>
            <a:ext cx="1363956" cy="67630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 q v</a:t>
            </a:r>
          </a:p>
        </p:txBody>
      </p:sp>
      <p:sp>
        <p:nvSpPr>
          <p:cNvPr id="7" name="Oval 6"/>
          <p:cNvSpPr/>
          <p:nvPr/>
        </p:nvSpPr>
        <p:spPr>
          <a:xfrm>
            <a:off x="1097437" y="3311131"/>
            <a:ext cx="1363957" cy="64058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u' q' v'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4435" y="2849466"/>
            <a:ext cx="35009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q' = δ(q, v</a:t>
            </a:r>
            <a:r>
              <a:rPr lang="en-US" b="1" baseline="-25000">
                <a:solidFill>
                  <a:schemeClr val="tx2"/>
                </a:solidFill>
              </a:rPr>
              <a:t>1</a:t>
            </a:r>
            <a:r>
              <a:rPr lang="en-US" b="1">
                <a:solidFill>
                  <a:schemeClr val="tx2"/>
                </a:solidFill>
              </a:rPr>
              <a:t>)</a:t>
            </a:r>
          </a:p>
          <a:p>
            <a:endParaRPr lang="en-US" b="1">
              <a:solidFill>
                <a:schemeClr val="tx2"/>
              </a:solidFill>
            </a:endParaRPr>
          </a:p>
          <a:p>
            <a:r>
              <a:rPr lang="en-US" b="1">
                <a:solidFill>
                  <a:schemeClr val="tx2"/>
                </a:solidFill>
              </a:rPr>
              <a:t>How does uv compare to u'v'?</a:t>
            </a:r>
          </a:p>
        </p:txBody>
      </p:sp>
      <p:sp>
        <p:nvSpPr>
          <p:cNvPr id="14" name="Freeform 13"/>
          <p:cNvSpPr/>
          <p:nvPr/>
        </p:nvSpPr>
        <p:spPr>
          <a:xfrm>
            <a:off x="1551748" y="1662229"/>
            <a:ext cx="473982" cy="831114"/>
          </a:xfrm>
          <a:custGeom>
            <a:avLst/>
            <a:gdLst>
              <a:gd name="connsiteX0" fmla="*/ 172796 w 473982"/>
              <a:gd name="connsiteY0" fmla="*/ 0 h 831114"/>
              <a:gd name="connsiteX1" fmla="*/ 470671 w 473982"/>
              <a:gd name="connsiteY1" fmla="*/ 250902 h 831114"/>
              <a:gd name="connsiteX2" fmla="*/ 341 w 473982"/>
              <a:gd name="connsiteY2" fmla="*/ 439079 h 831114"/>
              <a:gd name="connsiteX3" fmla="*/ 392283 w 473982"/>
              <a:gd name="connsiteY3" fmla="*/ 611574 h 831114"/>
              <a:gd name="connsiteX4" fmla="*/ 235506 w 473982"/>
              <a:gd name="connsiteY4" fmla="*/ 831114 h 83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982" h="831114">
                <a:moveTo>
                  <a:pt x="172796" y="0"/>
                </a:moveTo>
                <a:cubicBezTo>
                  <a:pt x="336104" y="88861"/>
                  <a:pt x="499413" y="177722"/>
                  <a:pt x="470671" y="250902"/>
                </a:cubicBezTo>
                <a:cubicBezTo>
                  <a:pt x="441929" y="324082"/>
                  <a:pt x="13406" y="378967"/>
                  <a:pt x="341" y="439079"/>
                </a:cubicBezTo>
                <a:cubicBezTo>
                  <a:pt x="-12724" y="499191"/>
                  <a:pt x="353089" y="546235"/>
                  <a:pt x="392283" y="611574"/>
                </a:cubicBezTo>
                <a:cubicBezTo>
                  <a:pt x="431477" y="676913"/>
                  <a:pt x="333491" y="754013"/>
                  <a:pt x="235506" y="831114"/>
                </a:cubicBezTo>
              </a:path>
            </a:pathLst>
          </a:cu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73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5-02 at 9.06.48 PM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8" b="637"/>
          <a:stretch/>
        </p:blipFill>
        <p:spPr>
          <a:xfrm>
            <a:off x="250843" y="392035"/>
            <a:ext cx="5832092" cy="47514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825102" y="3889089"/>
            <a:ext cx="4101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Configuration </a:t>
            </a:r>
            <a:r>
              <a:rPr lang="en-US" b="1" dirty="0">
                <a:solidFill>
                  <a:schemeClr val="tx2"/>
                </a:solidFill>
              </a:rPr>
              <a:t>u q v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for current tape </a:t>
            </a:r>
            <a:r>
              <a:rPr lang="en-US" dirty="0" err="1">
                <a:solidFill>
                  <a:schemeClr val="tx2"/>
                </a:solidFill>
              </a:rPr>
              <a:t>uv</a:t>
            </a:r>
            <a:r>
              <a:rPr lang="en-US" dirty="0">
                <a:solidFill>
                  <a:schemeClr val="tx2"/>
                </a:solidFill>
              </a:rPr>
              <a:t> (and then all blanks), current head location is first symbol of v, current state 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2935" y="435825"/>
            <a:ext cx="306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4128D2"/>
                </a:solidFill>
              </a:rPr>
              <a:t>Computation on input 0#0?</a:t>
            </a:r>
          </a:p>
        </p:txBody>
      </p:sp>
    </p:spTree>
    <p:extLst>
      <p:ext uri="{BB962C8B-B14F-4D97-AF65-F5344CB8AC3E}">
        <p14:creationId xmlns:p14="http://schemas.microsoft.com/office/powerpoint/2010/main" val="2238232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93925-2EE7-8A8C-2859-C4EF2831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5-02 at 9.06.48 PM.png">
            <a:extLst>
              <a:ext uri="{FF2B5EF4-FFF2-40B4-BE49-F238E27FC236}">
                <a16:creationId xmlns:a16="http://schemas.microsoft.com/office/drawing/2014/main" id="{F51F3C4A-81DD-8AFC-6219-00F88A821B2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8" b="637"/>
          <a:stretch/>
        </p:blipFill>
        <p:spPr>
          <a:xfrm>
            <a:off x="250843" y="392035"/>
            <a:ext cx="5832092" cy="47514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981FFB-B3C0-3725-3D05-25208ECC97CA}"/>
              </a:ext>
            </a:extLst>
          </p:cNvPr>
          <p:cNvSpPr txBox="1"/>
          <p:nvPr/>
        </p:nvSpPr>
        <p:spPr>
          <a:xfrm>
            <a:off x="4825102" y="3889089"/>
            <a:ext cx="4101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Configuration </a:t>
            </a:r>
            <a:r>
              <a:rPr lang="en-US" b="1" dirty="0">
                <a:solidFill>
                  <a:schemeClr val="tx2"/>
                </a:solidFill>
              </a:rPr>
              <a:t>u q v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for current tape </a:t>
            </a:r>
            <a:r>
              <a:rPr lang="en-US" dirty="0" err="1">
                <a:solidFill>
                  <a:schemeClr val="tx2"/>
                </a:solidFill>
              </a:rPr>
              <a:t>uv</a:t>
            </a:r>
            <a:r>
              <a:rPr lang="en-US" dirty="0">
                <a:solidFill>
                  <a:schemeClr val="tx2"/>
                </a:solidFill>
              </a:rPr>
              <a:t> (and then all blanks), current head location is first symbol of v, current state q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9B0D4-89BF-59D5-CDCA-6C5CA707A7A3}"/>
              </a:ext>
            </a:extLst>
          </p:cNvPr>
          <p:cNvSpPr txBox="1"/>
          <p:nvPr/>
        </p:nvSpPr>
        <p:spPr>
          <a:xfrm>
            <a:off x="6082935" y="435825"/>
            <a:ext cx="306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4128D2"/>
                </a:solidFill>
              </a:rPr>
              <a:t>Computation on input 0#0?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86E62D-FE03-309F-C8BB-EF44BC2EB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1727"/>
            <a:ext cx="9144000" cy="479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42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5-02 at 9.06.48 PM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8" b="637"/>
          <a:stretch/>
        </p:blipFill>
        <p:spPr>
          <a:xfrm>
            <a:off x="250843" y="392035"/>
            <a:ext cx="5832092" cy="47514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82935" y="435825"/>
            <a:ext cx="306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4128D2"/>
                </a:solidFill>
              </a:rPr>
              <a:t>Computation on input 0# 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1BE0CB-C668-DA54-390E-A8830EA1A02C}"/>
              </a:ext>
            </a:extLst>
          </p:cNvPr>
          <p:cNvSpPr txBox="1"/>
          <p:nvPr/>
        </p:nvSpPr>
        <p:spPr>
          <a:xfrm>
            <a:off x="4825102" y="3889089"/>
            <a:ext cx="4101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Configuration </a:t>
            </a:r>
            <a:r>
              <a:rPr lang="en-US" b="1" dirty="0">
                <a:solidFill>
                  <a:schemeClr val="tx2"/>
                </a:solidFill>
              </a:rPr>
              <a:t>u q v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for current tape </a:t>
            </a:r>
            <a:r>
              <a:rPr lang="en-US" dirty="0" err="1">
                <a:solidFill>
                  <a:schemeClr val="tx2"/>
                </a:solidFill>
              </a:rPr>
              <a:t>uv</a:t>
            </a:r>
            <a:r>
              <a:rPr lang="en-US" dirty="0">
                <a:solidFill>
                  <a:schemeClr val="tx2"/>
                </a:solidFill>
              </a:rPr>
              <a:t> (and then all blanks), current head location is first symbol of v, current state q</a:t>
            </a:r>
          </a:p>
        </p:txBody>
      </p:sp>
    </p:spTree>
    <p:extLst>
      <p:ext uri="{BB962C8B-B14F-4D97-AF65-F5344CB8AC3E}">
        <p14:creationId xmlns:p14="http://schemas.microsoft.com/office/powerpoint/2010/main" val="1894820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6A548-BC42-A9D3-946A-DD35792E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5-02 at 9.06.48 PM.png">
            <a:extLst>
              <a:ext uri="{FF2B5EF4-FFF2-40B4-BE49-F238E27FC236}">
                <a16:creationId xmlns:a16="http://schemas.microsoft.com/office/drawing/2014/main" id="{E3EF27C9-E551-3256-15E0-884EBF5391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8" b="637"/>
          <a:stretch/>
        </p:blipFill>
        <p:spPr>
          <a:xfrm>
            <a:off x="250843" y="392035"/>
            <a:ext cx="5832092" cy="47514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D1FA74-0A9E-CA8D-B839-D1E4D7CB1A31}"/>
              </a:ext>
            </a:extLst>
          </p:cNvPr>
          <p:cNvSpPr txBox="1"/>
          <p:nvPr/>
        </p:nvSpPr>
        <p:spPr>
          <a:xfrm>
            <a:off x="6082935" y="435825"/>
            <a:ext cx="306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4128D2"/>
                </a:solidFill>
              </a:rPr>
              <a:t>Computation on input 0# 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BC863-C775-88AC-4CF5-6E64416A1F2B}"/>
              </a:ext>
            </a:extLst>
          </p:cNvPr>
          <p:cNvSpPr txBox="1"/>
          <p:nvPr/>
        </p:nvSpPr>
        <p:spPr>
          <a:xfrm>
            <a:off x="4825102" y="3889089"/>
            <a:ext cx="4101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Configuration </a:t>
            </a:r>
            <a:r>
              <a:rPr lang="en-US" b="1" dirty="0">
                <a:solidFill>
                  <a:schemeClr val="tx2"/>
                </a:solidFill>
              </a:rPr>
              <a:t>u q v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for current tape </a:t>
            </a:r>
            <a:r>
              <a:rPr lang="en-US" dirty="0" err="1">
                <a:solidFill>
                  <a:schemeClr val="tx2"/>
                </a:solidFill>
              </a:rPr>
              <a:t>uv</a:t>
            </a:r>
            <a:r>
              <a:rPr lang="en-US" dirty="0">
                <a:solidFill>
                  <a:schemeClr val="tx2"/>
                </a:solidFill>
              </a:rPr>
              <a:t> (and then all blanks), current head location is first symbol of v, current state q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2FB429-62CA-73BD-3D66-0888E81A2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604"/>
            <a:ext cx="9144000" cy="475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66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4996-D75B-45DA-AC1C-04A3EC15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D105DC-0186-4F2C-90F9-6AE582EB9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33" y="1622794"/>
            <a:ext cx="8229600" cy="1546218"/>
          </a:xfrm>
        </p:spPr>
      </p:pic>
    </p:spTree>
    <p:extLst>
      <p:ext uri="{BB962C8B-B14F-4D97-AF65-F5344CB8AC3E}">
        <p14:creationId xmlns:p14="http://schemas.microsoft.com/office/powerpoint/2010/main" val="2160133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4996-D75B-45DA-AC1C-04A3EC15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D105DC-0186-4F2C-90F9-6AE582EB9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55841"/>
            <a:ext cx="8229600" cy="154621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F2F3CF-5DF4-4D64-8E8B-DEE0A70717B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13807"/>
            <a:ext cx="7993906" cy="255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2610</TotalTime>
  <Words>1585</Words>
  <Application>Microsoft Office PowerPoint</Application>
  <PresentationFormat>On-screen Show (16:9)</PresentationFormat>
  <Paragraphs>211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Arial</vt:lpstr>
      <vt:lpstr>Clarity</vt:lpstr>
      <vt:lpstr>CSE331 Automata and computability</vt:lpstr>
      <vt:lpstr>Today's learning goals Sipser Ch 2, 3.1</vt:lpstr>
      <vt:lpstr>Informal intuition</vt:lpstr>
      <vt:lpstr>Examples of non-context-free languages</vt:lpstr>
      <vt:lpstr>Closure ?</vt:lpstr>
      <vt:lpstr>PowerPoint Presentation</vt:lpstr>
      <vt:lpstr>Turing machines</vt:lpstr>
      <vt:lpstr>The imitation game</vt:lpstr>
      <vt:lpstr>Turing machine computation</vt:lpstr>
      <vt:lpstr>Language of a Turing machine</vt:lpstr>
      <vt:lpstr>Why is this model relevant?</vt:lpstr>
      <vt:lpstr>An example</vt:lpstr>
      <vt:lpstr>An example</vt:lpstr>
      <vt:lpstr>Formal definition of TM</vt:lpstr>
      <vt:lpstr>Formal definition of TM</vt:lpstr>
      <vt:lpstr>Language of a TM  Sipser p. 144</vt:lpstr>
      <vt:lpstr>Deciders and recognizers  Sipser p. 144 Defs 3.5 and 3.6</vt:lpstr>
      <vt:lpstr>An example</vt:lpstr>
      <vt:lpstr>An example</vt:lpstr>
      <vt:lpstr>An example</vt:lpstr>
      <vt:lpstr>An example</vt:lpstr>
      <vt:lpstr>PowerPoint Presentation</vt:lpstr>
      <vt:lpstr>Configurations of a TM</vt:lpstr>
      <vt:lpstr>Configurations of a TM</vt:lpstr>
      <vt:lpstr>Transitioning between configurations</vt:lpstr>
      <vt:lpstr>PowerPoint Presentation</vt:lpstr>
      <vt:lpstr>PowerPoint Presentation</vt:lpstr>
      <vt:lpstr>PowerPoint Presentation</vt:lpstr>
      <vt:lpstr>PowerPoint Presentation</vt:lpstr>
      <vt:lpstr>Example </vt:lpstr>
      <vt:lpstr>Example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105 Theory of Computation</dc:title>
  <dc:subject/>
  <dc:creator>Mia Minnes Kemp</dc:creator>
  <cp:keywords/>
  <dc:description/>
  <cp:lastModifiedBy>Zayed Humayun</cp:lastModifiedBy>
  <cp:revision>672</cp:revision>
  <dcterms:created xsi:type="dcterms:W3CDTF">2014-10-03T04:30:04Z</dcterms:created>
  <dcterms:modified xsi:type="dcterms:W3CDTF">2026-09-02T06:43:15Z</dcterms:modified>
  <cp:category/>
</cp:coreProperties>
</file>